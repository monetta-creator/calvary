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ne page" id="{b64f3951-c739-7163-bebf-16d5299dc76e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412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168335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Title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816833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FFDD7F"/>
                </a:solidFill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FFDD7F"/>
                </a:solidFill>
              </a:rPr>
              <a:t>Subtitle</a:t>
            </a:r>
            <a:endParaRPr lang="en-US" sz="1700" dirty="0"/>
          </a:p>
        </p:txBody>
      </p:sp>
      <p:pic>
        <p:nvPicPr>
          <p:cNvPr id="4" name="Image 0" descr="Calvary Women's Services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4095" y="4572000"/>
            <a:ext cx="3657600" cy="228600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548640" y="6126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8488"/>
                </a:solidFill>
              </a:rPr>
              <a:t>Prepared with public data as of 2026-10-10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412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Section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DD7F"/>
                </a:solidFill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DD7F"/>
                </a:solidFill>
              </a:rPr>
              <a:t>Takeaway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EADLIN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100" b="1" dirty="0">
                <a:solidFill>
                  <a:srgbClr val="41242F"/>
                </a:solidFill>
              </a:defRPr>
            </a:lvl1pPr>
          </a:lstStyle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Headline</a:t>
            </a:r>
            <a:endParaRPr lang="en-US" sz="2100" dirty="0"/>
          </a:p>
        </p:txBody>
      </p:sp>
      <p:pic>
        <p:nvPicPr>
          <p:cNvPr id="3" name="Image 0" descr="Calvary Women's Services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5989320"/>
            <a:ext cx="1234440" cy="78638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 has become a system-level provider whose funding needs a better shape and a deeper cushion, not a smaller share.</a:t>
            </a:r>
            <a:endParaRPr lang="en-US" sz="2100" dirty="0"/>
          </a:p>
        </p:txBody>
      </p:sp>
      <p:sp>
        <p:nvSpPr>
          <p:cNvPr id="3" name="card The verdict"/>
          <p:cNvSpPr/>
          <p:nvPr/>
        </p:nvSpPr>
        <p:spPr>
          <a:xfrm>
            <a:off x="548640" y="1417320"/>
            <a:ext cx="3515258" cy="416052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54480"/>
            <a:ext cx="31494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The verdict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057400"/>
            <a:ext cx="314949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41242F"/>
                </a:solidFill>
              </a:rPr>
              <a:t>Public funding at about half of revenue is typical for DC peers (53% FY22–24, 11th of 19).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The shape is the issue: three streams, two through TCP, which carries 78% of the $4.1M 2024 award base.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Private grants have held near $1M a year from the same funders, and one partner is 27%.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FY25: −$607K and 4.4 months of cash (7.5 in FY21), while event receipts held near $0.5M.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41242F"/>
                </a:solidFill>
              </a:rPr>
              <a:t>Clouds: a cut is proposed every spring (restored twice, FY27 mostly one-time), losing the DHS/TCP contract would cost about $0.65–1.13M, and the audits show CoC draw-down well below awards.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Rating: moderate-to-high pressure from concentration and liquidity, not from the share.</a:t>
            </a:r>
            <a:endParaRPr lang="en-US" sz="1100" dirty="0"/>
          </a:p>
        </p:txBody>
      </p:sp>
      <p:sp>
        <p:nvSpPr>
          <p:cNvPr id="6" name="card The top opportunities"/>
          <p:cNvSpPr/>
          <p:nvPr/>
        </p:nvSpPr>
        <p:spPr>
          <a:xfrm>
            <a:off x="4338218" y="1417320"/>
            <a:ext cx="3515258" cy="416052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21098" y="1554480"/>
            <a:ext cx="31494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The top opportunities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521098" y="2057400"/>
            <a:ext cx="314949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41242F"/>
                </a:solidFill>
              </a:rPr>
              <a:t>Draw every awarded dollar, CoC first, and confirm the DHS and Sisters Rise contracts with TCP (day 30).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41242F"/>
                </a:solidFill>
              </a:rPr>
              <a:t>Deepen current partners: multi-year asks to Cafritz (Mar 1 / Jul 1 / Nov 1) and Fowler, two GWCF conversations (Health Equity Fund successor, core support), and steward Abell (day 45–60).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41242F"/>
                </a:solidFill>
              </a:rPr>
              <a:t>Open doors through peers: an introduction to Schattner, which funds four peers and works by invitation, once the peer set is confirmed (day 90).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41242F"/>
                </a:solidFill>
              </a:rPr>
              <a:t>Start a named major-gifts / DAF program (peers raise 40–50% of filed grants via DAFs, Calvary 25%).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41242F"/>
                </a:solidFill>
              </a:rPr>
              <a:t>Formalize workforce and behavioral health: $30M and $21M a year of nearby DMV grant pools, without changing the mission.</a:t>
            </a:r>
            <a:endParaRPr lang="en-US" sz="1100" dirty="0"/>
          </a:p>
        </p:txBody>
      </p:sp>
      <p:sp>
        <p:nvSpPr>
          <p:cNvPr id="9" name="card Headline recommendations and next steps"/>
          <p:cNvSpPr/>
          <p:nvPr/>
        </p:nvSpPr>
        <p:spPr>
          <a:xfrm>
            <a:off x="8127797" y="1417320"/>
            <a:ext cx="3515258" cy="416052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10677" y="1554480"/>
            <a:ext cx="31494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Headline recommendations and next steps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310677" y="2057400"/>
            <a:ext cx="314949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41242F"/>
                </a:solidFill>
              </a:rPr>
              <a:t>A six-month reserve target (~$2.8M) and a plan to close the FY25 gap in the FY26 budget.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41242F"/>
                </a:solidFill>
              </a:rPr>
              <a:t>An annual advocacy and monitoring calendar for the spring budget season, with monthly draw-down tracking.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41242F"/>
                </a:solidFill>
              </a:rPr>
              <a:t>A private-revenue goal of ~$3M within three years, bringing the public share to about half at flat public funding.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Next come your reactions, then the FY24–25 audits and the TCP subgrant agreements, then a working session to turn the nine Tier 1 targets into assignments.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What follows: the leadership deck (22 content slides), the consulting deck (66 slides), appendix decks A–D, and four reports.</a:t>
            </a:r>
            <a:endParaRPr lang="en-US" sz="1100" dirty="0"/>
          </a:p>
        </p:txBody>
      </p:sp>
      <p:sp>
        <p:nvSpPr>
          <p:cNvPr id="12" name="bumper"/>
          <p:cNvSpPr txBox="1"/>
          <p:nvPr/>
        </p:nvSpPr>
        <p:spPr>
          <a:xfrm>
            <a:off x="548640" y="5669280"/>
            <a:ext cx="9265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1242F"/>
                </a:solidFill>
              </a:rPr>
              <a:t>Implication: </a:t>
            </a:r>
            <a:pPr indent="0" marL="0">
              <a:buNone/>
            </a:pPr>
            <a:r>
              <a:rPr lang="en-US" sz="1100" i="1" dirty="0">
                <a:solidFill>
                  <a:srgbClr val="41242F"/>
                </a:solidFill>
              </a:rPr>
              <a:t>Calvary has built the case, and the next five years need the public base fully drawn, the private base deeper, and a cushion for the spring.</a:t>
            </a:r>
            <a:endParaRPr lang="en-US" sz="1100" dirty="0"/>
          </a:p>
        </p:txBody>
      </p:sp>
      <p:sp>
        <p:nvSpPr>
          <p:cNvPr id="13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990 and funders' 990-PF/Schedule I filings; Calvary audits FY13–FY23; DC OVSJG and HUD CoC award lists; DC Council oversight responses; DC budget books FY2024–27; HUD HIC/PIT; ACS 2020–24 — all in the engagement's clean tables (calvary_funding_data/clean)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every figure maps to a chart-data file and a registered source; core peers are provisional; FY24–25 government figures rest on the 990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m1_02, m2_01, m2_07, m5_01, m7_00, m8_01 · data as of 2026-10-10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alvary Funding Engagement">
      <a:dk1>
        <a:srgbClr val="1F1B1D"/>
      </a:dk1>
      <a:lt1>
        <a:srgbClr val="FFFFFF"/>
      </a:lt1>
      <a:dk2>
        <a:srgbClr val="41242F"/>
      </a:dk2>
      <a:lt2>
        <a:srgbClr val="F6F3F4"/>
      </a:lt2>
      <a:accent1>
        <a:srgbClr val="A03F7E"/>
      </a:accent1>
      <a:accent2>
        <a:srgbClr val="B8810C"/>
      </a:accent2>
      <a:accent3>
        <a:srgbClr val="0F9ACB"/>
      </a:accent3>
      <a:accent4>
        <a:srgbClr val="CF5A2C"/>
      </a:accent4>
      <a:accent5>
        <a:srgbClr val="3B6FD8"/>
      </a:accent5>
      <a:accent6>
        <a:srgbClr val="D39F28"/>
      </a:accent6>
      <a:hlink>
        <a:srgbClr val="41242F"/>
      </a:hlink>
      <a:folHlink>
        <a:srgbClr val="8C8488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Calvary funding engagement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Calvary Women's Services: funding position and opportunities, one page</dc:title>
  <dc:subject>Executive one-pager</dc:subject>
  <dc:creator>Pro bono analysis for Calvary Women's Services</dc:creator>
  <cp:lastModifiedBy>Pro bono analysis for Calvary Women's Services</cp:lastModifiedBy>
  <cp:revision>1</cp:revision>
  <dcterms:created xsi:type="dcterms:W3CDTF">2026-10-12T15:29:30Z</dcterms:created>
  <dcterms:modified xsi:type="dcterms:W3CDTF">2026-10-12T15:29:30Z</dcterms:modified>
</cp:coreProperties>
</file>