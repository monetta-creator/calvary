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ne page" id="{25194d08-c8cb-e511-5cef-1f319432826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has become a system-level provider whose funding needs a better shape and a deeper cushion, not a smaller share.</a:t>
            </a:r>
            <a:endParaRPr lang="en-US" sz="2100" dirty="0"/>
          </a:p>
        </p:txBody>
      </p:sp>
      <p:sp>
        <p:nvSpPr>
          <p:cNvPr id="3" name="card The verdict"/>
          <p:cNvSpPr/>
          <p:nvPr/>
        </p:nvSpPr>
        <p:spPr>
          <a:xfrm>
            <a:off x="548640" y="1417320"/>
            <a:ext cx="3515258" cy="41605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The verdict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4949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Public funding at about half of revenue is typical for DC peers (53% FY22–24, 11th of 19).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shape is the issue: three streams, two through TCP, which carries 74% of a $4.1M award base.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Private grants have held near $1M a year from the same funders, and one partner is 27%.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FY25: −$607K, event income −$483K, 4.4 months of cash (7.5 in FY21).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Clouds: a cut is proposed every spring (restored twice), losing the DHS/TCP contract would cost ~$960K, and Calvary recognized about two-thirds of known award ceilings in FY24–25.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Rating: moderate-to-high pressure from concentration and liquidity, not from the share.</a:t>
            </a:r>
            <a:endParaRPr lang="en-US" sz="1100" dirty="0"/>
          </a:p>
        </p:txBody>
      </p:sp>
      <p:sp>
        <p:nvSpPr>
          <p:cNvPr id="6" name="card The top opportunities"/>
          <p:cNvSpPr/>
          <p:nvPr/>
        </p:nvSpPr>
        <p:spPr>
          <a:xfrm>
            <a:off x="4338218" y="1417320"/>
            <a:ext cx="3515258" cy="41605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5544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The top opportunities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2057400"/>
            <a:ext cx="314949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Draw every awarded dollar and confirm the DHS and Sisters Rise contracts with TCP (day 30).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Upgrade current partners to multi-year: GWCF (Health Equity Fund successor), Cafritz (Mar 1 / Jul 1 / Nov 1), Abell, Fowler, United Way NCA, Bank of America (day 45).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Open foundations that fund Calvary's peers: Clark Charitable ($7.8M to five peers, median $250K), Schattner, Cohen, Bernstein, The Washington Home, and re-engage Many Hands, World Bank CCF and Jane Bancroft Robinson (day 60–90).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Restore the event line and start a major-gifts / DAF program (peers raise 40–50% of filed grants via DAFs, Calvary 25%).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Formalize workforce and behavioral health: $30M and $21M a year of nearby DMV grant pools, without changing the mission.</a:t>
            </a:r>
            <a:endParaRPr lang="en-US" sz="1100" dirty="0"/>
          </a:p>
        </p:txBody>
      </p:sp>
      <p:sp>
        <p:nvSpPr>
          <p:cNvPr id="9" name="card Headline recommendations and next steps"/>
          <p:cNvSpPr/>
          <p:nvPr/>
        </p:nvSpPr>
        <p:spPr>
          <a:xfrm>
            <a:off x="8127797" y="1417320"/>
            <a:ext cx="3515258" cy="41605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5544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Headline recommendations and next steps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2057400"/>
            <a:ext cx="314949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A six-month reserve target (~$2.8M) and a plan to close the FY25 gap in the FY26 budget.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An annual advocacy and monitoring calendar for the spring budget season, with monthly draw-down tracking.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A private-revenue goal of ~$3M within three years, bringing the public share to about half at flat public funding.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Next come your reactions, then the FY24–25 audits, the TCP subgrant agreements and the FY25 gala calendar, then a working session to turn the eleven Tier 1 targets into assignments.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What follows: the leadership deck (22 content slides), the consulting deck (55 content slides), appendix decks A–D, and four reports.</a:t>
            </a:r>
            <a:endParaRPr lang="en-US" sz="1100" dirty="0"/>
          </a:p>
        </p:txBody>
      </p:sp>
      <p:sp>
        <p:nvSpPr>
          <p:cNvPr id="12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Calvary has built the case, and the next five years need the public base fully drawn, the private base deeper, and a cushion for the spring.</a:t>
            </a:r>
            <a:endParaRPr lang="en-US" sz="11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and funders' 990-PF/Schedule I filings; Calvary audits FY13–FY23; DC OVSJG and HUD CoC award lists; DC Council oversight responses; DC budget books FY2024–27; HUD HIC/PIT; ACS 2020–24 — all in the engagement's clean tables (calvary_funding_data/clean)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every figure maps to a chart-data file and a registered source; core peers are provisional; FY24–25 government figures rest on the 990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m1_02, m2_01, m2_07, m5_01, m7_00, m8_01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Calvary Women's Services: funding position and opportunities, one page</dc:title>
  <dc:subject>Executive one-pager</dc:subject>
  <dc:creator>Pro bono analysis for Calvary Women's Services</dc:creator>
  <cp:lastModifiedBy>Pro bono analysis for Calvary Women's Services</cp:lastModifiedBy>
  <cp:revision>1</cp:revision>
  <dcterms:created xsi:type="dcterms:W3CDTF">2026-10-11T03:22:12Z</dcterms:created>
  <dcterms:modified xsi:type="dcterms:W3CDTF">2026-10-11T03:22:12Z</dcterms:modified>
</cp:coreProperties>
</file>