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C" id="{3e52a635-26be-84b7-a8fa-fde56c23af71}">
          <p14:sldIdLst>
            <p14:sldId id="256"/>
          </p14:sldIdLst>
        </p14:section>
        <p14:section name="Landscape" id="{e4bcddd6-452a-9f10-1686-70e3d8fb4642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aps" id="{a191b194-86c2-9fe3-66a6-c57640951dcf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Network" id="{3d7c713f-55fe-c93a-d645-15d612612115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Pipeline" id="{5fb0b09a-4a38-40a1-684b-8dfafc39a5b2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Expansion" id="{e2dc09c0-7daa-8b77-d19e-aa7479da625e}">
          <p14:sldIdLst>
            <p14:sldId id="322"/>
            <p14:sldId id="323"/>
            <p14:sldId id="324"/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and other funders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49893328</c:v>
                </c:pt>
                <c:pt idx="1">
                  <c:v>51110799</c:v>
                </c:pt>
                <c:pt idx="2">
                  <c:v>52468996</c:v>
                </c:pt>
                <c:pt idx="3">
                  <c:v>51093189</c:v>
                </c:pt>
                <c:pt idx="4">
                  <c:v>71768363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DAF sponsors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67301087</c:v>
                </c:pt>
                <c:pt idx="1">
                  <c:v>81924312</c:v>
                </c:pt>
                <c:pt idx="2">
                  <c:v>53717138</c:v>
                </c:pt>
                <c:pt idx="3">
                  <c:v>94582122</c:v>
                </c:pt>
                <c:pt idx="4">
                  <c:v>86628191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C: Funder Pipelines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C · Funders, gaps, network and pipeline · pro bono funding analysis for Calvary Women's Services. Core peers are provisional. Method notes C1–C3 and D1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Grants to the DC sector by year and funder type total $660M over TY2020–24, 58% of it through DAF sponsors.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600200"/>
          <a:ext cx="58795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43000"/>
                <a:gridCol w="685800"/>
                <a:gridCol w="685800"/>
                <a:gridCol w="86868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TY2020–24 amount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$384.2M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$29.4M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civic association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420624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grants to the 1,027 dc_sector organizations, non-cumulative, landscape exclusions applied (Gates, TCP); funder tax years, TY2024 partial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m4_01, m4_02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$43.18M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$9.11M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$32.77M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$17.99M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$12.58M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$11.51M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$8.56M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$7.95M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$6.51M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$5.76M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$16,609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2 of 4)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3 of 4)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$568,432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$193,750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4 of 4)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$15,208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$408,500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Grant-size distributions by funder type put the median grant at $10K for private foundations and $40K for community foundations.</a:t>
            </a:r>
            <a:endParaRPr lang="en-US" sz="2100" dirty="0"/>
          </a:p>
        </p:txBody>
      </p:sp>
      <p:pic>
        <p:nvPicPr>
          <p:cNvPr id="3" name="m4_05_grant_size_by_type.png" descr="Chart m4_05_grant_size_by_type (charts/m4_05_grant_size_by_typ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943600" cy="2852928"/>
          </a:xfrm>
          <a:prstGeom prst="rect">
            <a:avLst/>
          </a:prstGeom>
        </p:spPr>
      </p:pic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600200"/>
          <a:ext cx="49194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94360"/>
                <a:gridCol w="594360"/>
                <a:gridCol w="640080"/>
                <a:gridCol w="6217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$69,022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$78,880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$45,695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$39,024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$49,255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$30,231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$108,084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$50,736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$76,888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$258,849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$187,209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$81,191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$113,339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20840" y="365760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458"/>
                </a:solidFill>
              </a:rPr>
              <a:t>The 90th percentile runs from $79K (private foundations) to $259K (DAF sponsors). Corporate-foundation medians are small because matching gifts dominate their counts.</a:t>
            </a:r>
            <a:endParaRPr lang="en-US" sz="10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percentiles of individual grant amounts to dc_sector recipients, TY2020–24, by dim_funder.funder_type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DAF sponsors' grants to the DC sector by year are led by Fidelity Charitable at $179M over TY2020–24.</a:t>
            </a:r>
            <a:endParaRPr lang="en-US" sz="2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1188720"/>
                <a:gridCol w="1188720"/>
                <a:gridCol w="1188720"/>
                <a:gridCol w="1188720"/>
                <a:gridCol w="1490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TY2020–24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$179.2M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Endowment 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DAF sponsors' Schedule I rows (IRS e-file via GivingTuesday), kept for DC/MD/VA recipients;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grants to dc_sector recipients by sponsor and tax year; DAF money is individual donors' decisions routed through sponsors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Purpose tags and mission-tagged funders show most institutional dollars untagged or general operating, and several of the largest mission-tagged funders giving little in DC.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754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640080"/>
                <a:gridCol w="6400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 tag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tagged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general operating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77240"/>
                <a:gridCol w="777240"/>
                <a:gridCol w="640080"/>
                <a:gridCol w="777240"/>
                <a:gridCol w="5760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Mission-tagged funder (DMV grants)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Tagged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which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 First Enterprises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Virginia Nonproit Housing Coalition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 of Frederick…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Pauley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dim_program_area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keyword tags on grant purpose text (a grant can carry several tags); right table: DMV recipients, purpose tagged housing, DV or women, top 13 by tagged dollars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m4_07, m4_08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funders of two or more peers lack a filed grant to Calvary, 23 of them fund three or more, and channels and closed funders are labeled.</a:t>
            </a:r>
            <a:endParaRPr lang="en-US" sz="21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868680"/>
                <a:gridCol w="594360"/>
                <a:gridCol w="64008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to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Covenant House Washington…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Community of Hope; Doorways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$6,488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Homeless; Community of Hope…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Covenant House Washington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$38,529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Doorways for Women and Families…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Doorways for Women and Families…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$7.83M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Doorways for Women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(DC); My…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$940K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open status from funders' own pages, Oct 2026 (config/guideline_notes.csv)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current; status: channel, closed, closed to new, not eligible, invitation only, RFP only, open or unverified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funders of two or more peers lack a filed grant to Calvary, 23 of them fund three or more, and channels and closed funders are labeled. (continued, 2 of 6)</a:t>
            </a:r>
            <a:endParaRPr lang="en-US" sz="21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868680"/>
                <a:gridCol w="594360"/>
                <a:gridCol w="64008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$873K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$62,900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Community of Hope;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Everyone Home…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DC SAFE; My…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DC SAFE;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(DC); House…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eligible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open status from funders' own pages, Oct 2026 (config/guideline_notes.csv)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current; status: channel, closed, closed to new, not eligible, invitation only, RFP only, open or unverified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funders of two or more peers lack a filed grant to Calvary, 23 of them fund three or more, and channels and closed funders are labeled. (continued, 3 of 6)</a:t>
            </a:r>
            <a:endParaRPr lang="en-US" sz="21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868680"/>
                <a:gridCol w="594360"/>
                <a:gridCol w="64008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$162,331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Thrive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open status from funders' own pages, Oct 2026 (config/guideline_notes.csv)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current; status: channel, closed, closed to new, not eligible, invitation only, RFP only, open or unverified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funders of two or more peers lack a filed grant to Calvary, 23 of them fund three or more, and channels and closed funders are labeled. (continued, 4 of 6)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868680"/>
                <a:gridCol w="594360"/>
                <a:gridCol w="64008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$28,314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SAFE; 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District Alliance for Safe…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open status from funders' own pages, Oct 2026 (config/guideline_notes.csv)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current; status: channel, closed, closed to new, not eligible, invitation only, RFP only, open or unverified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funders of two or more peers lack a filed grant to Calvary, 23 of them fund three or more, and channels and closed funders are labeled. (continued, 5 of 6)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868680"/>
                <a:gridCol w="594360"/>
                <a:gridCol w="64008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District Alliance for Safe…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Heartly House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open status from funders' own pages, Oct 2026 (config/guideline_notes.csv)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current; status: channel, closed, closed to new, not eligible, invitation only, RFP only, open or unverified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funders of two or more peers lack a filed grant to Calvary, 23 of them fund three or more, and channels and closed funders are labeled. (continued, 6 of 6)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868680"/>
                <a:gridCol w="594360"/>
                <a:gridCol w="64008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open status from funders' own pages, Oct 2026 (config/guideline_notes.csv)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current; status: channel, closed, closed to new, not eligible, invitation only, RFP only, open or unverified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Eleven lapsed former funders once gave Calvary $156K, one more is unclear, and one gave a one-time capital-campaign grant.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731520"/>
                <a:gridCol w="731520"/>
                <a:gridCol w="1051560"/>
                <a:gridCol w="548640"/>
                <a:gridCol w="914400"/>
                <a:gridCol w="914400"/>
                <a:gridCol w="896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to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grant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 capital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rows naming Calvary, all years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G2 lapsed: last Calvary grant ≤ TY2022 and the funder filed itemized lists in TY2023+ with no Calvary row; unclear: no itemized TY2023+ filing in the data; grants whose purpose is a capital campaign are one-time, not lapsed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current funders have headroom: each has written a larger single grant to a core peer than to Calvary.</a:t>
            </a:r>
            <a:endParaRPr lang="en-US" sz="21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960120"/>
                <a:gridCol w="640080"/>
                <a:gridCol w="868680"/>
                <a:gridCol w="640080"/>
                <a:gridCol w="594360"/>
                <a:gridCol w="86868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total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a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 (largest)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$1,206,500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$526,300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$89,549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$55,747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G3: largest single grant to any core peer vs largest to Calvary, TY2020–24 (a peer's larger grant may be capital or restricted)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current funders have headroom: each has written a larger single grant to a core peer than to Calvary. (continued, 2 of 2)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960120"/>
                <a:gridCol w="640080"/>
                <a:gridCol w="868680"/>
                <a:gridCol w="640080"/>
                <a:gridCol w="594360"/>
                <a:gridCol w="86868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total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a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 (largest)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G3: largest single grant to any core peer vs largest to Calvary, TY2020–24 (a peer's larger grant may be capital or restricted)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($32.8M, a spend-down that has closed).</a:t>
            </a:r>
            <a:endParaRPr lang="en-US" sz="21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eligible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to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($32.8M, a spend-down that has closed). (continued, 2 of 5)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$568,432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($32.8M, a spend-down that has closed). (continued, 3 of 5)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$193,750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to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$15,208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$408,500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($32.8M, a spend-down that has closed). (continued, 4 of 5)</a:t>
            </a:r>
            <a:endParaRPr lang="en-US" sz="21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$14,438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($32.8M, a spend-down that has closed). (continued, 5 of 5)</a:t>
            </a:r>
            <a:endParaRPr lang="en-US" sz="2100" dirty="0"/>
          </a:p>
        </p:txBody>
      </p:sp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$59,675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Sixteen funders appear on two or more peer donor lists but on no Calvary list or filing, mostly corporations without public filings.</a:t>
            </a:r>
            <a:endParaRPr lang="en-US" sz="2100" dirty="0"/>
          </a:p>
        </p:txBody>
      </p:sp>
      <p:graphicFrame>
        <p:nvGraphicFramePr>
          <p:cNvPr id="2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65760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(as listed)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naming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Accenture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Helen Bechtel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Alexander and Margaret Stewart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Gift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Matching Gifts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Deloitte Consulting LLP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Lenzner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McNamara, P.C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Shanthi,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Boeing Company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Carlyle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Green Charitable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Mars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Peers' annual reports and donor web pages (six peers publish lists); fact_grants (web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G5: named on ≥ 2 peer lists, absent from Calvary's lists, CRM and filed grants; lists are undated and carry no amounts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CRM reconciliation by status confirms 44% of the $10.56M in CRM-recorded institutional giving in funders' own filings.</a:t>
            </a:r>
            <a:endParaRPr lang="en-US" sz="2100" dirty="0"/>
          </a:p>
        </p:txBody>
      </p:sp>
      <p:pic>
        <p:nvPicPr>
          <p:cNvPr id="3" name="m5_06_crm_reconciliation.png" descr="Chart m5_06_crm_reconciliation (charts/m5_06_crm_reconciliation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943600" cy="2496312"/>
          </a:xfrm>
          <a:prstGeom prst="rect">
            <a:avLst/>
          </a:prstGeom>
        </p:spPr>
      </p:pic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00200"/>
          <a:ext cx="49651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109728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 the funder's TY2023+ filing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$4,632,578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or other, no public filing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$2,553,047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Exempt filer, no Calvary row found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$1,613,137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'See attached' filer (recipients unnamed)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$1,279,435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 earlier years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$477,879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$10,556,076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75120" y="3840480"/>
            <a:ext cx="4965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CRM totals are cumulative over an unconfirmed 2023–26 window (assumption A1) and assumed cash unless contradicted (A2); they are never added to filed annual grants.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CRM export (foundation and corporate funders, 2023–26) vs funders' 990-PF / Schedule I; supp_crm_cash_verification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CRM funder matched to its own filings and assigned one verification status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same funder web as its peers rather than at its edge.</a:t>
            </a:r>
            <a:endParaRPr lang="en-US" sz="2100" dirty="0"/>
          </a:p>
        </p:txBody>
      </p:sp>
      <p:pic>
        <p:nvPicPr>
          <p:cNvPr id="3" name="m6_03_network.png" descr="Chart m6_03_network (charts/m6_03_network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Reading the network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Reading the network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Nodes: Calvary, the 18 provisional peers and the funders of three or more of them.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374538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Edges: filed grants TY2020–24; edge width = dollars.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554517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Most of the best-connected funders already fund Calvary; the next table lists the 25 most connected.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graph funders × 19 recipients; concentric layout (hub funders inner ring, peers outer ring); landscape exclusions applied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25 most connected funders in the network (filed grants TY2020–24)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1828800"/>
                <a:gridCol w="1280160"/>
                <a:gridCol w="1097280"/>
                <a:gridCol w="731520"/>
                <a:gridCol w="91440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Organizations funded (of 19)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Betweenness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degree = organizations funded among Calvary + 18 peers; betweenness on the unweighted bipartite graph; DAF sponsors included as channels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25 most connected funders in the network (filed grants TY2020–24) (continued, 2 of 2)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1828800"/>
                <a:gridCol w="1280160"/>
                <a:gridCol w="1097280"/>
                <a:gridCol w="731520"/>
                <a:gridCol w="91440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Organizations funded (of 19)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Betweenness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Endowment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degree = organizations funded among Calvary + 18 peers; betweenness on the unweighted bipartite graph; DAF sponsors included as channels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2 are high confidence and the 54 medium rows are labeled unconfirmed.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Connected Care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Trust for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Charter School Incubator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2019-2021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Power Institute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 Construction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2017-2019 vs 2021-2025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Dress for Success Washington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2015-2018 vs 2021-2022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United Way of Central Maryland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Connected Care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Lydia's House in Southeast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2020-2022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Manna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2021-2022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Traron Center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high confidence also needs overlapping board terms; a funder has at least one filed grant;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2 are high confidence and the 54 medium rows are labeled unconfirmed. (continued, 2 of 4)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Blossom Education Solutions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Changing Perceptions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Dcck Support Corporation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Rockson Community Development Corporation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Home for the Aged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Hospitality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for Recovery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2024-2024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Bread for the City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Fundraising Professionals…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Community Development Corp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Housing Solutions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 Housing Corporation of the District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Dog Tag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2020-2020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high confidence also needs overlapping board terms; a funder has at least one filed grant;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2 are high confidence and the 54 medium rows are labeled unconfirmed. (continued, 3 of 4)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Hope Housing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Community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2021-2024 vs 2022-2023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Young Woman's Christian Home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Farvue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2020-2025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Freedom Network USA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2025-2025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of Frederick County…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Women's Business Enterprise National Council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Resource Center on Domestic…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Dipietro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 Community Food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Bread for the City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high confidence also needs overlapping board terms; a funder has at least one filed grant;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2 are high confidence and the 54 medium rows are labeled unconfirmed. (continued, 4 of 4)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of Columbia Coalition Against…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Lawyers' Committee for Civil…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Friends of Anacostia Park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George M Jones Library Association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Inspire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Womens Microfinance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2020-2025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Barber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Council on Foundations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2022-2024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Partnership for the Prevention…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Baker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2021-2023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Endowing People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2022-2023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Inspire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Whf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high confidence also needs overlapping board terms; a funder has at least one filed grant;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2 of 12)</a:t>
            </a:r>
            <a:endParaRPr lang="en-US" sz="21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3 of 12)</a:t>
            </a:r>
            <a:endParaRPr lang="en-US" sz="2100" dirty="0"/>
          </a:p>
        </p:txBody>
      </p:sp>
      <p:graphicFrame>
        <p:nvGraphicFramePr>
          <p:cNvPr id="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4 of 12)</a:t>
            </a:r>
            <a:endParaRPr lang="en-US" sz="21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5 of 12)</a:t>
            </a:r>
            <a:endParaRPr lang="en-US" sz="21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6 of 12)</a:t>
            </a:r>
            <a:endParaRPr lang="en-US" sz="2100" dirty="0"/>
          </a:p>
        </p:txBody>
      </p:sp>
      <p:graphicFrame>
        <p:nvGraphicFramePr>
          <p:cNvPr id="3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7 of 12)</a:t>
            </a:r>
            <a:endParaRPr lang="en-US" sz="2100" dirty="0"/>
          </a:p>
        </p:txBody>
      </p:sp>
      <p:graphicFrame>
        <p:nvGraphicFramePr>
          <p:cNvPr id="4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 Environment…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8 of 12)</a:t>
            </a:r>
            <a:endParaRPr lang="en-US" sz="2100" dirty="0"/>
          </a:p>
        </p:txBody>
      </p:sp>
      <p:graphicFrame>
        <p:nvGraphicFramePr>
          <p:cNvPr id="4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9 of 12)</a:t>
            </a:r>
            <a:endParaRPr lang="en-US" sz="2100" dirty="0"/>
          </a:p>
        </p:txBody>
      </p:sp>
      <p:graphicFrame>
        <p:nvGraphicFramePr>
          <p:cNvPr id="4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10 of 12)</a:t>
            </a:r>
            <a:endParaRPr lang="en-US" sz="2100" dirty="0"/>
          </a:p>
        </p:txBody>
      </p:sp>
      <p:graphicFrame>
        <p:nvGraphicFramePr>
          <p:cNvPr id="4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CPMG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11 of 12)</a:t>
            </a:r>
            <a:endParaRPr lang="en-US" sz="2100" dirty="0"/>
          </a:p>
        </p:txBody>
      </p:sp>
      <p:graphicFrame>
        <p:nvGraphicFramePr>
          <p:cNvPr id="4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12 of 12)</a:t>
            </a:r>
            <a:endParaRPr lang="en-US" sz="2100" dirty="0"/>
          </a:p>
        </p:txBody>
      </p:sp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scoring configuration weights seven dimensions and sets the tier cutoffs in one editable file, config/scoring_weights.yaml.</a:t>
            </a:r>
            <a:endParaRPr lang="en-US" sz="2100" dirty="0"/>
          </a:p>
        </p:txBody>
      </p:sp>
      <p:graphicFrame>
        <p:nvGraphicFramePr>
          <p:cNvPr id="4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8531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scores (comment in the file)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funder's issue tags and share of its DC-sector giving whose purpose names housing/DV/women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 of the 18 core peers it funds (TY2020-24 filings)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dollars to DC-sector organizations TY2020-24 (log scale)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 to peers (median), log scale $5K -&gt; $250K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 and breadth of recipients (open process vs closed family foundation); 'see attached' filers penalized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funding peers and years active in the DC sector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path strength (shared peers, co-funders, high-confidence board links) plus current / lapsed / CRM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3949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rule or relationship bonus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tier1 min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tier2 min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tier1 min award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max tier1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current 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lapsed 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on calvary list or crm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93192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 or penalty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 scale (median peer grant)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 → $250,000 (log-linear)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(DC-sector dollars)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 → $10,000,000 (log-linear)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 cap (peers for a score of 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 penalty ('see attached')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/ workplace channel penalty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calvary_analysis/config/scoring_weights.yaml; inputs chart_data/m5_00_candidate_funders.csv and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 of seven 0–1 scores; in-kind channels −0.30, see-attached filers −0.15; channels capped at Tier 2, closed funders excluded, not eligible Tier 3, closed to new at most Tier 2; rerun scripts 07, 12 and 13 after edits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scoring configuration weights seven dimensions and sets the tier cutoffs in one editable file, config/scoring_weights.yaml. (continued, 2 of 2)</a:t>
            </a:r>
            <a:endParaRPr lang="en-US" sz="2100" dirty="0"/>
          </a:p>
        </p:txBody>
      </p:sp>
      <p:graphicFrame>
        <p:nvGraphicFramePr>
          <p:cNvPr id="4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2651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by funder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broad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20 distinct DC-sector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mid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8-19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narrow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8 recipients (family / closed)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intermediaries: not a grant pipeline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94360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Analyst-scored government row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GOV-DC-1: DC OVSJG Victim Services grants (Reach Up, New Foundations)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GOV-DC-2: DHS homeless services via TCP (TH contract, Sisters Rise)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GOV-FED-1: HUD Continuum of Care via TCP (Sister Circle, Reach Up, New…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GOV-DC-3: DHS Permanent Supportive Housing (local PSH lines, $145-166M)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GOV-FED-2: HUD Community Project Funding (earmark) renewal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245352" y="39319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458"/>
                </a:solidFill>
              </a:rPr>
              <a:t>Channels (capped at Tier 2): in-kind or workplace channels (Gifts for the Homeless, Capital Area Food Bank, America's Charities, Give Lively) take the in-kind penalty; JPMorgan Chase and Bank of America are matching-gift channels; World Bank CCF is employee giving; the T. Rowe Price Program is scored like a DAF sponsor. Corporate CRM relationships (≥ $50K, no public filing) are analyst-scored.</a:t>
            </a:r>
            <a:endParaRPr lang="en-US" sz="10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calvary_analysis/config/scoring_weights.yaml; inputs chart_data/m5_00_candidate_funders.csv and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 of seven 0–1 scores; in-kind channels −0.30, see-attached filers −0.15; channels capped at Tier 2, closed funders excluded, not eligible Tier 3, closed to new at most Tier 2; rerun scripts 07, 12 and 13 after edits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</a:t>
            </a:r>
            <a:endParaRPr lang="en-US" sz="2100" dirty="0"/>
          </a:p>
        </p:txBody>
      </p:sp>
      <p:graphicFrame>
        <p:nvGraphicFramePr>
          <p:cNvPr id="4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$2.7M…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peers; typical grant $33K; DC-sector $43.2M…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 and grow: annual continuation; Council…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peers; typical grant $36K; DC-sector $12.6M…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5% of DC CoC; protect renewals…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single stream; confirm FY25-26 contract…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$32K; DC-sector $1.6M…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$713K 2023-26; cash vs in-kind unclear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$60K;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 (closed to new…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peers; typical grant $12K;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matching gifts (corporate…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$0K; DC-sector $18.0M;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peers; typical grant $19K; DC-sector $5.8M…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in-kind goods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$6K;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2 of 14)</a:t>
            </a:r>
            <a:endParaRPr lang="en-US" sz="2100" dirty="0"/>
          </a:p>
        </p:txBody>
      </p:sp>
      <p:graphicFrame>
        <p:nvGraphicFramePr>
          <p:cNvPr id="4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peers; typical grant $20K; DC-sector $0.7M…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matching gifts (corporate…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peers; typical grant $0K; DC-sector $11.5M…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$4K;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workplace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$39K;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channel (donor-advised program)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in-kind food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$12K; DC-sector $3.8M;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employee giving (TY2022…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$100K; DC-sector $0.8M…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Frontier Co-op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$250K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peers; typical grant $3K;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online giving platform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$7K; DC-sector $1.0M;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International Monetary Fund (IMF)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$156K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Reservoir Communications Group LLC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$155K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(local PSH…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expansion: Calvary holds 16 PSH beds; the local…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3 of 14)</a:t>
            </a:r>
            <a:endParaRPr lang="en-US" sz="2100" dirty="0"/>
          </a:p>
        </p:txBody>
      </p:sp>
      <p:graphicFrame>
        <p:nvGraphicFramePr>
          <p:cNvPr id="5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$63K; DC-sector $2.9M;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$75K; DC-sector $2.0M;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Latham &amp; Watkins LLP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$115K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$27K;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$2.2M;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$3.1M…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 (closed to new…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$62K; DC-sector $4.0M;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UnitedHealth Group Employee Giving Campaign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$79K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4 of 14)</a:t>
            </a:r>
            <a:endParaRPr lang="en-US" sz="2100" dirty="0"/>
          </a:p>
        </p:txBody>
      </p:sp>
      <p:graphicFrame>
        <p:nvGraphicFramePr>
          <p:cNvPr id="5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$17K; DC-sector $2.7M;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Sulica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Altria Corporate Services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$62K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Courembis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$58K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CareFirst Committment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$58K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Community Project Funding (earmark)…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 awarded 2023 for a capital project…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Hyde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excluded: closed funder…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$250K; DC-sector $32.8M;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2027-01-25;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the Assistant Secretary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2027-01-11;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2026-11-02;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5 of 14)</a:t>
            </a:r>
            <a:endParaRPr lang="en-US" sz="2100" dirty="0"/>
          </a:p>
        </p:txBody>
      </p:sp>
      <p:graphicFrame>
        <p:nvGraphicFramePr>
          <p:cNvPr id="5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2026-11-02;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eligible: Small grants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$75K; DC-sector $6.5M;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eligible: Applicants need an…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2026-09-28;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Centers for Disease Control - NCIPC…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2027-03-31;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Resources and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2027-02-02; tags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Resources and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$48.60M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2027-03-18;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$550K; DC-sector $3.0M;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$250K;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$250K; DC-sector $3.6M;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$8.0M;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$25K;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6 of 14)</a:t>
            </a:r>
            <a:endParaRPr lang="en-US" sz="2100" dirty="0"/>
          </a:p>
        </p:txBody>
      </p:sp>
      <p:graphicFrame>
        <p:nvGraphicFramePr>
          <p:cNvPr id="5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$40K;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$14K;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$5.6M;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$201K; DC-sector $1.6M;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$102K;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$25K; DC-sector $3.1M;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$50K; DC-sector $0.3M;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 NOAA - ERA Production: 2026 Alaska…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2028-05-01;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Park Service: National Parks…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2027-01-04; tags workforce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$132K; DC-sector $1.3M;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$8K; DC-sector $0.4M…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$28K; DC-sector $1.3M;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$50K;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7 of 14)</a:t>
            </a:r>
            <a:endParaRPr lang="en-US" sz="2100" dirty="0"/>
          </a:p>
        </p:txBody>
      </p:sp>
      <p:graphicFrame>
        <p:nvGraphicFramePr>
          <p:cNvPr id="5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$14K;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$44K;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$70K;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$50K;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$200K;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$2.4M;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$25K;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$18K;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8 of 14)</a:t>
            </a:r>
            <a:endParaRPr lang="en-US" sz="2100" dirty="0"/>
          </a:p>
        </p:txBody>
      </p:sp>
      <p:graphicFrame>
        <p:nvGraphicFramePr>
          <p:cNvPr id="5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$4.2M;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$12K;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$162K; DC-sector $0.3M;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$408K;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$7K;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$125K;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$15K;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$10K;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$45K;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$310K;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9 of 14)</a:t>
            </a:r>
            <a:endParaRPr lang="en-US" sz="2100" dirty="0"/>
          </a:p>
        </p:txBody>
      </p:sp>
      <p:graphicFrame>
        <p:nvGraphicFramePr>
          <p:cNvPr id="5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$0K;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$21K;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$100K;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$518K;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$15K;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$50K; DC-sector $0.3M…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$18K;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$450K; DC-sector $1.8M;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10 of 14)</a:t>
            </a:r>
            <a:endParaRPr lang="en-US" sz="2100" dirty="0"/>
          </a:p>
        </p:txBody>
      </p:sp>
      <p:graphicFrame>
        <p:nvGraphicFramePr>
          <p:cNvPr id="5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$568K; DC-sector $1.5M;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$75K; DC-sector $4.6M;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$11K;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Centers for Disease Control - NCIPC…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2027-03-31;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n/a;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$40K;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$8K; DC-sector $0.9M;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11 of 14)</a:t>
            </a:r>
            <a:endParaRPr lang="en-US" sz="2100" dirty="0"/>
          </a:p>
        </p:txBody>
      </p:sp>
      <p:graphicFrame>
        <p:nvGraphicFramePr>
          <p:cNvPr id="5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$1K; DC-sector $8.6M;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$28K;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$375K;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$3K;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$30K;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12 of 14)</a:t>
            </a:r>
            <a:endParaRPr lang="en-US" sz="2100" dirty="0"/>
          </a:p>
        </p:txBody>
      </p:sp>
      <p:graphicFrame>
        <p:nvGraphicFramePr>
          <p:cNvPr id="5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$6K;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$15K;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13 of 14)</a:t>
            </a:r>
            <a:endParaRPr lang="en-US" sz="2100" dirty="0"/>
          </a:p>
        </p:txBody>
      </p:sp>
      <p:graphicFrame>
        <p:nvGraphicFramePr>
          <p:cNvPr id="6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$9K;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$6K;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 Foundation…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$43K;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$60K;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9 in Tier 1, 39 in Tier 2 and 134 in Tier 3. (continued, 14 of 14)</a:t>
            </a:r>
            <a:endParaRPr lang="en-US" sz="2100" dirty="0"/>
          </a:p>
        </p:txBody>
      </p:sp>
      <p:graphicFrame>
        <p:nvGraphicFramePr>
          <p:cNvPr id="6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$18K;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90-day action plan gives each of the 9 Tier 1 targets a next step, an owner role and a deadline.</a:t>
            </a:r>
            <a:endParaRPr lang="en-US" sz="2100" dirty="0"/>
          </a:p>
        </p:txBody>
      </p:sp>
      <p:graphicFrame>
        <p:nvGraphicFramePr>
          <p:cNvPr id="6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94560"/>
                <a:gridCol w="1463040"/>
                <a:gridCol w="3657600"/>
                <a:gridCol w="1188720"/>
                <a:gridCol w="914400"/>
                <a:gridCol w="13075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 role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status and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Steward and renew: Abell gave $270K (TY2021) and $25K (TY2023), with a further $25K in March 2025; it…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conversations with GWCF: a successor to the Health Equity Fund support, and a core…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Cycle-specific; check Grant…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March 1, July 1, November 1 (5:00 pm…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Rolling (no deadline)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partner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Secure an invitation through a named peer or co-funder (Schattner does not consider unsolicited…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90 (introduction, then invitation)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recommendations/action_plan_90day.csv; config/guideline_notes.csv (sources/web_tier1_guidelines.csv)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relative to plan start, sequenced for a six-person development team; owner roles, not people; open status checked on funders' own pages, Oct 2026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29 Tier 1–2 funders from the reviewed web pull: 13 first-party, 9 third-party and 7 analyst notes.</a:t>
            </a:r>
            <a:endParaRPr lang="en-US" sz="2100" dirty="0"/>
          </a:p>
        </p:txBody>
      </p:sp>
      <p:graphicFrame>
        <p:nvGraphicFramePr>
          <p:cNvPr id="6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1645920"/>
                <a:gridCol w="1280160"/>
                <a:gridCol w="2221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status (checked)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S. Abell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funder; no first-party guidelines found (web hits matched The Abell Foundation of Baltimore,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Not accepting unsolicited applications…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grant opportunities posted by fund on the foundation's site; apply through the online portal during…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Grant opportunities posted by fund; apply in each fund's…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(A. James &amp;…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first-party guidelines found (web hits matched other Clark foundations). Grants to DC peers suggest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sunset: Sunsetting: operational until 31 Dec 2025; does not…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grantee portal; one application per 12 months, including current grantees requesting a new grant.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Deadlines March 1, July 1, November 1; portal opens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Accepts applications; instructions on its 990-PF and website; no stated deadline (third-party summary).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Online application; no deadlines; board meets monthly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I. Schattner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first-party guidelines found; a Maryland family foundation (education and dental/health access focus)…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Does not consider unsolicited grant requests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Workplace-giving federation (CFC-style campaigns), not a grantmaker: membership application for inclusion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Workplace-giving federation (CFC and employer…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accepted three times a year; one application per calendar year; decisions about four months…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February 1, June 1, September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to new: DC and Northern Virginia applications only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Proposals by invitation only; no unsolicited applications (third-party summaries). Local market relationship…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Invitation only (third-party summary); peer…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29 Tier 1–2 funders from the reviewed web pull: 13 first-party, 9 third-party and 7 analyst notes. (continued, 2 of 4)</a:t>
            </a:r>
            <a:endParaRPr lang="en-US" sz="2100" dirty="0"/>
          </a:p>
        </p:txBody>
      </p:sp>
      <p:graphicFrame>
        <p:nvGraphicFramePr>
          <p:cNvPr id="6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1645920"/>
                <a:gridCol w="1280160"/>
                <a:gridCol w="2221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status (checked)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partnership application even for returning partners: pre-screening opens September, online…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Pre-screening September; application Oct-Nov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Pre-screening in September; application October-November…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local RFP cycles a year (Basic Needs / Income Creation in February-March; Stable Housing / Empowering…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dates to be posted; 2026 cycles ran Feb…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Two RFP cycles a year; 2027 dates not yet posted; peer…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E. Meyer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grantmaking: short Interest Form through the grant portal; response within 30 days with an invitation…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 Form deadline per cycle (March 4 in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to new: Closed to new applicants in 2026; no 2027…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&amp; Jeanette Weinberg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Grants Program is for Maryland and Northeastern Pennsylvania nonprofits (rolling); larger grants are…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(small grants, MD/PA only)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eligible: Small grants for Maryland and Pennsylvania…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not accept unsolicited requests from organizations without an existing funding relationship; prior-year…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B.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materials may be mailed to the foundation (Rockville, MD); no specified format or deadline…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stated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Mail-in requests; no deadline stated (third-party summary)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women's collective-giving circle; annual grant cycle with an applicant webinar in December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open early January (two-week window)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eligible: Applicants need an operating budget of $500K-$5M…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grants to DC organizations in its focus areas (critically ill: health-care access and caregiver…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grants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unverified: Grants page found; current cycle and fit not…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Partner-agency process (information session, pre-screening form, full partnership application, site visit)…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partner intake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In-kind food partner intake, not a cash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29 Tier 1–2 funders from the reviewed web pull: 13 first-party, 9 third-party and 7 analyst notes. (continued, 3 of 4)</a:t>
            </a:r>
            <a:endParaRPr lang="en-US" sz="2100" dirty="0"/>
          </a:p>
        </p:txBody>
      </p:sp>
      <p:graphicFrame>
        <p:nvGraphicFramePr>
          <p:cNvPr id="6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1645920"/>
                <a:gridCol w="1280160"/>
                <a:gridCol w="2221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status (checked)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clothing and goods drives for DC-area homeless-services providers; no cash grant process found.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In-kind goods channel, not a cash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free fundraising platform; 'grants' are pass-through donations to member nonprofits. Membership…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membership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Online giving platform passing through donor gifts…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Arlington, VA focus; no usable first-party hit for a DC organization.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unverified: No usable first-party page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through AAMC community giving; web hits returned unrelated AAMC programs.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unverified: No usable first-party page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SustainABLE Community Initiatives: East of the River focus (Wards 7 and 8), nonprofit ecosystem…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foundation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rfp only: Grants by periodic RFP (past RFPs posted 2023 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application in the foundation's focus areas (third-party summary); national corporate foundation.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foundation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unverified: Third-party summary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Gives to 501(c)(3) organizations aligned with its focus at the board's discretion; firm has a DC office.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discretion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unverified: Grants at board discretion; no open process stated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not accept unsolicited proposals; Calvary's receipts are employee-directed.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Invitation only (third-party summary)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Connections program: application with the latest 990 and annual report; objectives consistent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cycle; see World Bank Community…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channel: Calvary's one filed grant was a one-time $100K…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29 Tier 1–2 funders from the reviewed web pull: 13 first-party, 9 third-party and 7 analyst notes. (continued, 4 of 4)</a:t>
            </a:r>
            <a:endParaRPr lang="en-US" sz="2100" dirty="0"/>
          </a:p>
        </p:txBody>
      </p:sp>
      <p:graphicFrame>
        <p:nvGraphicFramePr>
          <p:cNvPr id="6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1645920"/>
                <a:gridCol w="1280160"/>
                <a:gridCol w="2221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status (checked)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foundation website found; third-party profiles say it selects its own grantees.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No public application process; third-party…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foundation website or published application process found.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only: No public application process found; treat as…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Rank sensitivity to weight changes is low, since no ±0.05 change moves the top 30 more than 1.7 places on average.</a:t>
            </a:r>
            <a:endParaRPr lang="en-US" sz="2100" dirty="0"/>
          </a:p>
        </p:txBody>
      </p:sp>
      <p:graphicFrame>
        <p:nvGraphicFramePr>
          <p:cNvPr id="6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828800"/>
                <a:gridCol w="1645920"/>
                <a:gridCol w="164592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rank shift (top 30)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added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dropped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-0.05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+0.05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chart_data/m7_05_sensitivity.csv (scripts/13_m7_sensitivity.py);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weight ±0.05 with renormalization, tier-2 cutoff ±0.05; institutional rows only (government, corporate and federal rows have fixed scores)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expansion scan table and the relevant federal notices show large near pools in workforce and behavioral health and thin direct federal competition.</a:t>
            </a:r>
            <a:endParaRPr lang="en-US" sz="2100" dirty="0"/>
          </a:p>
        </p:txBody>
      </p:sp>
      <p:graphicFrame>
        <p:nvGraphicFramePr>
          <p:cNvPr id="6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85800"/>
                <a:gridCol w="2331720"/>
                <a:gridCol w="914400"/>
                <a:gridCol w="914400"/>
                <a:gridCol w="731520"/>
                <a:gridCol w="68580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tagged $/yr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($100K+)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notices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and comparator models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 and homelessness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 (94 TH beds 2025), PSH (Sister…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 (104)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Village; House of Ruth DC; DWC (159 PSH units…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 and life skills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LEAP education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 (271)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Village; Thrive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 and employment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Up DC job program; SNAP E&amp;T contract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 (66)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SheWorks (CBWC Institute, LA): stipends, childcare, career…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 and recovery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On-site therapy (500+ sessions/yr), recovery support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 (84)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 (recovery housing); N Street Village…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Domestic violence and victim services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site is DV-designated; OVSJG-funded…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DASH; My Sister's Place; DC SAFE; House of Ruth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Meals, health partnerships; no clinic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 (206)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 (FQHC); Christ House (medical respite)…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 and older adults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 women are a growing share of PSH residents (not…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(older women on Skid Row); The Washington Home funds…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veterans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documented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Housing DC (alternate peer); VA GPD grantees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 and justice-involved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with justice involvement are served but not 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(8)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SheWorks (system-impacted women); OVSJG reentry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and family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women only; no family programs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(12)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(families)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TY2020–24 (fact_grants, dim_program_area); Grants.gov (fact_opportunities); fact_policy_events;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DMV institutional grants whose purpose carries the tag, TY2020–24 ÷ 5; general operating excluded; distance ratings are analyst judgment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</a:t>
            </a:r>
            <a:endParaRPr lang="en-US" sz="2100" dirty="0"/>
          </a:p>
        </p:txBody>
      </p:sp>
      <p:graphicFrame>
        <p:nvGraphicFramePr>
          <p:cNvPr id="6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HHS-2027-ACF-OHS-CH-0125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Head Start Expansion and Early Head Start - Child Care…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HHS-2026-ACF-ORR-ZU-0019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Study and Post-Release Services for Unaccompanied Alien…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HHS-2027-ACL-AOA-ADPI-0006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Alzheimer's Disease Programs Initiative (ADPI) - Developing…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Community Living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O-BJA-2026-172795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Invited to Apply- Medicaid and Corrections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Veterans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Second Chance Act Community-based Reentry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Adult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National Center for Veterans Justice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Comprehensive Opioid, Stimulant, and Substance…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Residential Substance Abuse Treatment for State…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dv, behavioral health, 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O-BJS-2026-172687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BJS FY 2026 State Justice Statistics Program for Statistical…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Statistics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PIH-2600-DC-0005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 Opportunity and Self-Sufficiency Service…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aging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 (continued, 2 of 3)</a:t>
            </a:r>
            <a:endParaRPr lang="en-US" sz="2100" dirty="0"/>
          </a:p>
        </p:txBody>
      </p:sp>
      <p:graphicFrame>
        <p:nvGraphicFramePr>
          <p:cNvPr id="7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CPD-2600-DC-0099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Preservation and Reinvestment Initiative for Community…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OFH-2600-DC-021A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Housing Initiatives Program - Education and Outreach…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OFH-2600-DC-021C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HOUSING INITIATIVES PROGRAM PRIVATE ENFORCEMENT…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PIH-2600-DC-0084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Family Unification Program (FUP) Multi-Year NOFO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HSG-2600-DC-0033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Comprehensive Housing Counseling (CHC) and the Housing…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behavioral health,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PIH-ROSS-26-001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ROSS Rapid Response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ETA-UI-2024-01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Unemployment Insurance Integrity Center of Excellence…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2024-09-26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ETA-UIPL-15-26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 2027 State Workforce Agency Unemployment…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$457.7M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O-NIJ-2026-172798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NIJ FY 2026 Evaluation of the Effectiveness of the Bureau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Institute of Justice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$5.9M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Community and Schools Youth Drug Prevention…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Juvenile Drug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Second Chance Act Youth Reentry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 (continued, 3 of 3)</a:t>
            </a:r>
            <a:endParaRPr lang="en-US" sz="2100" dirty="0"/>
          </a:p>
        </p:txBody>
      </p:sp>
      <p:graphicFrame>
        <p:nvGraphicFramePr>
          <p:cNvPr id="7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Expanding Youth Access to Community-Based…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Family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dv, 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Mentoring for Youth Impacted by Opioids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Opioid Affected Youth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SM-27-001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GLS Campus Suicide Prevention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Treatment for Pregnant and Postpartum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Pilot Program for Treatment for Pregnant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Building Communities of Recovery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GR-RDC-25-001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– Construction and Real…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GR-RDC-25-002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- Non-Construction Activities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FOA-VETS-27-01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Homeless Veterans’ Reintegration Program (HVRP)…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Employment and Training Service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2027-03-17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workforce, veterans, reentry,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VA-NCA-VLGP-FY2027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2027-04-09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C: Funders, gaps, network and pipeline</dc:title>
  <dc:subject>Appendix C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2026-10-12T15:29:41Z</dcterms:created>
  <dcterms:modified xsi:type="dcterms:W3CDTF">2026-10-12T15:29:41Z</dcterms:modified>
</cp:coreProperties>
</file>