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 C" id="{77455db0-718b-0550-207c-729a28cca09d}">
          <p14:sldIdLst>
            <p14:sldId id="256"/>
          </p14:sldIdLst>
        </p14:section>
        <p14:section name="Landscape" id="{09de6140-9433-244a-ce7e-b165ad237426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Gaps" id="{ca82f72f-ba13-0a9f-63db-d5dc380218f9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Network" id="{2d7c7a56-7ad2-df72-b15a-5dbc7f29365a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Pipeline" id="{4a098553-a955-21bc-1ac2-7c7a37da4dfe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  <p14:section name="Expansion" id="{0e8558aa-ee68-a19a-dc25-70907e8c1fe1}">
          <p14:sldIdLst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Institutional and other funders</c:v>
                </c:pt>
              </c:strCache>
            </c:strRef>
          </c:tx>
          <c:spPr>
            <a:solidFill>
              <a:srgbClr val="B8810C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TY2020</c:v>
                  </c:pt>
                  <c:pt idx="1">
                    <c:v>TY2021</c:v>
                  </c:pt>
                  <c:pt idx="2">
                    <c:v>TY2022</c:v>
                  </c:pt>
                  <c:pt idx="3">
                    <c:v>TY2023</c:v>
                  </c:pt>
                  <c:pt idx="4">
                    <c:v>TY2024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49893328</c:v>
                </c:pt>
                <c:pt idx="1">
                  <c:v>51110799</c:v>
                </c:pt>
                <c:pt idx="2">
                  <c:v>52468996</c:v>
                </c:pt>
                <c:pt idx="3">
                  <c:v>51093189</c:v>
                </c:pt>
                <c:pt idx="4">
                  <c:v>71768363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DAF sponsors</c:v>
                </c:pt>
              </c:strCache>
            </c:strRef>
          </c:tx>
          <c:spPr>
            <a:solidFill>
              <a:srgbClr val="0F9ACB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TY2020</c:v>
                  </c:pt>
                  <c:pt idx="1">
                    <c:v>TY2021</c:v>
                  </c:pt>
                  <c:pt idx="2">
                    <c:v>TY2022</c:v>
                  </c:pt>
                  <c:pt idx="3">
                    <c:v>TY2023</c:v>
                  </c:pt>
                  <c:pt idx="4">
                    <c:v>TY2024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67301087</c:v>
                </c:pt>
                <c:pt idx="1">
                  <c:v>81924312</c:v>
                </c:pt>
                <c:pt idx="2">
                  <c:v>53717138</c:v>
                </c:pt>
                <c:pt idx="3">
                  <c:v>94582122</c:v>
                </c:pt>
                <c:pt idx="4">
                  <c:v>86628191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$#,##0.0,,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Subtitle</a:t>
            </a:r>
            <a:endParaRPr lang="en-US" sz="1700" dirty="0"/>
          </a:p>
        </p:txBody>
      </p:sp>
      <p:pic>
        <p:nvPicPr>
          <p:cNvPr id="4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4572000"/>
            <a:ext cx="36576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88"/>
                </a:solidFill>
              </a:rPr>
              <a:t>Prepared with public data as of 2026-10-10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Takeaway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41242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Headline</a:t>
            </a:r>
            <a:endParaRPr lang="en-US" sz="2100" dirty="0"/>
          </a:p>
        </p:txBody>
      </p:sp>
      <p:pic>
        <p:nvPicPr>
          <p:cNvPr id="3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5989320"/>
            <a:ext cx="1234440" cy="7863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Appendix C carries the funder landscape, the gap lists, the network tables and the complete scored pipeline.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Appendix C · Funders, gaps, network and pipeline · pro bono funding analysis for Calvary Women's Services. Core peers are provisional. Method notes C1–C3 and D1 are in Appendix D.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Grants to the DC sector by year and funder type total $660M over TY2020–24, 58% of it through DAF sponsors.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4937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795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43000"/>
                <a:gridCol w="685800"/>
                <a:gridCol w="685800"/>
                <a:gridCol w="868680"/>
                <a:gridCol w="6675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TY2020–24 amount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$384.2M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$41.5M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$29.4M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$17,721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civic association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420624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Recipients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grants to the 1,027 dc_sector organizations, non-cumulative, landscape exclusions applied (Gates, TCP); funder tax years, TY2024 partial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m4_01, m4_02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50 largest institutional funders of DC's sector, with Calvary status and peers funded, include 8 that already fund Calvary.</a:t>
            </a:r>
            <a:endParaRPr lang="en-US" sz="2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1508760"/>
                <a:gridCol w="457200"/>
                <a:gridCol w="1051560"/>
                <a:gridCol w="731520"/>
                <a:gridCol w="822960"/>
                <a:gridCol w="777240"/>
                <a:gridCol w="777240"/>
                <a:gridCol w="640080"/>
                <a:gridCol w="758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$ TY2020–24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recipients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See-attached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$43.18M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$9.11M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$32.77M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$4.10M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 Chase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$17.99M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$12.58M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America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$11.51M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Wal-Mart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$8.56M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Annie E Casey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$7.95M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Harry &amp; Jeanette Weinberg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$6.51M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Way of the National Capital Area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$5.76M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$16,609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Morningstar Philanthropic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$5.64M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Davis Spencer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$4.63M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&amp; Agnes E Meyer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Area Food Bank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$3.85M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institutional = not a DAF sponsor; ranked by DC-sector dollars; see-attached years = returns with unnamed grant lists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m4_00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50 largest institutional funders of DC's sector, with Calvary status and peers funded, include 8 that already fund Calvary. (continued, 2 of 4)</a:t>
            </a:r>
            <a:endParaRPr lang="en-US" sz="21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1508760"/>
                <a:gridCol w="457200"/>
                <a:gridCol w="1051560"/>
                <a:gridCol w="731520"/>
                <a:gridCol w="822960"/>
                <a:gridCol w="777240"/>
                <a:gridCol w="777240"/>
                <a:gridCol w="640080"/>
                <a:gridCol w="758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$ TY2020–24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recipients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See-attached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Wells Fargo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 Bancroft Robinson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Diane &amp; Norman Bernstein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Pepsico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Washington Home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ImpactAssets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Welfare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$2.36M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Coca-Cola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 Schattner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Coalition to End Sexual Violence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$518,254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Bainum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Naomi and Nehemiah Cohen Foundation Virginia…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 Under Movement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institutional = not a DAF sponsor; ranked by DC-sector dollars; see-attached years = returns with unnamed grant lists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m4_00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50 largest institutional funders of DC's sector, with Calvary status and peers funded, include 8 that already fund Calvary. (continued, 3 of 4)</a:t>
            </a:r>
            <a:endParaRPr lang="en-US" sz="21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1508760"/>
                <a:gridCol w="457200"/>
                <a:gridCol w="1051560"/>
                <a:gridCol w="731520"/>
                <a:gridCol w="822960"/>
                <a:gridCol w="777240"/>
                <a:gridCol w="777240"/>
                <a:gridCol w="640080"/>
                <a:gridCol w="758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$ TY2020–24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recipients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See-attached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Revada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Workday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Edward and Kathleen Quinn Family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Donors Trust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 Womens Christian Association of the National…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$568,432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Marthas Table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$131,660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England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Forster-Connolly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Rowe Price Program for Charitable Giving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Cornerstone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$193,750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Venable Baetjer and Howard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Lively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$12,235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Jewish Federation of Greater Washington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institutional = not a DAF sponsor; ranked by DC-sector dollars; see-attached years = returns with unnamed grant lists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m4_00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50 largest institutional funders of DC's sector, with Calvary status and peers funded, include 8 that already fund Calvary. (continued, 4 of 4)</a:t>
            </a:r>
            <a:endParaRPr lang="en-US" sz="21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1508760"/>
                <a:gridCol w="457200"/>
                <a:gridCol w="1051560"/>
                <a:gridCol w="731520"/>
                <a:gridCol w="822960"/>
                <a:gridCol w="777240"/>
                <a:gridCol w="777240"/>
                <a:gridCol w="640080"/>
                <a:gridCol w="758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$ TY2020–24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recipients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See-attached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Oneil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$15,208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Bank Community Connections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Viragh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$408,500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Akerson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Howard and Geraldine Polinger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$796K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 E and Nancy P Marriott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$41,410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institutional = not a DAF sponsor; ranked by DC-sector dollars; see-attached years = returns with unnamed grant lists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m4_00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Grant-size distributions by funder type put the median grant at $10K for private foundations and $40K for community foundations.</a:t>
            </a:r>
            <a:endParaRPr lang="en-US" sz="2100" dirty="0"/>
          </a:p>
        </p:txBody>
      </p:sp>
      <p:pic>
        <p:nvPicPr>
          <p:cNvPr id="3" name="m4_05_grant_size_by_type.png" descr="Chart m4_05_grant_size_by_type (charts/m4_05_grant_size_by_type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943600" cy="2852928"/>
          </a:xfrm>
          <a:prstGeom prst="rect">
            <a:avLst/>
          </a:prstGeom>
        </p:spPr>
      </p:pic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600200"/>
          <a:ext cx="49194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548640"/>
                <a:gridCol w="594360"/>
                <a:gridCol w="594360"/>
                <a:gridCol w="640080"/>
                <a:gridCol w="621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$69,022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$78,880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$45,695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$15,588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$39,024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$49,255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$17,721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$30,231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$108,084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$50,736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$76,888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$258,849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$187,209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$81,191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$113,339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720840" y="365760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458"/>
                </a:solidFill>
              </a:rPr>
              <a:t>The 90th percentile runs from $79K (private foundations) to $259K (DAF sponsors). Corporate-foundation medians are small because matching gifts dominate their counts.</a:t>
            </a:r>
            <a:endParaRPr lang="en-US" sz="105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percentiles of individual grant amounts to dc_sector recipients, TY2020–24, by dim_funder.funder_type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m4_05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DAF sponsors' grants to the DC sector by year are led by Fidelity Charitable at $179M over TY2020–24.</a:t>
            </a:r>
            <a:endParaRPr lang="en-US" sz="21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  <a:gridCol w="1188720"/>
                <a:gridCol w="1188720"/>
                <a:gridCol w="1188720"/>
                <a:gridCol w="1188720"/>
                <a:gridCol w="1490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TY2020–24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Fidelity Investments Charitable Gift 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$44.5M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$179.2M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Philanthropic Tr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$4.6M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$24.2M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$80.0M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American Online Giving Foundation Inc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$7.2M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$13.1M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$48.6M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Advised Charitable Giving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Vanguard Charitable Endowment Program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$17.5M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Charities Aid Foundation America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$591K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American Endowment 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$773K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$674K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PayPal Charitable Giving 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$651K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$688K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$719K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$4.4M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DAF sponsors' Schedule I rows (IRS e-file via GivingTuesday), kept for DC/MD/VA recipients;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grants to dc_sector recipients by sponsor and tax year; DAF money is individual donors' decisions routed through sponsors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m4_06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Purpose tags and mission-tagged funders show most institutional dollars untagged or general operating, and several of the largest mission-tagged funders giving little in DC.</a:t>
            </a:r>
            <a:endParaRPr lang="en-US" sz="21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640080"/>
                <a:gridCol w="64008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 tag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tagged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$130.9M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operating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$103.6M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$17.5M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workforce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veterans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maternal health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600200"/>
          <a:ext cx="60624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777240"/>
                <a:gridCol w="777240"/>
                <a:gridCol w="640080"/>
                <a:gridCol w="777240"/>
                <a:gridCol w="5760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Mission-tagged funder (DMV grants)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Tagged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 which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Funds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Harry &amp; Jeanette Weinberg…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Wells Fargo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Community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 First Enterprises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 Chase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Virginia Nonproit Housing Coalition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Annie E Casey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 of Frederick…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Davis Spencer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Pauley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Coca-Cola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dim_program_area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keyword tags on grant purpose text (a grant can carry several tags); right table: DMV recipients, purpose tagged housing, DV or women, top 13 by tagged dollars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m4_07, m4_08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All 75 institutional funders of two or more peers lack a filed grant to Calvary, and 23 of them fund three or more.</a:t>
            </a:r>
            <a:endParaRPr lang="en-US" sz="21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457200"/>
                <a:gridCol w="457200"/>
                <a:gridCol w="868680"/>
                <a:gridCol w="777240"/>
                <a:gridCol w="777240"/>
                <a:gridCol w="640080"/>
                <a:gridCol w="685800"/>
                <a:gridCol w="2633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$ TY2020–24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peer 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Venable Baetjer and Howard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Covenant House Washington…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Rowe Price Program for Charitable…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$924K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$203,250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House; Community of Hope; Doorways for…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Gifts for the Homeless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$157K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$6,488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$12,215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Coalition for the Homeless; Community of Hope…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Area Food Bank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$787K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$12,226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$489,076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House; Covenant House Washington DC…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Americas Charities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$38,529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$99,159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House; Doorways for Women and Families…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 Chase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House; Doorways for Women and Families…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$7.83M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House of Ruth (DC)…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Lively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$7,241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$14,162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Washington DC; House of Ruth…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 Schattner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Doorways for Women and…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Bunting Family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 Alliance for Safe Housing (DASH)…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Brendan &amp; Helen Bechtel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House of Ruth (DC); My…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Naomi and Nehemiah Cohen Foundation…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$940K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Miriam's Kitchen; N Street…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Diane &amp; Norman Bernstein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$908K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$166,667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Miriam's Kitchen; N Street…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G1: funders of ≥2 of the 18 provisional peers with no Calvary row TY2020–24; DAF sponsors excluded; itemized TY2023+ = the absence is current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m5_01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All 75 institutional funders of two or more peers lack a filed grant to Calvary, and 23 of them fund three or more. (continued, 2 of 6)</a:t>
            </a:r>
            <a:endParaRPr lang="en-US" sz="21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457200"/>
                <a:gridCol w="457200"/>
                <a:gridCol w="868680"/>
                <a:gridCol w="777240"/>
                <a:gridCol w="777240"/>
                <a:gridCol w="640080"/>
                <a:gridCol w="685800"/>
                <a:gridCol w="2633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$ TY2020–24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peer 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Washington Home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$873K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$62,900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$273,750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House; Community of Hope; Miriam's…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Ralph S and Frances R Dweck Family…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$221K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Miriam's Kitchen; N Street…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 R Anderson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for Women and Families; Everyone Home…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Alisann and Terry Collins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$20,225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Washington DC; DC SAFE; My…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Pew Charitable Trusts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$10,167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DC SAFE;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Jerome a and Deena L Kaplan Family…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House of Ruth (DC); House…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Adele M Thomas Charitable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N Street Village…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 V Schiro-Zavela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for Women and Families; House of Ruth…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Melamed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for Women and Families; House of Ruth…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 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 Alliance for Safe Housing (DASH)…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B Casey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Maryland; My Sister's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Harry &amp; Jeanette Weinberg Foundation…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$630K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House; House of Ruth Maryland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England Family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G1: funders of ≥2 of the 18 provisional peers with no Calvary row TY2020–24; DAF sponsors excluded; itemized TY2023+ = the absence is current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m5_01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All 75 institutional funders of two or more peers lack a filed grant to Calvary, and 23 of them fund three or more. (continued, 3 of 6)</a:t>
            </a:r>
            <a:endParaRPr lang="en-US" sz="21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457200"/>
                <a:gridCol w="457200"/>
                <a:gridCol w="868680"/>
                <a:gridCol w="777240"/>
                <a:gridCol w="777240"/>
                <a:gridCol w="640080"/>
                <a:gridCol w="685800"/>
                <a:gridCol w="2633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$ TY2020–24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peer 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Planning Organization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$162,331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$271,711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Thrive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Nora Roberts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House; House of Ruth Maryland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Quest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Mayberg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 E and Nancy P Marriott…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 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$157K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$27,175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for Women and Families; Miriam's…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Marion I &amp; Henry J Knott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$152K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$66,150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House; House of Ruth Maryland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Mary Catherine Bunting Fundation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 Alliance for Safe Housing (DASH)…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George L Shields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Capitol Hill 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DC; House of Ruth (DC)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Area Womens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 Alliance for Safe Housing (DASH)…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Stichman Family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Morrison &amp; Foerster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$89K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G1: funders of ≥2 of the 18 provisional peers with no Calvary row TY2020–24; DAF sponsors excluded; itemized TY2023+ = the absence is current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m5_01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All 75 institutional funders of two or more peers lack a filed grant to Calvary, and 23 of them fund three or more. (continued, 4 of 6)</a:t>
            </a:r>
            <a:endParaRPr lang="en-US" sz="21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457200"/>
                <a:gridCol w="457200"/>
                <a:gridCol w="868680"/>
                <a:gridCol w="777240"/>
                <a:gridCol w="777240"/>
                <a:gridCol w="640080"/>
                <a:gridCol w="685800"/>
                <a:gridCol w="2633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$ TY2020–24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peer 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Meyer and Deanne Sharlin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E Cross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House; House of Ruth Maryland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Taste of the South Committee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$64K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$28,314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$30,608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SAFE; Samaritan Inns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Wilczynski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for Women and Families; House of Ruth…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Sherman Fairchild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 Group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Rothschild Art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House of Ruth Maryland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ImpactAssets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House; District Alliance for Safe…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Give Run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$6,152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$11,807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Maryland;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Dorney-Koppel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Galena-Yorktown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Keith Campbell Foundation for the…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Maryland;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Jewish Federation of Greater…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$8,133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$8,626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G1: funders of ≥2 of the 18 provisional peers with no Calvary row TY2020–24; DAF sponsors excluded; itemized TY2023+ = the absence is current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m5_01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All 75 institutional funders of two or more peers lack a filed grant to Calvary, and 23 of them fund three or more. (continued, 5 of 6)</a:t>
            </a:r>
            <a:endParaRPr lang="en-US" sz="21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457200"/>
                <a:gridCol w="457200"/>
                <a:gridCol w="868680"/>
                <a:gridCol w="777240"/>
                <a:gridCol w="777240"/>
                <a:gridCol w="640080"/>
                <a:gridCol w="685800"/>
                <a:gridCol w="2633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$ TY2020–24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peer 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Rosenfeld Rumford Steckler Family…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Center for Nonprofit Advancement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District Alliance for Safe…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 II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$5,150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Pedersen Family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the Girls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$9,132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$12,764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Aaron and Cecile Goldman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Annie E Casey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Washington DC; House of Ruth (DC)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Holland-Iribe Family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House of Ruth Maryland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Weissberg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New Endeavors by Women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Robert P and Arlene R Kogod Family…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Joe and Missy Walsh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Lester Poretsky Family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Maryland; My Sister's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Morgan Stanley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Washington DC; Heartly House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G1: funders of ≥2 of the 18 provisional peers with no Calvary row TY2020–24; DAF sponsors excluded; itemized TY2023+ = the absence is current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m5_01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All 75 institutional funders of two or more peers lack a filed grant to Calvary, and 23 of them fund three or more. (continued, 6 of 6)</a:t>
            </a:r>
            <a:endParaRPr lang="en-US" sz="21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457200"/>
                <a:gridCol w="457200"/>
                <a:gridCol w="868680"/>
                <a:gridCol w="777240"/>
                <a:gridCol w="777240"/>
                <a:gridCol w="640080"/>
                <a:gridCol w="685800"/>
                <a:gridCol w="2633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$ TY2020–24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peer grant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peer 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Alfred N Watson Family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Gary &amp; Carol Berman Family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Ruppert Family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House; Samaritan Inns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Christian Perspectives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House; Everyone Home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Irene L Chrisman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Beck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Washington DC; House of Ruth (DC)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Samuel J Gorlitz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Place; 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 C Marino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Washington DC; House of Ruth…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Fulcrum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House of Ruth (DC)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Finkelstein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(DC); House of Ruth Maryland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G1: funders of ≥2 of the 18 provisional peers with no Calvary row TY2020–24; DAF sponsors excluded; itemized TY2023+ = the absence is current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m5_01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Twelve lapsed former funders once gave Calvary $256K and one more is unclear because no itemized TY2023+ filing is in the data.</a:t>
            </a:r>
            <a:endParaRPr lang="en-US" sz="21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737360"/>
                <a:gridCol w="731520"/>
                <a:gridCol w="731520"/>
                <a:gridCol w="1051560"/>
                <a:gridCol w="548640"/>
                <a:gridCol w="914400"/>
                <a:gridCol w="914400"/>
                <a:gridCol w="896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to Calvary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grant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 TY2020–24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Bank Community Connections Fund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Hands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$55,500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$55,500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 Bancroft Robinson Foundation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M Fisher Memorial Foundation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Junior League of the City of Washington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Levatus Charitable Trust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Phase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Harry and Zoe Poole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Jacquemin Family Foundation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Spur Local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Grossman Family Charitable Funds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Whispering Bells Foundation Charitable Tr UA 122690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&amp; Victoria Dreyfus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unclear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/ Schedule I rows naming Calvary, all years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G2 lapsed: last Calvary grant ≤ TY2022 and the funder filed itemized lists in TY2023+ with no Calvary row; unclear: no itemized TY2023+ filing in the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m5_02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Fifteen current funders have headroom: each has written a larger single grant to a core peer than to Calvary.</a:t>
            </a:r>
            <a:endParaRPr lang="en-US" sz="21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960120"/>
                <a:gridCol w="640080"/>
                <a:gridCol w="868680"/>
                <a:gridCol w="640080"/>
                <a:gridCol w="594360"/>
                <a:gridCol w="868680"/>
                <a:gridCol w="914400"/>
                <a:gridCol w="1216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total TY2020–24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to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peer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to a peer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Headroom (largest)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$1,206,500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$458,000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$32,525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$526,300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America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Way of the National Capital Area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$89,549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$23,191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$19,163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$55,747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$32,556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 and Gene Ludwig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 Shaver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Whispering Bells Foundation Charitable Tr UA 122690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&amp; Victoria Dreyfus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Jacquemin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 Harris Maley Memorial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Miller &amp; Chevalier Charitable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Sidgmore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G3: largest single grant to any core peer vs largest to Calvary, TY2020–24 (a peer's larger grant may be capital or restricted)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m5_03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Fifteen current funders have headroom: each has written a larger single grant to a core peer than to Calvary. (continued, 2 of 2)</a:t>
            </a:r>
            <a:endParaRPr lang="en-US" sz="21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960120"/>
                <a:gridCol w="640080"/>
                <a:gridCol w="868680"/>
                <a:gridCol w="640080"/>
                <a:gridCol w="594360"/>
                <a:gridCol w="868680"/>
                <a:gridCol w="914400"/>
                <a:gridCol w="1216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total TY2020–24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to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Last 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peer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to a peer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Headroom (largest)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Grossman Family Charitable Funds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RCLCO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Association of American Medical Colleges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Corina Higginson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Levatus Charitable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MGM Resorts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Qlarant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Bank Community Connections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Omidyar Network Fund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Dimick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Rapoport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−$45,000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G3: largest single grant to any core peer vs largest to Calvary, TY2020–24 (a peer's larger grant may be capital or restricted)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m5_03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Sixty-five institutional funders gave $500K or more to DC-sector organizations in TY2020–24 with no filed grant to Calvary, led by Clark Charitable Foundation ($32.8M).</a:t>
            </a:r>
            <a:endParaRPr lang="en-US" sz="21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457200"/>
                <a:gridCol w="822960"/>
                <a:gridCol w="731520"/>
                <a:gridCol w="777240"/>
                <a:gridCol w="777240"/>
                <a:gridCol w="640080"/>
                <a:gridCol w="685800"/>
                <a:gridCol w="731520"/>
                <a:gridCol w="1170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recipients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See-attached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$4.10M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 Chase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Wal-Mart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Annie E Casey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Harry &amp; Jeanette Weinberg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Morningstar Philanthropic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Davis Spencer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&amp; Agnes E Meyer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Area Food Bank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Wells Fargo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Diane &amp; Norman Bernstein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Pepsico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Washington Home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G4: institutional funders with ≥ $500K to dc_sector organizations TY2020–24 and no Calvary row; mission share = DC-sector $ tagged housing/DV/women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m5_04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Sixty-five institutional funders gave $500K or more to DC-sector organizations in TY2020–24 with no filed grant to Calvary, led by Clark Charitable Foundation ($32.8M). (continued, 2 of 5)</a:t>
            </a:r>
            <a:endParaRPr lang="en-US" sz="21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457200"/>
                <a:gridCol w="822960"/>
                <a:gridCol w="731520"/>
                <a:gridCol w="777240"/>
                <a:gridCol w="777240"/>
                <a:gridCol w="640080"/>
                <a:gridCol w="685800"/>
                <a:gridCol w="731520"/>
                <a:gridCol w="1170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recipients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See-attached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ImpactAssets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Welfare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Coca-Cola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 Schattner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Coalition to End Sexual Violence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$518,254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Bainum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Naomi and Nehemiah Cohen Foundation Virginia…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 Under Movement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Revada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Workday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Edward and Kathleen Quinn Family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Donors Trust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 Womens Christian Association of the National…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$568,432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Marthas Table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$131,660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G4: institutional funders with ≥ $500K to dc_sector organizations TY2020–24 and no Calvary row; mission share = DC-sector $ tagged housing/DV/women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m5_04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Sixty-five institutional funders gave $500K or more to DC-sector organizations in TY2020–24 with no filed grant to Calvary, led by Clark Charitable Foundation ($32.8M). (continued, 3 of 5)</a:t>
            </a:r>
            <a:endParaRPr lang="en-US" sz="21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457200"/>
                <a:gridCol w="822960"/>
                <a:gridCol w="731520"/>
                <a:gridCol w="777240"/>
                <a:gridCol w="777240"/>
                <a:gridCol w="640080"/>
                <a:gridCol w="685800"/>
                <a:gridCol w="731520"/>
                <a:gridCol w="1170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recipients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See-attached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England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Forster-Connolly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Rowe Price Program for Charitable Giving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Cornerstone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$193,750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Venable Baetjer and Howard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Lively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$12,235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Jewish Federation of Greater Washington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Oneil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$15,208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Viragh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$408,500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Akerson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Howard and Geraldine Polinger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$796K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 E and Nancy P Marriott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$41,410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G4: institutional funders with ≥ $500K to dc_sector organizations TY2020–24 and no Calvary row; mission share = DC-sector $ tagged housing/DV/women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m5_04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Sixty-five institutional funders gave $500K or more to DC-sector organizations in TY2020–24 with no filed grant to Calvary, led by Clark Charitable Foundation ($32.8M). (continued, 4 of 5)</a:t>
            </a:r>
            <a:endParaRPr lang="en-US" sz="2100" dirty="0"/>
          </a:p>
        </p:txBody>
      </p:sp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457200"/>
                <a:gridCol w="822960"/>
                <a:gridCol w="731520"/>
                <a:gridCol w="777240"/>
                <a:gridCol w="777240"/>
                <a:gridCol w="640080"/>
                <a:gridCol w="685800"/>
                <a:gridCol w="731520"/>
                <a:gridCol w="1170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recipients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See-attached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Pew Charitable Trusts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$767K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$11,794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Forster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$760K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Mccutchen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Hill Snowdon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Americas Charities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$14,438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Lucas Kaempfer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Nora Roberts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Aron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Potomac Health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$638K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$179K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Mayberg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 Kent Cooke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Luminate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YWCA USA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$169K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G4: institutional funders with ≥ $500K to dc_sector organizations TY2020–24 and no Calvary row; mission share = DC-sector $ tagged housing/DV/women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m5_04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Sixty-five institutional funders gave $500K or more to DC-sector organizations in TY2020–24 with no filed grant to Calvary, led by Clark Charitable Foundation ($32.8M). (continued, 5 of 5)</a:t>
            </a:r>
            <a:endParaRPr lang="en-US" sz="21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457200"/>
                <a:gridCol w="822960"/>
                <a:gridCol w="731520"/>
                <a:gridCol w="777240"/>
                <a:gridCol w="777240"/>
                <a:gridCol w="640080"/>
                <a:gridCol w="685800"/>
                <a:gridCol w="731520"/>
                <a:gridCol w="1170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$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recipients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Itemized TY2023+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See-attached 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Wallace Global Fund II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B Casey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Institute for Public Health Innovation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$16,335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 W Goldman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Joseph E Robert Jr Charitable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$59,675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Ralph S and Frances R Dweck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Sunrise Charitable Foundation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Alisann and Terry Collins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dim_funder,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G4: institutional funders with ≥ $500K to dc_sector organizations TY2020–24 and no Calvary row; mission share = DC-sector $ tagged housing/DV/women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m5_04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Sixteen funders appear on two or more peer donor lists but on no Calvary list or filing, mostly corporations without public filings.</a:t>
            </a:r>
            <a:endParaRPr lang="en-US" sz="2100" dirty="0"/>
          </a:p>
        </p:txBody>
      </p:sp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657600"/>
                <a:gridCol w="2404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(as listed)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donor lists naming 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Accenture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Helen Bechtel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Alexander and Margaret Stewart Trust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America Charitable Gift Fund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America Matching Gifts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Capitol Hill Community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Deloitte Consulting LLP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Gmmb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Lenzner Family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McNamara, P.C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Shanthi, Inc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Boeing Company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Carlyle Group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Green Charitable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Mars Foundation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Bank Group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(corporate / no filing)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Peers' annual reports and donor web pages (six peers publish lists); fact_grants (web rows)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G5: named on ≥ 2 peer lists, absent from Calvary's lists, CRM and filed grants; lists are undated and carry no amounts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m5_05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CRM reconciliation by status confirms 44% of the $10.56M in CRM-recorded institutional giving in funders' own filings.</a:t>
            </a:r>
            <a:endParaRPr lang="en-US" sz="2100" dirty="0"/>
          </a:p>
        </p:txBody>
      </p:sp>
      <p:pic>
        <p:nvPicPr>
          <p:cNvPr id="3" name="m5_06_crm_reconciliation.png" descr="Chart m5_06_crm_reconciliation (charts/m5_06_crm_reconciliation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943600" cy="2496312"/>
          </a:xfrm>
          <a:prstGeom prst="rect">
            <a:avLst/>
          </a:prstGeom>
        </p:spPr>
      </p:pic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00200"/>
          <a:ext cx="49651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31520"/>
                <a:gridCol w="1097280"/>
                <a:gridCol w="6675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 in the funder's TY2023+ filing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$4,632,578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or other, no public filing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$2,553,047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Exempt filer, no Calvary row found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$1,613,137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'See attached' filer (recipients unnamed)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$1,279,435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Confirmed in earlier years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$477,879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$10,556,076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675120" y="3840480"/>
            <a:ext cx="4965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58"/>
                </a:solidFill>
              </a:rPr>
              <a:t>CRM totals are cumulative over an unconfirmed 2023–26 window (assumption A1) and assumed cash unless contradicted (A2); they are never added to filed annual grants.</a:t>
            </a:r>
            <a:endParaRPr lang="en-US" sz="100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 CRM export (foundation and corporate funders, 2023–26) vs funders' 990-PF / Schedule I; supp_crm_cash_verification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each CRM funder matched to its own filings and assigned one verification 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m5_06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sits inside the same funder web as its peers rather than at its edge.</a:t>
            </a:r>
            <a:endParaRPr lang="en-US" sz="2100" dirty="0"/>
          </a:p>
        </p:txBody>
      </p:sp>
      <p:pic>
        <p:nvPicPr>
          <p:cNvPr id="3" name="m6_03_network.png" descr="Chart m6_03_network (charts/m6_03_network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170932" cy="3977640"/>
          </a:xfrm>
          <a:prstGeom prst="rect">
            <a:avLst/>
          </a:prstGeom>
        </p:spPr>
      </p:pic>
      <p:sp>
        <p:nvSpPr>
          <p:cNvPr id="4" name="card Reading the network"/>
          <p:cNvSpPr/>
          <p:nvPr/>
        </p:nvSpPr>
        <p:spPr>
          <a:xfrm>
            <a:off x="5993892" y="1600200"/>
            <a:ext cx="5649163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6772" y="1737360"/>
            <a:ext cx="52834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Reading the network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76772" y="2240280"/>
            <a:ext cx="5283403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Nodes: Calvary, the 18 provisional peers and the funders of three or more of them.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Edges: filed grants TY2020–24; edge width = dollars.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Most of the best-connected funders already fund Calvary; the next table lists the 25 most connected.</a:t>
            </a:r>
            <a:endParaRPr lang="en-US" sz="110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bipartite graph funders × 19 recipients; spring layout (seed 11); landscape exclusions applied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m6_03, m6_01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25 most connected funders in the network (filed grants TY2020–24)</a:t>
            </a:r>
            <a:endParaRPr lang="en-US" sz="2100" dirty="0"/>
          </a:p>
        </p:txBody>
      </p:sp>
      <p:graphicFrame>
        <p:nvGraphicFramePr>
          <p:cNvPr id="2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840480"/>
                <a:gridCol w="1828800"/>
                <a:gridCol w="1280160"/>
                <a:gridCol w="1097280"/>
                <a:gridCol w="731520"/>
                <a:gridCol w="914400"/>
                <a:gridCol w="850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Organizations funded (of 19)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Filed grants $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Betweenness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Funds Calvary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Fidelity Investments Charitable Gift Fund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$8.84M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$6.87M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American Online Giving Foundation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$5.33M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Advised Charitable Giving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$2.88M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Vanguard Charitable Endowment Program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$2.08M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Philanthropic Tr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$1.51M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Way of the National Capital Area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$1.29M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Blackbaud Giving Fund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$597K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Venable Baetjer and Howard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$735K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America Charitable Foundation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$319K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$1.16M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Rowe Price Program for Charitable Giving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$924K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degree = organizations funded among Calvary + 18 peers; betweenness on the unweighted bipartite graph; DAF sponsors included as channels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m6_01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25 most connected funders in the network (filed grants TY2020–24) (continued, 2 of 2)</a:t>
            </a:r>
            <a:endParaRPr lang="en-US" sz="21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840480"/>
                <a:gridCol w="1828800"/>
                <a:gridCol w="1280160"/>
                <a:gridCol w="1097280"/>
                <a:gridCol w="731520"/>
                <a:gridCol w="914400"/>
                <a:gridCol w="850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Organizations funded (of 19)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Filed grants $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Betweenness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Funds Calvary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$545K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Gifts for the Homeless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$157K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PayPal Charitable Giving Fund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$134K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Area Food Bank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$787K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Association of American Medical Colleges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$425K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Americas Charities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$420K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Charities Aid Foundation America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Dimick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 Chase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American Endowment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$698K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Miller &amp; Chevalier Charitable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 Inc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$7.83M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degree = organizations funded among Calvary + 18 peers; betweenness on the unweighted bipartite graph; DAF sponsors included as channels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m6_01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Of the 56 board interlocks touching Calvary, peers and comparators, only 4 are high confidence and the 52 medium rows are labeled unconfirmed.</a:t>
            </a:r>
            <a:endParaRPr lang="en-US" sz="21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914400"/>
                <a:gridCol w="822960"/>
                <a:gridCol w="1463040"/>
                <a:gridCol w="640080"/>
                <a:gridCol w="2404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organization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 is a 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candidate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year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Filing years, subject vs linked org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Power Institute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2019-2021 vs 2023-2024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Connected Care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2024-2024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Sunrise Trust for Housing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2021-2024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Lawyers' Committee for Civil…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2021-2023 vs 2024-2024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Charter School Incubator Initiative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2020-2020 vs 2019-2021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Davis Construction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2017-2019 vs 2021-2025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Dress for Success Washington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2015-2018 vs 2021-2022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2019-2024 vs 2020-2020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United Way of Central Maryland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2022-2024 vs 2022-2024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Way of the National Capital 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2020-2021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Area Women's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2022-2024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Connected Care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2020-2020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Lydia's House in Southeast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2020-2020 vs 2020-2022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Manna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2021-2022 vs 2020-2023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Part VII officer and board lists (IRS e-file via GivingTuesday); fact_org_relationships (shared_board_member), dim_person (person_id only)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same person in both filings: exact normalized name plus a corroborating signal; no names shown; leadership materials use high confidence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m6_04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Of the 56 board interlocks touching Calvary, peers and comparators, only 4 are high confidence and the 52 medium rows are labeled unconfirmed. (continued, 2 of 4)</a:t>
            </a:r>
            <a:endParaRPr lang="en-US" sz="21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914400"/>
                <a:gridCol w="822960"/>
                <a:gridCol w="1463040"/>
                <a:gridCol w="640080"/>
                <a:gridCol w="2404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organization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 is a 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candidate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year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Filing years, subject vs linked org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Traron Center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2024-2024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Blossom Education Solutions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2023-2024 vs 2024-2024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Changing Perceptions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2020-2022 vs 2023-2024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Dcck Support Corporation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2022-2024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Rockson Community Development Corporation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2020-2022 vs 2023-2024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Trustees of the Home for the Aged of…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2022-2023 vs 2023-2024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Hospitality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2020-2022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for Recovery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2020-2020 vs 2024-2024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SAFE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Bread for the City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2020-2021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 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2020-2021 vs 2023-2024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Association of Fundraising Professionals…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2020-2020 vs 2020-2020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Community Development Corp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2022-2024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Housing Solutions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2022-2024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Housing Corporation of the District of…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Part VII officer and board lists (IRS e-file via GivingTuesday); fact_org_relationships (shared_board_member), dim_person (person_id only)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same person in both filings: exact normalized name plus a corroborating signal; no names shown; leadership materials use high confidence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m6_04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Of the 56 board interlocks touching Calvary, peers and comparators, only 4 are high confidence and the 52 medium rows are labeled unconfirmed. (continued, 3 of 4)</a:t>
            </a:r>
            <a:endParaRPr lang="en-US" sz="2100" dirty="0"/>
          </a:p>
        </p:txBody>
      </p:sp>
      <p:graphicFrame>
        <p:nvGraphicFramePr>
          <p:cNvPr id="3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914400"/>
                <a:gridCol w="822960"/>
                <a:gridCol w="1463040"/>
                <a:gridCol w="640080"/>
                <a:gridCol w="2404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organization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 is a 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candidate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year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Filing years, subject vs linked org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Dog Tag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2023-2024 vs 2020-2020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Fidelity Investments Charitable Gift Fund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2022-2024 vs 2021-2024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Hope Housing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2020-2023 vs 2024-2024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Baltimore Community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2020-2023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2021-2024 vs 2022-2023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Trustees of the Young Woman's Christian Home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2020-2022 vs 2020-2023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 (MD)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Farvue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2020-2025 vs 2020-2020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 (MD)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Freedom Network USA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2025-2025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 (MD)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Community Foundation of Frederick County…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2024-2024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Business Enterprise National Council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2020-2023 vs 2021-2024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Resource Center on Domestic…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2020-2020 vs 2021-2024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Dipietro Family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2020-2022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America's Charities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2020-2025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 Community Food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2023-2023 vs 2023-2024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Part VII officer and board lists (IRS e-file via GivingTuesday); fact_org_relationships (shared_board_member), dim_person (person_id only)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same person in both filings: exact normalized name plus a corroborating signal; no names shown; leadership materials use high confidence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m6_04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Of the 56 board interlocks touching Calvary, peers and comparators, only 4 are high confidence and the 52 medium rows are labeled unconfirmed. (continued, 4 of 4)</a:t>
            </a:r>
            <a:endParaRPr lang="en-US" sz="21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914400"/>
                <a:gridCol w="822960"/>
                <a:gridCol w="1463040"/>
                <a:gridCol w="640080"/>
                <a:gridCol w="2404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organization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 is a 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candidate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year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Filing years, subject vs linked org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Bread for the City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2024-2024 vs 2020-2022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 of Columbia Coalition Against…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2020-2023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Friends of Anacostia Park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2024-2024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George M Jones Library Association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2023-2024 vs 2022-2024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Inspire Access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2023-2024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Area Women's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2023-2024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Womens Microfinance Initiative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2020-2025 vs 2023-2024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Endeavors by Women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Barber Family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2020-2021 vs 2020-2025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Endeavors by Women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Council on Foundations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2020-2020 vs 2022-2024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Endeavors by Women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Community Partnership for the Prevention…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2020-2024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Baker Family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2020-2022 vs 2021-2023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Endowing People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2020-2022 vs 2022-2023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Inspire Access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2023-2024 vs 2023-2024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Thrive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Whf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(unconfirmed)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2021-2024 vs 2020-2021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Part VII officer and board lists (IRS e-file via GivingTuesday); fact_org_relationships (shared_board_member), dim_person (person_id only)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same person in both filings: exact normalized name plus a corroborating signal; no names shown; leadership materials use high confidence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m6_04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</a:t>
            </a:r>
            <a:endParaRPr lang="en-US" sz="21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American Online Giving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Fidelity Investments Charitable Gift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Advised Charitable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Philanthropic Tr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Vanguard Charitable Endowment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Way of the National Capital Area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Blackbaud Giving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Venable Baetjer and Howard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America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Rowe Price Program for Charitable Giving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2 of 12)</a:t>
            </a:r>
            <a:endParaRPr lang="en-US" sz="2100" dirty="0"/>
          </a:p>
        </p:txBody>
      </p:sp>
      <p:graphicFrame>
        <p:nvGraphicFramePr>
          <p:cNvPr id="3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Gifts for the Homeless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 Chase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Association of American Medical Colleges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Area Food Bank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PayPal Charitable Giving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Dimick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Americas Charities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Charities Aid Foundation America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Lively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Miller &amp; Chevalier Charitable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 Schattner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Brendan &amp; Helen Bechtel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Bunting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3 of 12)</a:t>
            </a:r>
            <a:endParaRPr lang="en-US" sz="2100" dirty="0"/>
          </a:p>
        </p:txBody>
      </p:sp>
      <p:graphicFrame>
        <p:nvGraphicFramePr>
          <p:cNvPr id="3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Ralph S and Frances R Dweck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Diane &amp; Norman Bernstein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Naomi and Nehemiah Cohen Foundation Virginia…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Omidyar Network Fund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Sidgmore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Washington Home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 Sing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Bank Community Connections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 Harris Maley Memorial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Jerome a and Deena L Kaplan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Adele M Thomas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Corina Higginson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 V Schiro-Zavela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&amp; Victoria Dreyfus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4 of 12)</a:t>
            </a:r>
            <a:endParaRPr lang="en-US" sz="2100" dirty="0"/>
          </a:p>
        </p:txBody>
      </p:sp>
      <p:graphicFrame>
        <p:nvGraphicFramePr>
          <p:cNvPr id="3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RCLCO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Levatus Charitable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Melamed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Pew Charitable Trusts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Irene L Chrisman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Mayberg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 E and Nancy P Marriott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Rosenfeld Rumford Steckler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 R Anderson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Annie E Casey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Beck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Fulcrum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Grossman Family Charitable Funds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 Group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5 of 12)</a:t>
            </a:r>
            <a:endParaRPr lang="en-US" sz="2100" dirty="0"/>
          </a:p>
        </p:txBody>
      </p:sp>
      <p:graphicFrame>
        <p:nvGraphicFramePr>
          <p:cNvPr id="3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England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ImpactAssets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Jacquemin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Joe and Missy Walsh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Qlarant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Dorney-Koppel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Jewish Federation of Greater Washington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Area Womens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Whispering Bells Foundation Charitable Tr UA 122690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Alisann and Terry Collins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(3+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Aaron and Cecile Goldman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Alfred N Watson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 and Gene Ludwig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6 of 12)</a:t>
            </a:r>
            <a:endParaRPr lang="en-US" sz="2100" dirty="0"/>
          </a:p>
        </p:txBody>
      </p:sp>
      <p:graphicFrame>
        <p:nvGraphicFramePr>
          <p:cNvPr id="3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Center for Nonprofit Advancement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Galena-Yorktown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Gary &amp; Carol Berman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MGM Resorts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Morrison &amp; Foerster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Pedersen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Samuel J Gorlitz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Sherman Fairchild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Quest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Stichman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Robert P and Arlene R Kogod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Wilczynski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 II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Holland-Iribe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7 of 12)</a:t>
            </a:r>
            <a:endParaRPr lang="en-US" sz="2100" dirty="0"/>
          </a:p>
        </p:txBody>
      </p:sp>
      <p:graphicFrame>
        <p:nvGraphicFramePr>
          <p:cNvPr id="4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Meyer and Deanne Sharlin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Rapoport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Finkelstein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Rothschild Art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Weissberg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B Casey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Lester Poretsky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Keith Campbell Foundation for the Environment…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 Shaver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current: headroom vs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 C Marino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Give Run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Mary Catherine Bunting Fundation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Capitol Hill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the Girls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8 of 12)</a:t>
            </a:r>
            <a:endParaRPr lang="en-US" sz="2100" dirty="0"/>
          </a:p>
        </p:txBody>
      </p:sp>
      <p:graphicFrame>
        <p:nvGraphicFramePr>
          <p:cNvPr id="4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Christian Perspectives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Taste of the South Committee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Planning Organization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Marion I &amp; Henry J Knott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Morgan Stanley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Nora Roberts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Ruppert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George L Shields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Harry &amp; Jeanette Weinberg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E Cross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funder (2 peers),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Aron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Bainum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Baxt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Congressional Sports for Charity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9 of 12)</a:t>
            </a:r>
            <a:endParaRPr lang="en-US" sz="2100" dirty="0"/>
          </a:p>
        </p:txBody>
      </p:sp>
      <p:graphicFrame>
        <p:nvGraphicFramePr>
          <p:cNvPr id="4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Cornerstone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&amp; Agnes E Meyer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Forster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Forster-Connolly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Harry and Zoe Poole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Howard and Geraldine Polinger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Institute for Public Health Innovation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 Bancroft Robinson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Lavin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Hands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Monumental Sports &amp; Entertainment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Revada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M Fisher Memorial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Morningstar Philanthropic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10 of 12)</a:t>
            </a:r>
            <a:endParaRPr lang="en-US" sz="2100" dirty="0"/>
          </a:p>
        </p:txBody>
      </p:sp>
      <p:graphicFrame>
        <p:nvGraphicFramePr>
          <p:cNvPr id="4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Nancy Peery Marriott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Viragh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Oneil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Wal-Mart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Walter a Bloedorn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Akerson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 Under Movement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CPMG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Coalition to End Sexual Violence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Davis Spencer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Donors Trust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Edward and Kathleen Quinn Family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Hill Snowdon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11 of 12)</a:t>
            </a:r>
            <a:endParaRPr lang="en-US" sz="2100" dirty="0"/>
          </a:p>
        </p:txBody>
      </p:sp>
      <p:graphicFrame>
        <p:nvGraphicFramePr>
          <p:cNvPr id="4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 Kent Cooke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Joseph E Robert Jr Charitable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Leafglen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Leslie Joanne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Lucas Kaempfer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Luminate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Marthas Table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Mccutchen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Owen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Pepsico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Potomac Health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Welfare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Relationship-path scores for all 166 candidates are highest for funders that already give to many of Calvary's peers and co-funders. (continued, 12 of 12)</a:t>
            </a:r>
            <a:endParaRPr lang="en-US" sz="2100" dirty="0"/>
          </a:p>
        </p:txBody>
      </p:sp>
      <p:graphicFrame>
        <p:nvGraphicFramePr>
          <p:cNvPr id="4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08760"/>
                <a:gridCol w="2103120"/>
                <a:gridCol w="640080"/>
                <a:gridCol w="640080"/>
                <a:gridCol w="868680"/>
                <a:gridCol w="86868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funded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co-funders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links (high / medium)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strength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 variant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 W Goldman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Spur Local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Sunrise Charitable Foundation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Coca-Cola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Junior League of the City of Washington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Phase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Wallace Global Fund II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Wells Fargo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Workday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 Womens Christian Association of the National…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YWCA USA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DC-sector major, not 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TY2020–24 (IRS e-file via GivingTuesday); fact_grants, dim_funder; fact_org_relationships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0.40×peers (cap 12) + 0.25×close peers (cap 8) + 0.25×overlapping co-funders (cap 20) + 0.10×high board link; consulting adds 0.05 for a medium link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scoring configuration weights seven dimensions and sets the tier cutoffs in one editable file, config/scoring_weights.yaml.</a:t>
            </a:r>
            <a:endParaRPr lang="en-US" sz="2100" dirty="0"/>
          </a:p>
        </p:txBody>
      </p:sp>
      <p:graphicFrame>
        <p:nvGraphicFramePr>
          <p:cNvPr id="4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85313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scores (comment in the file)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funder's issue tags and share of its DC-sector giving whose purpose names housing/DV/women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giving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of the 18 core peers it funds (TY2020-24 filings)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giving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dollars to DC-sector organizations TY2020-24 (log scale)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 size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 to peers (median), log scale $5K -&gt; $250K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type and breadth of recipients (open process vs closed family foundation); 'see attached' filers penalized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funding peers and years active in the DC sector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 path strength (shared peers, co-funders, high-confidence board links) plus current / lapsed / CRM 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53949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rule or relationship bonus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tiers: tier1 min score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tiers: tier2 min score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tiers: tier1 min award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$25,000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tiers: max tier1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bonus: current funder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bonus: lapsed funder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bonus: on calvary list or crm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931920"/>
          <a:ext cx="5394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or penalty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 size scale (median peer grant)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 → $250,000 (log-linear)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scale (DC-sector dollars)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 → $10,000,000 (log-linear)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giving cap (peers for a score of 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placeholder penalty ('see attached')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in-kind / workplace channel penalty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calvary_analysis/config/scoring_weights.yaml; inputs chart_data/m5_00_candidate_funders.csv and m6_05_relationship_paths.csv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sum of seven 0–1 scores; in-kind channels −0.30, see-attached filers −0.15; rerun scripts/07_m7_pipeline.py after edits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scoring configuration weights seven dimensions and sets the tier cutoffs in one editable file, config/scoring_weights.yaml. (continued, 2 of 2)</a:t>
            </a:r>
            <a:endParaRPr lang="en-US" sz="2100" dirty="0"/>
          </a:p>
        </p:txBody>
      </p:sp>
      <p:graphicFrame>
        <p:nvGraphicFramePr>
          <p:cNvPr id="4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26517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 by funder 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charity grantmaker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federated giving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 broad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 20 distinct DC-sector recipients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 mid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8-19 recipients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foundation narrow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8 recipients (family / closed)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sponsor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 intermediaries: not a grant pipeline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594360"/>
                <a:gridCol w="594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Analyst-scored government row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GOV-DC-1: DC OVSJG Victim Services grants (Reach Up, New Foundations)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GOV-DC-2: DHS homeless services via TCP (TH contract, Sisters Rise)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GOV-FED-1: HUD Continuum of Care via TCP (Sister Circle, Reach Up, New…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GOV-DC-3: DHS Permanent Supportive Housing (local PSH lines, $145-166M)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GOV-FED-2: HUD Community Project Funding (earmark) renewal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245352" y="39319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458"/>
                </a:solidFill>
              </a:rPr>
              <a:t>Channels: in-kind or workplace channels (Gifts for the Homeless, Capital Area Food Bank, America's Charities, Give Lively) take the in-kind penalty; the T. Rowe Price Program is scored like a DAF sponsor. Corporate CRM relationships (≥ $50K, no public filing) are also analyst-scored.</a:t>
            </a:r>
            <a:endParaRPr lang="en-US" sz="105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calvary_analysis/config/scoring_weights.yaml; inputs chart_data/m5_00_candidate_funders.csv and m6_05_relationship_paths.csv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sum of seven 0–1 scores; in-kind channels −0.30, see-attached filers −0.15; rerun scripts/07_m7_pipeline.py after edits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</a:t>
            </a:r>
            <a:endParaRPr lang="en-US" sz="2100" dirty="0"/>
          </a:p>
        </p:txBody>
      </p:sp>
      <p:graphicFrame>
        <p:nvGraphicFramePr>
          <p:cNvPr id="4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peers; typical grant $25K; DC-sector $2.7M…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peers; typical grant $33K; DC-sector $43.2M…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peers; typical grant $250K; DC-sector $32.8M;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OVSJG Victim Services grants (Reach Up…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 and grow: annual continuation; Council…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peers; typical grant $36K; DC-sector $12.6M…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Continuum of Care via TCP (Sister…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renewal; 5% of DC CoC; protect renewals…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homeless services via TCP (TH contract…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single exposure; confirm FY25-26 contract…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peers; typical grant $32K; DC-sector $1.6M…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MGAC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$713K 2023-26; cash vs in-kind unclear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 Schattner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peers; typical grant $60K; DC-sector $2.1M;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Americas Charities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peers; typical grant $39K; DC-sector $0.7M;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Venable Baetjer and Howard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peers; typical grant $12K; DC-sector $1.2M;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 Chase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peers; typical grant $0K; DC-sector $18.0M;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2 of 14)</a:t>
            </a:r>
            <a:endParaRPr lang="en-US" sz="2100" dirty="0"/>
          </a:p>
        </p:txBody>
      </p:sp>
      <p:graphicFrame>
        <p:nvGraphicFramePr>
          <p:cNvPr id="4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Way of the National Capital Area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peers; typical grant $19K; DC-sector $5.8M…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Gifts for the Homeless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peers; typical grant $6K; DC-sector $0.4M;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Association of American Medical Colleges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peers; typical grant $20K; DC-sector $0.7M…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America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peers; typical grant $0K; DC-sector $11.5M…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Miller &amp; Chevalier Charitable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peers; typical grant $4K;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Rowe Price Program for Charitable Giving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channel (donor-advised program)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peers; typical grant $25K; DC-sector $1.2M;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Area Food Bank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peers; typical grant $12K; DC-sector $3.8M;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Bank Community Connections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$100K; DC-sector $0.8M…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 Co-op Giving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$250K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Harry &amp; Jeanette Weinberg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$75K; DC-sector $6.5M;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Dimick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peers; typical grant $3K; DC-sector $0.2M…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Hands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$75K; DC-sector $0.5M…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Lively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peers; typical grant $7K; DC-sector $1.0M;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3 of 14)</a:t>
            </a:r>
            <a:endParaRPr lang="en-US" sz="2100" dirty="0"/>
          </a:p>
        </p:txBody>
      </p:sp>
      <p:graphicFrame>
        <p:nvGraphicFramePr>
          <p:cNvPr id="5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 Monetary Fund (IMF)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$156K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Reservoir Communications Group LLC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$155K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Permanent Supportive Housing (local PSH…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expansion: Calvary holds 16 PSH beds; the local…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Washington Home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$63K; DC-sector $2.9M;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Naomi and Nehemiah Cohen Foundation Virginia…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$75K; DC-sector $2.0M;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Latham &amp; Watkins LLP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$115K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Viragh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$150K;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$27K;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Coca-Cola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$150K; DC-sector $2.2M;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Omidyar Network Fund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$2K; DC-sector $0.5M…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Morrison &amp; Foerster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$10K; DC-sector $0.4M;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Congressional Sports for Charity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$10K;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 Bancroft Robinson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$75K; DC-sector $3.1M…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4 of 14)</a:t>
            </a:r>
            <a:endParaRPr lang="en-US" sz="2100" dirty="0"/>
          </a:p>
        </p:txBody>
      </p:sp>
      <p:graphicFrame>
        <p:nvGraphicFramePr>
          <p:cNvPr id="5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&amp; Agnes E Meyer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$62K; DC-sector $4.0M;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B Casey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$100K; DC-sector $0.5M;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UnitedHealth Group Employee Giving Campaign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$79K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ImpactAssets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$17K; DC-sector $2.7M;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 and Gene Ludwig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$25K; DC-sector $0.5M…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Walter a Bloedorn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$5K; DC-sector $0.2M…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Sulica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$70K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Altria Corporate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$62K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Courembis Companies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$58K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CareFirst Committment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$58K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Community Project Funding (earmark)…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$200K awarded 2023 for a capital project…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Hyde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$50K 2023-26; cash vs in-kind unverified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 Development…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posted; closes 2027-01-25;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5 of 14)</a:t>
            </a:r>
            <a:endParaRPr lang="en-US" sz="2100" dirty="0"/>
          </a:p>
        </p:txBody>
      </p:sp>
      <p:graphicFrame>
        <p:nvGraphicFramePr>
          <p:cNvPr id="5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of the Assistant Secretary for…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$22.00M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posted; closes 2027-01-11;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 Development…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posted; closes 2026-11-02;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 Development…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posted; closes 2026-11-02;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 Development…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forecasted; closes 2026-09-28;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Centers for Disease Control - NCIPC…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forecasted; closes 2027-03-31;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Resources and Services…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forecasted; closes 2027-02-02; tags women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Resources and Services…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$48.60M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forecasted; closes 2027-03-18;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Pepsico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$550K; DC-sector $3.0M;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Workday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$250K; DC-sector $1.9M;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Wells Fargo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$250K; DC-sector $3.6M;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Annie E Casey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$0K; DC-sector $8.0M;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Oneil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$25K;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Jacquemin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$5K;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6 of 14)</a:t>
            </a:r>
            <a:endParaRPr lang="en-US" sz="2100" dirty="0"/>
          </a:p>
        </p:txBody>
      </p:sp>
      <p:graphicFrame>
        <p:nvGraphicFramePr>
          <p:cNvPr id="5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Ralph S and Frances R Dweck Family…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$40K; DC-sector $0.5M;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&amp; Victoria Dreyfus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$14K; DC-sector $0.2M…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Morningstar Philanthropic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$75K; DC-sector $5.6M;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Donors Trust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$201K; DC-sector $1.6M;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 E and Nancy P Marriott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$102K;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Diane &amp; Norman Bernstein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$25K; DC-sector $3.1M;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Area Womens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$50K; DC-sector $0.3M;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 NOAA - ERA Production: 2026 Alaska…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posted; closes 2028-05-01;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Park Service: National Parks…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posted; closes 2027-01-04; tags workforce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Marthas Table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$132K; DC-sector $1.3M;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Corina Higginson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$8K; DC-sector $0.4M…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England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$28K; DC-sector $1.3M;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Revada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$50K; DC-sector $1.9M;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7 of 14)</a:t>
            </a:r>
            <a:endParaRPr lang="en-US" sz="2100" dirty="0"/>
          </a:p>
        </p:txBody>
      </p:sp>
      <p:graphicFrame>
        <p:nvGraphicFramePr>
          <p:cNvPr id="5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Institute for Public Health Innovation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$14K; DC-sector $0.5M;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YWCA USA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$44K; DC-sector $0.6M;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 Harris Maley Memorial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$2K; DC-sector $0.2M…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Grossman Family Charitable Funds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$1K; DC-sector $0.0M…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Junior League of the City of Washington…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$15K;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Wallace Global Fund II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$70K; DC-sector $0.6M;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Bainum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$50K; DC-sector $2.1M;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Cornerstone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$200K; DC-sector $1.2M;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Sherman Fairchild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$25K; DC-sector $0.2M;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Welfare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$150K; DC-sector $2.4M;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Brendan &amp; Helen Bechtel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peers; typical grant $25K;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 Shaver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$25K;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Qlarant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$18K; DC-sector $0.0M…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8 of 14)</a:t>
            </a:r>
            <a:endParaRPr lang="en-US" sz="2100" dirty="0"/>
          </a:p>
        </p:txBody>
      </p:sp>
      <p:graphicFrame>
        <p:nvGraphicFramePr>
          <p:cNvPr id="5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$100K; DC-sector $4.2M;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Rapoport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$12K; DC-sector $0.2M…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MGM Resorts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$10K;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Planning Organization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$162K; DC-sector $0.3M;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Akerson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$150K;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$409K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$408K;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Pew Charitable Trusts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$7K;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Adele M Thomas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$2K;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Aron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$125K; DC-sector $0.7M;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$15K; DC-sector $0.5M;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Bunting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peers; typical grant $10K; DC-sector $0.1M;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Nora Roberts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$45K; DC-sector $0.7M;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 Kent Cooke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$310K; DC-sector $0.6M;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9 of 14)</a:t>
            </a:r>
            <a:endParaRPr lang="en-US" sz="2100" dirty="0"/>
          </a:p>
        </p:txBody>
      </p:sp>
      <p:graphicFrame>
        <p:nvGraphicFramePr>
          <p:cNvPr id="5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RCLCO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$0K; DC-sector $0.0M…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Luminate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$200K; DC-sector $0.6M;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Levatus Charitable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$10K;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 Under Movement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$21K; DC-sector $1.9M;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Forster-Connolly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$100K; DC-sector $1.2M;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Coalition to End Sexual Violence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$518K; DC-sector $2.1M;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Monumental Sports &amp; Entertainment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$10K; DC-sector $0.5M…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Richard W Goldman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$100K; DC-sector $0.5M;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 R Anderson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$15K; DC-sector $0.4M;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Leafglen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$50K; DC-sector $0.3M…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Capitol Hill Community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$18K; DC-sector $0.2M;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Edward and Kathleen Quinn Family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$450K; DC-sector $1.8M;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Mayberg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$20K; DC-sector $0.6M;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10 of 14)</a:t>
            </a:r>
            <a:endParaRPr lang="en-US" sz="2100" dirty="0"/>
          </a:p>
        </p:txBody>
      </p:sp>
      <p:graphicFrame>
        <p:nvGraphicFramePr>
          <p:cNvPr id="5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 Womens Christian Association of the…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$568K; DC-sector $1.5M;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Mary Catherine Bunting Fundation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$35K;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Davis Spencer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$75K; DC-sector $4.6M;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Center for Nonprofit Advancement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$11K; DC-sector $0.1M;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 Group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$10K;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Alisann and Terry Collins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$10K; DC-sector $0.5M;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Centers for Disease Control - NCIPC…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forecasted; closes 2027-03-31;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Substance Abuse and Mental Health Services…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government_federal: opportunity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forecasted; closes n/a; tags…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Howard and Geraldine Polinger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$40K;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Joe and Missy Walsh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$3K;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Fulcrum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$0K;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Potomac Health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$50K; DC-sector $0.6M;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Jewish Federation of Greater Washington…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$8K; DC-sector $0.9M;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11 of 14)</a:t>
            </a:r>
            <a:endParaRPr lang="en-US" sz="2100" dirty="0"/>
          </a:p>
        </p:txBody>
      </p:sp>
      <p:graphicFrame>
        <p:nvGraphicFramePr>
          <p:cNvPr id="5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Quest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$30K; DC-sector $0.1M;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Wal-Mart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$1K; DC-sector $8.6M;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Taste of the South Committee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$28K; DC-sector $0.1M;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Mccutchen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$375K;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Sidgmore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$3K; DC-sector $0.0M…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Lucas Kaempfer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$30K; DC-sector $0.7M;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Sunrise Charitable Foundation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$100K; DC-sector $0.5M;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Whispering Bells Foundation Charitable Tr UA…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$10K;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Holland-Iribe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Beck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$0K;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Aaron and Cecile Goldman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$2K; DC-sector $0.1M;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Jerome a and Deena L Kaplan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$2K; DC-sector $0.2M;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Nancy Peery Marriott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$10K;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12 of 14)</a:t>
            </a:r>
            <a:endParaRPr lang="en-US" sz="2100" dirty="0"/>
          </a:p>
        </p:txBody>
      </p:sp>
      <p:graphicFrame>
        <p:nvGraphicFramePr>
          <p:cNvPr id="5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Forster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$100K;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Stichman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$10K; DC-sector $0.2M;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Keith Campbell Foundation for the…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$12K;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 Sing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$0K;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Dorney-Koppel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$6K;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Lavin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$5K;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George L Shields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$15K; DC-sector $0.1M;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 V Schiro-Zavela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$1K;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Samuel J Gorlitz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$150K; DC-sector $0.8M;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Galena-Yorktown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$5K; DC-sector $0.2M;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Meyer and Deanne Sharlin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$20K; DC-sector $0.1M;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Baxt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$2K; DC-sector $0.0M…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13 of 14)</a:t>
            </a:r>
            <a:endParaRPr lang="en-US" sz="2100" dirty="0"/>
          </a:p>
        </p:txBody>
      </p:sp>
      <p:graphicFrame>
        <p:nvGraphicFramePr>
          <p:cNvPr id="6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the Girls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$9K; DC-sector $0.2M;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Weissberg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$5K; DC-sector $0.2M;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Pedersen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$10K; DC-sector $0.1M;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Wilczynski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$5K; DC-sector $0.2M;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M Fisher Memorial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peers; typical grant $25K; DC-sector $0.1M…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Morgan Stanley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$2K; DC-sector n/a;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Finkelstein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$0K;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 II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$5K;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Give Run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$6K;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Rosenfeld Rumford Steckler Family Foundation…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Marion I &amp; Henry J Knott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$43K; DC-sector n/a;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Rothschild Art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$20K;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Joseph E Robert Jr Charitable Trust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$60K; DC-sector $0.5M;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complete pipeline, Tier 1 to Tier 3, ranks 182 rows: 11 in Tier 1, 40 in Tier 2 and 131 in Tier 3. (continued, 14 of 14)</a:t>
            </a:r>
            <a:endParaRPr lang="en-US" sz="2100" dirty="0"/>
          </a:p>
        </p:txBody>
      </p:sp>
      <p:graphicFrame>
        <p:nvGraphicFramePr>
          <p:cNvPr id="6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2194560"/>
                <a:gridCol w="411480"/>
                <a:gridCol w="502920"/>
                <a:gridCol w="777240"/>
                <a:gridCol w="502920"/>
                <a:gridCol w="3182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or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Hill Snowdon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$18K; DC-sector $0.7M;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Leslie Joanne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$20K; DC-sector $0.0M…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Christian Perspectives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$0K;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 C Marino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$0K; DC-sector n/a;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Alfred N Watson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Irene L Chrisman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$0K;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E Cross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$10K; DC-sector n/a;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Melamed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peers; typical grant $1K;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Lester Poretsky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$0K; DC-sector $0.1M;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Ruppert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Owen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peers; typical grant $5K; DC-sector $0.0M…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Robert P and Arlene R Kogod Family…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$3K;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Gary &amp; Carol Berman Family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peers; typical grant $2K; DC-sector $0.0M; no…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 (= chart_data/m7_00);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score, tiers: T1 ≥ 0.62 and median peer grant ≥ $25K; T2 ≥ 0.48; government and corporate rows analyst-scored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90-day action plan gives each of the 11 Tier 1 targets a next step, an owner role and a deadline.</a:t>
            </a:r>
            <a:endParaRPr lang="en-US" sz="2100" dirty="0"/>
          </a:p>
        </p:txBody>
      </p:sp>
      <p:graphicFrame>
        <p:nvGraphicFramePr>
          <p:cNvPr id="6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194560"/>
                <a:gridCol w="1463040"/>
                <a:gridCol w="3657600"/>
                <a:gridCol w="1188720"/>
                <a:gridCol w="914400"/>
                <a:gridCol w="1307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role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cycle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Cycle-specific; check Grant…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introduction through a shared peer or co-funder; request guidelines / invitation; submit an LOI in…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60 (LOI by day 90)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OVSJG Victim Services grants (Reach Up…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FY26 award letters and draw-down status; schedule program-officer check-in; map FY27 renewal…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 1, July 1, November 1 (5:00 pm ET)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Continuum of Care via TCP (Sister…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FY26 award letters and draw-down status; schedule program-officer check-in; map FY27 renewal…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homeless services via TCP (TH…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FY26 award letters and draw-down status; schedule program-officer check-in; map FY27 renewal…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 (no deadline)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MGAC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Quantify cash vs in-kind in the CRM; propose a multi-year sponsorship or program partnership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 Schattner Foundation Inc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introduction through a shared peer or co-funder; request guidelines / invitation; submit an LOI in…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60 (LOI by day 90)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Americas Charities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introduction through a shared peer or co-funder; request guidelines / invitation; submit an LOI in…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60 (LOI by day 90)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campaign enrollment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recommendations/action_plan_90day.csv; config/guideline_notes.csv (sources/web_tier1_guidelines.csv)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deadlines relative to plan start; owner roles, not people; cycles from the analyst-reviewed web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m7_01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Application-process notes for 27 Tier 1–2 funders from the reviewed web pull: 13 first-party, 7 third-party and 7 analyst notes.</a:t>
            </a:r>
            <a:endParaRPr lang="en-US" sz="2100" dirty="0"/>
          </a:p>
        </p:txBody>
      </p:sp>
      <p:graphicFrame>
        <p:nvGraphicFramePr>
          <p:cNvPr id="6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1737360"/>
                <a:gridCol w="137160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process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deadline or cycle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S. Abell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funder; no first-party guidelines found (web hits matched The Abell Foundation of Baltimore, a…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usable hit; 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returned a different foundation; verify directly…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grant opportunities posted by fund on the foundation's site; apply through the online portal during…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Cycle-specific; check Grant Opportunities 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Equity Fund is a time-limited fund; ask about…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Clark Charitable Foundation (A. James &amp;…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first-party guidelines found (web hits matched other Clark foundations). Grants to DC peers suggest a…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usable hit; 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the Clark Foundation's current DC community giving…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grantee portal; one application per 12 months, including current grantees requesting a new grant.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March 1, July 1, November 1 (5:00 pm ET)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funder: time the upgrade ask to the next deadline…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Accepts applications; instructions on its 990-PF and website; no stated deadline (third-party summary).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 (no deadline)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(third-party)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I. Schattner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first-party guidelines found; a Maryland family foundation (education and dental/health access focus)…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usable hit; 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 via the peers it funds (4 core peers).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America's Charities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Workplace-giving federation (CFC-style campaigns), not a grantmaker: membership application for inclusion in…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campaign enrollment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usable hit; 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 as a workplace-giving channel, not a grant.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Venable Baetjer and Howard Foundation…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Applications accepted three times a year; one application per calendar year; decisions about four months…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February 1, June 1, September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Calvary's CRM ($75K 2023-26); confirm the next…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 Chase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Proposals by invitation only; no unsolicited applications (third-party summaries). Local market relationship…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(third-party)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Peers receive mostly matching gifts; low-size pipeline.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 web pages found by the approved Tier 1–2 search (sources/web_tier1_guidelines.csv, source_registry_extension.csv); config/guideline_notes.csv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every hit hand-reviewed; third-party and misdirected hits not treated as first-party guidelines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m7_04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Application-process notes for 27 Tier 1–2 funders from the reviewed web pull: 13 first-party, 7 third-party and 7 analyst notes. (continued, 2 of 3)</a:t>
            </a:r>
            <a:endParaRPr lang="en-US" sz="2100" dirty="0"/>
          </a:p>
        </p:txBody>
      </p:sp>
      <p:graphicFrame>
        <p:nvGraphicFramePr>
          <p:cNvPr id="6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1737360"/>
                <a:gridCol w="137160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process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deadline or cycle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Way of the National Capital 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partnership application even for returning partners: pre-screening opens September, online…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Pre-screening September; application Oct-Nov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(third-party)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America Charitable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local RFP cycles a year (Basic Needs / Income Creation in February-March; Stable Housing / Empowering…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dates to be posted; 2026 cycles ran Feb…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funder; Stable Housing RFP is the fit.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&amp; Agnes E. Meyer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grantmaking: short Interest Form through the grant portal; response within 30 days with an invitation…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Interest Form deadline per cycle (March 4 in the…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 on Calvary's support page ('over the years'); no…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Harry &amp; Jeanette Weinberg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Grants Program is for Maryland and Northeastern Pennsylvania nonprofits (rolling); larger grants are…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 (small grants, MD/PA only)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(third-party)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fit high (housing, aging, jobs); geography is the…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Naomi and Nehemiah Cohen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not accept unsolicited requests from organizations without an existing funding relationship; prior-year…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Invitation only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 via the three DC peers it funds.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Eugene B. Casey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materials may be mailed to the foundation (Rockville, MD); no specified format or deadline…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stated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(third-party)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Hands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women's collective-giving circle; annual grant cycle with an applicant webinar in December and…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Applications open early January (two-week window)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 funder (TY2020 $55.5K); re-apply in the January…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Washington Home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 grants to DC organizations in its focus areas (critically ill: health-care access and caregiver…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grants page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 is strongest for a health or older-women track.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Area Food Bank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Partner-agency process (information session, pre-screening form, full partnership application, site visit)…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 partner intake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In-kind channel.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 web pages found by the approved Tier 1–2 search (sources/web_tier1_guidelines.csv, source_registry_extension.csv); config/guideline_notes.csv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every hit hand-reviewed; third-party and misdirected hits not treated as first-party guidelines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m7_04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Application-process notes for 27 Tier 1–2 funders from the reviewed web pull: 13 first-party, 7 third-party and 7 analyst notes. (continued, 3 of 3)</a:t>
            </a:r>
            <a:endParaRPr lang="en-US" sz="2100" dirty="0"/>
          </a:p>
        </p:txBody>
      </p:sp>
      <p:graphicFrame>
        <p:nvGraphicFramePr>
          <p:cNvPr id="6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1737360"/>
                <a:gridCol w="137160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process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deadline or cycle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Gifts for the Homeless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In-kind clothing and goods drives for DC-area homeless-services providers; no cash grant process found.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usable hit; 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In-kind channel.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Lively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free fundraising platform; 'grants' are pass-through donations to member nonprofits. Membership…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Rolling membership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Channel, not a funder.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 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Arlington, VA focus; no usable first-party hit for a DC organization.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usable hit; 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geographic fit.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Association of American Medical Colleges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 through AAMC community giving; web hits returned unrelated AAMC programs.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usable hit; analyst 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Steward the existing relationship.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 Bancroft Robinson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SustainABLE Community Initiatives: East of the River focus (Wards 7 and 8), nonprofit ecosystem…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foundation site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place fit; lapsed Calvary funder (TY2020 $25K).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Coca-Cola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application in the foundation's focus areas (third-party summary); national corporate foundation.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foundation site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(third-party)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fit.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Morrison &amp; Foerster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Gives to 501(c)(3) organizations aligned with its focus at the board's discretion; firm has a DC office.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discretion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Calvary's CRM ($74K); steward.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Omidyar Network Fund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not accept unsolicited proposals; Calvary's receipts are employee-directed.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(third-party)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giving, not a prospect.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Bank Community Connections Fund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Connections program: application with the latest 990 and annual report; objectives consistent with…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cycle; see World Bank Community…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(first-party)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Lapsed funder (TY2022 $100K); re-apply.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 web pages found by the approved Tier 1–2 search (sources/web_tier1_guidelines.csv, source_registry_extension.csv); config/guideline_notes.csv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every hit hand-reviewed; third-party and misdirected hits not treated as first-party guidelines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m7_04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Rank sensitivity to weight changes is low, since no ±0.05 change moves the top 30 more than 1.7 places on average.</a:t>
            </a:r>
            <a:endParaRPr lang="en-US" sz="2100" dirty="0"/>
          </a:p>
        </p:txBody>
      </p:sp>
      <p:graphicFrame>
        <p:nvGraphicFramePr>
          <p:cNvPr id="6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828800"/>
                <a:gridCol w="1645920"/>
                <a:gridCol w="1645920"/>
                <a:gridCol w="1764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rank shift (top 30)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Top-10 overlap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1–2 added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1–2 dropped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mission_fit -0.05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mission_fit +0.05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peer_giving -0.05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peer_giving +0.05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regional_giving -0.05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regional_giving +0.05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award_size -0.05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award_size +0.05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 -0.05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 +0.05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durability -0.05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durability +0.05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-0.05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+0.05 (renormalized)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tier2 cutoff -0.05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tier2 cutoff +0.05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chart_data/m7_05_sensitivity.csv (scripts/13_m7_sensitivity.py); config/scoring_weights.yaml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each weight ±0.05 with renormalization, tier-2 cutoff ±0.05; institutional rows only (government, corporate and federal rows have fixed scores)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m7_05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expansion scan table and the relevant federal notices show large near pools in workforce and behavioral health and thin direct federal competition.</a:t>
            </a:r>
            <a:endParaRPr lang="en-US" sz="2100" dirty="0"/>
          </a:p>
        </p:txBody>
      </p:sp>
      <p:graphicFrame>
        <p:nvGraphicFramePr>
          <p:cNvPr id="6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85800"/>
                <a:gridCol w="2331720"/>
                <a:gridCol w="914400"/>
                <a:gridCol w="914400"/>
                <a:gridCol w="731520"/>
                <a:gridCol w="685800"/>
                <a:gridCol w="2907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today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DMV tagged $/yr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 ($100K+)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notices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and comparator models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 and homelessness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Transitional housing (94 TH beds 2025), PSH (Sister…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 (104)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Village; House of Ruth DC; DWC (159 PSH units…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Education and life skills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LEAP education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 (271)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Village; Thrive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Workforce and employment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Up DC job program; SNAP E&amp;T contract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 (66)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SheWorks (CBWC Institute, LA): stipends, childcare, career…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 and recovery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On-site therapy (500+ sessions/yr), recovery support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 (84)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 (recovery housing); N Street Village…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Domestic violence and victim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Foundations site is DV-designated; OVSJG-funded…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 (34)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DASH; My Sister's Place; DC SAFE; House of Ruth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health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Meals, health partnerships; no clinic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 (206)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 (FQHC); Christ House (medical respite)…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Aging and older adults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Older women are a growing share of PSH residents (not…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 (34)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$12,644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(older women on Skid Row); The Washington Home funds…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 veterans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documented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$7.7M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 (34)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Housing DC (alternate peer); VA GPD grantees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Reentry and justice-involved women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 with justice involvement are served but not a…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 (8)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SheWorks (system-impacted women); OVSJG reentry grants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Maternal and family health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women only; no family programs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(12)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Hope; House of Ruth (families)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/ Schedule I TY2020–24 (fact_grants, dim_program_area); Grants.gov (fact_opportunities); fact_policy_events; config/expansion_areas.yaml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DMV institutional grants whose purpose carries the tag, TY2020–24 ÷ 5; general operating excluded; distance ratings are analyst judgment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m8_01 · data as of 2026-10-10 · method note D1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36 relevant federal notices come from 13 agencies and offices, led by DOJ justice programs and HUD, with few direct fits for Calvary.</a:t>
            </a:r>
            <a:endParaRPr lang="en-US" sz="2100" dirty="0"/>
          </a:p>
        </p:txBody>
      </p:sp>
      <p:graphicFrame>
        <p:nvGraphicFramePr>
          <p:cNvPr id="6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2286000"/>
                <a:gridCol w="777240"/>
                <a:gridCol w="822960"/>
                <a:gridCol w="868680"/>
                <a:gridCol w="1399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 ceiling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tags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HHS-2027-ACF-OHS-CH-0125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Head Start Expansion and Early Head Start - Child Care…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Administration for Children and…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maternal health, women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HHS-2026-ACF-ORR-ZU-0019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Study and Post-Release Services for Unaccompanied Alien…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Administration for Children and…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HHS-2027-ACL-AOA-ADPI-0006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Alzheimer's Disease Programs Initiative (ADPI) - Developing…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Administration for Community Living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2027-05-03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O-BJA-2026-172795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BJA FY 2026 Invited to Apply- Medicaid and Corrections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Assistance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reentry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O-BJA-2026-172714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BJA FY 2026 Veterans Treatment Court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Assistance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health, veterans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O-BJA-2026-172717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BJA FY 2026 Second Chance Act Community-based Reentry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Assistance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reentry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O-BJA-2026-172721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BJA FY 2026 Adult Treatment Court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Assistance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O-BJA-2026-172760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BJA FY 2026 National Center for Veterans Justice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Assistance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health, veterans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O-BJA-2026-172724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BJA FY 2026 Comprehensive Opioid, Stimulant, and Substance…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Assistance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O-BJA-2026-172763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BJA FY 2026 Residential Substance Abuse Treatment for State…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Assistance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dv, behavioral health, reentry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O-BJS-2026-172687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BJS FY 2026 State Justice Statistics Program for Statistical…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Statistics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$225K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PIH-2600-DC-0005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Resident Opportunity and Self-Sufficiency Service…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$817K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housing, aging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Grants.gov posted and forecasted opportunities; fact_opportunities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research, tribal, rural and overseas notices removed; HUD, VA, DOL, DOJ, ACF, SAMHSA, USDA, Treasury and ACL kept; snapshot as of the data 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m8_02 · data as of 2026-10-10 · method note D1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36 relevant federal notices come from 13 agencies and offices, led by DOJ justice programs and HUD, with few direct fits for Calvary. (continued, 2 of 3)</a:t>
            </a:r>
            <a:endParaRPr lang="en-US" sz="2100" dirty="0"/>
          </a:p>
        </p:txBody>
      </p:sp>
      <p:graphicFrame>
        <p:nvGraphicFramePr>
          <p:cNvPr id="6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2286000"/>
                <a:gridCol w="777240"/>
                <a:gridCol w="822960"/>
                <a:gridCol w="868680"/>
                <a:gridCol w="1399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 ceiling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tags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CPD-2600-DC-0099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Preservation and Reinvestment Initiative for Community…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OFH-2600-DC-021A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 Housing Initiatives Program - Education and Outreach…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housing, education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OFH-2600-DC-021C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 HOUSING INITIATIVES PROGRAM PRIVATE ENFORCEMENT…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housing, education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PIH-2600-DC-0084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Family Unification Program (FUP) Multi-Year NOFO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HSG-2600-DC-0033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Comprehensive Housing Counseling (CHC) and the Housing…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housing, behavioral health, education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PIH-ROSS-26-001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ROSS Rapid Response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2027-01-25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housing, workforce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ETA-UI-2024-01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Unemployment Insurance Integrity Center of Excellence…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Employment and Training Administration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2024-09-26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workforce, education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ETA-UIPL-15-26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Year 2027 State Workforce Agency Unemployment…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Employment and Training Administration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$457.7M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workforce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O-NIJ-2026-172798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NIJ FY 2026 Evaluation of the Effectiveness of the Bureau of…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Institute of Justice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$5.9M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health, veterans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O-OJJDP-2026-172734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OJJDP FY 2026 Community and Schools Youth Drug Prevention…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of Juvenile Justice Delinquency…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health, education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O-OJJDP-2026-172741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OJJDP FY 2026 Juvenile Drug Treatment Court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of Juvenile Justice Delinquency…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O-OJJDP-2026-172751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OJJDP FY 2026 Second Chance Act Youth Reentry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of Juvenile Justice Delinquency…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reentry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Grants.gov posted and forecasted opportunities; fact_opportunities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research, tribal, rural and overseas notices removed; HUD, VA, DOL, DOJ, ACF, SAMHSA, USDA, Treasury and ACL kept; snapshot as of the data 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m8_02 · data as of 2026-10-10 · method note D1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36 relevant federal notices come from 13 agencies and offices, led by DOJ justice programs and HUD, with few direct fits for Calvary. (continued, 3 of 3)</a:t>
            </a:r>
            <a:endParaRPr lang="en-US" sz="2100" dirty="0"/>
          </a:p>
        </p:txBody>
      </p:sp>
      <p:graphicFrame>
        <p:nvGraphicFramePr>
          <p:cNvPr id="7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2286000"/>
                <a:gridCol w="777240"/>
                <a:gridCol w="822960"/>
                <a:gridCol w="868680"/>
                <a:gridCol w="1399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 ceiling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tags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O-OJJDP-2026-172737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OJJDP FY 2026 Expanding Youth Access to Community-Based…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of Juvenile Justice Delinquency…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O-OJJDP-2026-172738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OJJDP FY 2026 Family Treatment Court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of Juvenile Justice Delinquency…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dv, behavioral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O-OJJDP-2026-172743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OJJDP FY 2026 Mentoring for Youth Impacted by Opioids and…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of Juvenile Justice Delinquency…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O-OJJDP-2026-172748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OJJDP FY 2026 Opioid Affected Youth Initiative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of Juvenile Justice Delinquency…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SM-27-001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GLS Campus Suicide Prevention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Substance Abuse and Mental Health…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TI-27-002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Residential Treatment for Pregnant and Postpartum Women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Substance Abuse and Mental Health…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health, maternal health, women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TI-27-003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Pilot Program for Treatment for Pregnant and…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Substance Abuse and Mental Health…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health, maternal health, women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TI-27-004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Communities of Recovery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Substance Abuse and Mental Health…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GR-RDC-25-001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Act Direct Component – Construction and Real…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Dept. of Treasury RESTORE Act…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$120.2M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workforce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GR-RDC-25-002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Act Direct Component - Non-Construction Activities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Dept. of Treasury RESTORE Act…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$120.2M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workforce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FOA-VETS-27-01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Homeless Veterans’ Reintegration Program (HVRP)…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Veterans Employment and Training Service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2027-03-17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housing, workforce, veterans, reentry, women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VA-NCA-VLGP-FY2027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Veterans Legacy Grants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Veterans Legacy Grants Program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2027-04-09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veterans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Grants.gov posted and forecasted opportunities; fact_opportunities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research, tribal, rural and overseas notices removed; HUD, VA, DOL, DOJ, ACF, SAMHSA, USDA, Treasury and ACL kept; snapshot as of the data 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m8_02 · data as of 2026-10-10 · method note D1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vary Funding Engagement">
  <a:themeElements>
    <a:clrScheme name="Calvary Funding Engagement">
      <a:dk1>
        <a:srgbClr val="1F1B1D"/>
      </a:dk1>
      <a:lt1>
        <a:srgbClr val="FFFFFF"/>
      </a:lt1>
      <a:dk2>
        <a:srgbClr val="41242F"/>
      </a:dk2>
      <a:lt2>
        <a:srgbClr val="F6F3F4"/>
      </a:lt2>
      <a:accent1>
        <a:srgbClr val="A03F7E"/>
      </a:accent1>
      <a:accent2>
        <a:srgbClr val="B8810C"/>
      </a:accent2>
      <a:accent3>
        <a:srgbClr val="0F9ACB"/>
      </a:accent3>
      <a:accent4>
        <a:srgbClr val="CF5A2C"/>
      </a:accent4>
      <a:accent5>
        <a:srgbClr val="3B6FD8"/>
      </a:accent5>
      <a:accent6>
        <a:srgbClr val="D39F28"/>
      </a:accent6>
      <a:hlink>
        <a:srgbClr val="41242F"/>
      </a:hlink>
      <a:folHlink>
        <a:srgbClr val="8C8488"/>
      </a:folHlink>
    </a:clrScheme>
    <a:fontScheme name="Calvary Funding Engag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Calvary funding engagement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C: Funders, gaps, network and pipeline</dc:title>
  <dc:subject>Appendix C of the Calvary funding analysis</dc:subject>
  <dc:creator>Pro bono analysis for Calvary Women's Services</dc:creator>
  <cp:lastModifiedBy>Pro bono analysis for Calvary Women's Services</cp:lastModifiedBy>
  <cp:revision>1</cp:revision>
  <dcterms:created xsi:type="dcterms:W3CDTF">2026-10-11T03:22:14Z</dcterms:created>
  <dcterms:modified xsi:type="dcterms:W3CDTF">2026-10-11T03:22:14Z</dcterms:modified>
</cp:coreProperties>
</file>