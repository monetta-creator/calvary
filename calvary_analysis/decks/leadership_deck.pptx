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5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6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7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f3584d8-3225-fb01-53f9-522a71b7ac21}">
          <p14:sldIdLst>
            <p14:sldId id="256"/>
            <p14:sldId id="257"/>
          </p14:sldIdLst>
        </p14:section>
        <p14:section name="Where Calvary stands" id="{ee07b317-f826-1380-2403-f1dd0905861f}">
          <p14:sldIdLst>
            <p14:sldId id="258"/>
            <p14:sldId id="259"/>
            <p14:sldId id="260"/>
            <p14:sldId id="261"/>
            <p14:sldId id="262"/>
          </p14:sldIdLst>
        </p14:section>
        <p14:section name="The clouds on the horizon" id="{7e96f638-cd2a-2bea-def7-6afe02d8f091}">
          <p14:sldIdLst>
            <p14:sldId id="263"/>
            <p14:sldId id="264"/>
            <p14:sldId id="265"/>
            <p14:sldId id="266"/>
          </p14:sldIdLst>
        </p14:section>
        <p14:section name="What peers show" id="{bf725845-d87d-b217-2419-026ce2b3f9f4}">
          <p14:sldIdLst>
            <p14:sldId id="267"/>
            <p14:sldId id="268"/>
            <p14:sldId id="269"/>
          </p14:sldIdLst>
        </p14:section>
        <p14:section name="Where the opportunities are" id="{6897f368-4761-3772-decb-50dba72cc395}">
          <p14:sldIdLst>
            <p14:sldId id="270"/>
            <p14:sldId id="271"/>
            <p14:sldId id="272"/>
          </p14:sldIdLst>
        </p14:section>
        <p14:section name="A plan to consider" id="{615333b6-9f7f-70bd-5fa7-197e00313681}">
          <p14:sldIdLst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Closing" id="{a7ea7096-e4d2-c29d-1a36-89d9279dae06}">
          <p14:sldIdLst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Government (audit basis; 990 line 1e for FY24–25)</c:v>
                </c:pt>
              </c:strCache>
            </c:strRef>
          </c:tx>
          <c:spPr>
            <a:solidFill>
              <a:srgbClr val="A03F7E"/>
            </a:solidFill>
            <a:effectLst/>
          </c:spPr>
          <c:invertIfNegative val="0"/>
          <c:dLbls>
            <c:numFmt formatCode="$#,##0.0,,&quot;M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C5458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FY15</c:v>
                  </c:pt>
                  <c:pt idx="1">
                    <c:v>FY16</c:v>
                  </c:pt>
                  <c:pt idx="2">
                    <c:v>FY17</c:v>
                  </c:pt>
                  <c:pt idx="3">
                    <c:v>FY18</c:v>
                  </c:pt>
                  <c:pt idx="4">
                    <c:v>FY19</c:v>
                  </c:pt>
                  <c:pt idx="5">
                    <c:v>FY20</c:v>
                  </c:pt>
                  <c:pt idx="6">
                    <c:v>FY21</c:v>
                  </c:pt>
                  <c:pt idx="7">
                    <c:v>FY22</c:v>
                  </c:pt>
                  <c:pt idx="8">
                    <c:v>FY23</c:v>
                  </c:pt>
                  <c:pt idx="9">
                    <c:v>FY24</c:v>
                  </c:pt>
                  <c:pt idx="10">
                    <c:v>FY25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888295</c:v>
                </c:pt>
                <c:pt idx="1">
                  <c:v>932814</c:v>
                </c:pt>
                <c:pt idx="2">
                  <c:v>965548</c:v>
                </c:pt>
                <c:pt idx="3">
                  <c:v>979272</c:v>
                </c:pt>
                <c:pt idx="4">
                  <c:v>1256102</c:v>
                </c:pt>
                <c:pt idx="5">
                  <c:v>2166119</c:v>
                </c:pt>
                <c:pt idx="6">
                  <c:v>1981161</c:v>
                </c:pt>
                <c:pt idx="7">
                  <c:v>5685504</c:v>
                </c:pt>
                <c:pt idx="8">
                  <c:v>2460897</c:v>
                </c:pt>
                <c:pt idx="9">
                  <c:v>2621203</c:v>
                </c:pt>
                <c:pt idx="10">
                  <c:v>2892598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Private contributions (foundations, corporate, individuals)</c:v>
                </c:pt>
              </c:strCache>
            </c:strRef>
          </c:tx>
          <c:spPr>
            <a:solidFill>
              <a:srgbClr val="B8810C"/>
            </a:solidFill>
            <a:effectLst/>
          </c:spPr>
          <c:invertIfNegative val="0"/>
          <c:dLbls>
            <c:numFmt formatCode="$#,##0.0,,&quot;M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C5458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FY15</c:v>
                  </c:pt>
                  <c:pt idx="1">
                    <c:v>FY16</c:v>
                  </c:pt>
                  <c:pt idx="2">
                    <c:v>FY17</c:v>
                  </c:pt>
                  <c:pt idx="3">
                    <c:v>FY18</c:v>
                  </c:pt>
                  <c:pt idx="4">
                    <c:v>FY19</c:v>
                  </c:pt>
                  <c:pt idx="5">
                    <c:v>FY20</c:v>
                  </c:pt>
                  <c:pt idx="6">
                    <c:v>FY21</c:v>
                  </c:pt>
                  <c:pt idx="7">
                    <c:v>FY22</c:v>
                  </c:pt>
                  <c:pt idx="8">
                    <c:v>FY23</c:v>
                  </c:pt>
                  <c:pt idx="9">
                    <c:v>FY24</c:v>
                  </c:pt>
                  <c:pt idx="10">
                    <c:v>FY25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907544</c:v>
                </c:pt>
                <c:pt idx="1">
                  <c:v>836710</c:v>
                </c:pt>
                <c:pt idx="2">
                  <c:v>1071475</c:v>
                </c:pt>
                <c:pt idx="3">
                  <c:v>992376</c:v>
                </c:pt>
                <c:pt idx="4">
                  <c:v>973806</c:v>
                </c:pt>
                <c:pt idx="5">
                  <c:v>1582461</c:v>
                </c:pt>
                <c:pt idx="6">
                  <c:v>1601560</c:v>
                </c:pt>
                <c:pt idx="7">
                  <c:v>2885189</c:v>
                </c:pt>
                <c:pt idx="8">
                  <c:v>1684754</c:v>
                </c:pt>
                <c:pt idx="9">
                  <c:v>2392856</c:v>
                </c:pt>
                <c:pt idx="10">
                  <c:v>1799806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Event contributions</c:v>
                </c:pt>
              </c:strCache>
            </c:strRef>
          </c:tx>
          <c:spPr>
            <a:solidFill>
              <a:srgbClr val="CF5A2C"/>
            </a:solidFill>
            <a:effectLst/>
          </c:spPr>
          <c:invertIfNegative val="0"/>
          <c:dLbls>
            <c:numFmt formatCode="$#,##0.0,,&quot;M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C5458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FY15</c:v>
                  </c:pt>
                  <c:pt idx="1">
                    <c:v>FY16</c:v>
                  </c:pt>
                  <c:pt idx="2">
                    <c:v>FY17</c:v>
                  </c:pt>
                  <c:pt idx="3">
                    <c:v>FY18</c:v>
                  </c:pt>
                  <c:pt idx="4">
                    <c:v>FY19</c:v>
                  </c:pt>
                  <c:pt idx="5">
                    <c:v>FY20</c:v>
                  </c:pt>
                  <c:pt idx="6">
                    <c:v>FY21</c:v>
                  </c:pt>
                  <c:pt idx="7">
                    <c:v>FY22</c:v>
                  </c:pt>
                  <c:pt idx="8">
                    <c:v>FY23</c:v>
                  </c:pt>
                  <c:pt idx="9">
                    <c:v>FY24</c:v>
                  </c:pt>
                  <c:pt idx="10">
                    <c:v>FY25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287580</c:v>
                </c:pt>
                <c:pt idx="1">
                  <c:v>301790</c:v>
                </c:pt>
                <c:pt idx="2">
                  <c:v>301899</c:v>
                </c:pt>
                <c:pt idx="3">
                  <c:v>279265</c:v>
                </c:pt>
                <c:pt idx="4">
                  <c:v>331837</c:v>
                </c:pt>
                <c:pt idx="5">
                  <c:v>165497</c:v>
                </c:pt>
                <c:pt idx="6">
                  <c:v>287145</c:v>
                </c:pt>
                <c:pt idx="7">
                  <c:v>383731</c:v>
                </c:pt>
                <c:pt idx="8">
                  <c:v>457758</c:v>
                </c:pt>
                <c:pt idx="9">
                  <c:v>538070</c:v>
                </c:pt>
                <c:pt idx="10">
                  <c:v>54730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Other revenue</c:v>
                </c:pt>
              </c:strCache>
            </c:strRef>
          </c:tx>
          <c:spPr>
            <a:solidFill>
              <a:srgbClr val="3B6FD8"/>
            </a:solidFill>
            <a:effectLst/>
          </c:spPr>
          <c:invertIfNegative val="0"/>
          <c:dLbls>
            <c:numFmt formatCode="$#,##0.0,,&quot;M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C5458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FY15</c:v>
                  </c:pt>
                  <c:pt idx="1">
                    <c:v>FY16</c:v>
                  </c:pt>
                  <c:pt idx="2">
                    <c:v>FY17</c:v>
                  </c:pt>
                  <c:pt idx="3">
                    <c:v>FY18</c:v>
                  </c:pt>
                  <c:pt idx="4">
                    <c:v>FY19</c:v>
                  </c:pt>
                  <c:pt idx="5">
                    <c:v>FY20</c:v>
                  </c:pt>
                  <c:pt idx="6">
                    <c:v>FY21</c:v>
                  </c:pt>
                  <c:pt idx="7">
                    <c:v>FY22</c:v>
                  </c:pt>
                  <c:pt idx="8">
                    <c:v>FY23</c:v>
                  </c:pt>
                  <c:pt idx="9">
                    <c:v>FY24</c:v>
                  </c:pt>
                  <c:pt idx="10">
                    <c:v>FY25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265038</c:v>
                </c:pt>
                <c:pt idx="10">
                  <c:v>220861</c:v>
                </c:pt>
              </c:numCache>
            </c:numRef>
          </c:val>
        </c:ser>
        <c:dLbls>
          <c:numFmt formatCode="$#,##0.0,,&quot;M&quot;" sourceLinked="0"/>
          <c:txPr>
            <a:bodyPr/>
            <a:lstStyle/>
            <a:p>
              <a:pPr>
                <a:defRPr b="0" i="0" strike="noStrike" sz="800" u="none">
                  <a:solidFill>
                    <a:srgbClr val="5C5458"/>
                  </a:solidFill>
                  <a:latin typeface="+mn-lt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545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6E2E4"/>
              </a:solidFill>
              <a:prstDash val="solid"/>
              <a:round/>
            </a:ln>
          </c:spPr>
        </c:majorGridlines>
        <c:numFmt formatCode="$#,##0.0,,&quot;M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545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5C545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OVSJG (DC local)</c:v>
                </c:pt>
              </c:strCache>
            </c:strRef>
          </c:tx>
          <c:spPr>
            <a:solidFill>
              <a:srgbClr val="A03F7E"/>
            </a:solidFill>
            <a:effectLst/>
          </c:spPr>
          <c:invertIfNegative val="0"/>
          <c:dLbls>
            <c:numFmt formatCode="$#,##0.0,,&quot;M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C5458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660935</c:v>
                </c:pt>
                <c:pt idx="1">
                  <c:v>368935</c:v>
                </c:pt>
                <c:pt idx="2">
                  <c:v>368935</c:v>
                </c:pt>
                <c:pt idx="3">
                  <c:v>468435</c:v>
                </c:pt>
                <c:pt idx="4">
                  <c:v>841040</c:v>
                </c:pt>
                <c:pt idx="5">
                  <c:v>913401</c:v>
                </c:pt>
                <c:pt idx="6">
                  <c:v>998278</c:v>
                </c:pt>
                <c:pt idx="7">
                  <c:v>1050651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HUD CoC via TCP (federal)</c:v>
                </c:pt>
              </c:strCache>
            </c:strRef>
          </c:tx>
          <c:spPr>
            <a:solidFill>
              <a:srgbClr val="0F9ACB"/>
            </a:solidFill>
            <a:effectLst/>
          </c:spPr>
          <c:invertIfNegative val="0"/>
          <c:dLbls>
            <c:numFmt formatCode="$#,##0.0,,&quot;M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C5458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239659</c:v>
                </c:pt>
                <c:pt idx="1">
                  <c:v>248131</c:v>
                </c:pt>
                <c:pt idx="2">
                  <c:v>1472398</c:v>
                </c:pt>
                <c:pt idx="3">
                  <c:v>672065</c:v>
                </c:pt>
                <c:pt idx="4">
                  <c:v>1151540</c:v>
                </c:pt>
                <c:pt idx="5">
                  <c:v>1761352</c:v>
                </c:pt>
                <c:pt idx="6">
                  <c:v>1766814</c:v>
                </c:pt>
                <c:pt idx="7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DHS via TCP (DC local)</c:v>
                </c:pt>
              </c:strCache>
            </c:strRef>
          </c:tx>
          <c:spPr>
            <a:solidFill>
              <a:srgbClr val="B8810C"/>
            </a:solidFill>
            <a:effectLst/>
          </c:spPr>
          <c:invertIfNegative val="0"/>
          <c:dLbls>
            <c:numFmt formatCode="$#,##0.0,,&quot;M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C5458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1423664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Other federal pass-through</c:v>
                </c:pt>
              </c:strCache>
            </c:strRef>
          </c:tx>
          <c:spPr>
            <a:solidFill>
              <a:srgbClr val="3B6FD8"/>
            </a:solidFill>
            <a:effectLst/>
          </c:spPr>
          <c:invertIfNegative val="0"/>
          <c:dLbls>
            <c:numFmt formatCode="$#,##0.0,,&quot;M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C5458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68003</c:v>
                </c:pt>
                <c:pt idx="4">
                  <c:v>106673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dLbls>
          <c:numFmt formatCode="$#,##0.0,,&quot;M&quot;" sourceLinked="0"/>
          <c:txPr>
            <a:bodyPr/>
            <a:lstStyle/>
            <a:p>
              <a:pPr>
                <a:defRPr b="0" i="0" strike="noStrike" sz="800" u="none">
                  <a:solidFill>
                    <a:srgbClr val="5C5458"/>
                  </a:solidFill>
                  <a:latin typeface="+mn-lt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545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6E2E4"/>
              </a:solidFill>
              <a:prstDash val="solid"/>
              <a:round/>
            </a:ln>
          </c:spPr>
        </c:majorGridlines>
        <c:numFmt formatCode="$#,##0.0,,&quot;M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545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5C545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Filed grants TY2020–24</c:v>
                </c:pt>
              </c:strCache>
            </c:strRef>
          </c:tx>
          <c:spPr>
            <a:solidFill>
              <a:srgbClr val="B8810C"/>
            </a:solidFill>
            <a:effectLst/>
          </c:spPr>
          <c:invertIfNegative val="0"/>
          <c:dLbls>
            <c:numFmt formatCode="$#,##0,&quot;K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C545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United Way Of The National Capital Area</c:v>
                  </c:pt>
                  <c:pt idx="1">
                    <c:v>Association Of American Medical Colleges</c:v>
                  </c:pt>
                  <c:pt idx="2">
                    <c:v>World Bank Community Connections Fund</c:v>
                  </c:pt>
                  <c:pt idx="3">
                    <c:v>Donor Advised Charitable Giving</c:v>
                  </c:pt>
                  <c:pt idx="4">
                    <c:v>William S Abell Foundation</c:v>
                  </c:pt>
                  <c:pt idx="5">
                    <c:v>Fidelity Investments Charitable Gift Fund</c:v>
                  </c:pt>
                  <c:pt idx="6">
                    <c:v>Leafglen Foundation</c:v>
                  </c:pt>
                  <c:pt idx="7">
                    <c:v>Morris And Gwendolyn Cafritz Foundation</c:v>
                  </c:pt>
                  <c:pt idx="8">
                    <c:v>American Online Giving Foundation</c:v>
                  </c:pt>
                  <c:pt idx="9">
                    <c:v>Greater Washington Community Foundation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89549</c:v>
                </c:pt>
                <c:pt idx="1">
                  <c:v>91500</c:v>
                </c:pt>
                <c:pt idx="2">
                  <c:v>100000</c:v>
                </c:pt>
                <c:pt idx="3">
                  <c:v>128155</c:v>
                </c:pt>
                <c:pt idx="4">
                  <c:v>295000</c:v>
                </c:pt>
                <c:pt idx="5">
                  <c:v>314317</c:v>
                </c:pt>
                <c:pt idx="6">
                  <c:v>330000</c:v>
                </c:pt>
                <c:pt idx="7">
                  <c:v>450000</c:v>
                </c:pt>
                <c:pt idx="8">
                  <c:v>511616</c:v>
                </c:pt>
                <c:pt idx="9">
                  <c:v>1206500</c:v>
                </c:pt>
              </c:numCache>
            </c:numRef>
          </c:val>
        </c:ser>
        <c:dLbls>
          <c:numFmt formatCode="$#,##0,&quot;K&quot;" sourceLinked="0"/>
          <c:txPr>
            <a:bodyPr/>
            <a:lstStyle/>
            <a:p>
              <a:pPr>
                <a:defRPr b="0" i="0" strike="noStrike" sz="800" u="none">
                  <a:solidFill>
                    <a:srgbClr val="5C545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545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E6E2E4"/>
              </a:solidFill>
              <a:prstDash val="solid"/>
              <a:round/>
            </a:ln>
          </c:spPr>
        </c:majorGridlines>
        <c:numFmt formatCode="$#,##0,&quot;K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545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Known award ceilings (OVSJG + CoC + DHS + other)</c:v>
                </c:pt>
              </c:strCache>
            </c:strRef>
          </c:tx>
          <c:spPr>
            <a:solidFill>
              <a:srgbClr val="B9B2B6"/>
            </a:solidFill>
            <a:effectLst/>
          </c:spPr>
          <c:invertIfNegative val="0"/>
          <c:dLbls>
            <c:numFmt formatCode="$#,##0.0,,&quot;M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C545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FY24</c:v>
                  </c:pt>
                  <c:pt idx="1">
                    <c:v>FY25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3595278</c:v>
                </c:pt>
                <c:pt idx="1">
                  <c:v>4289967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Recognized government revenue (990 line 1e)</c:v>
                </c:pt>
              </c:strCache>
            </c:strRef>
          </c:tx>
          <c:spPr>
            <a:solidFill>
              <a:srgbClr val="A03F7E"/>
            </a:solidFill>
            <a:effectLst/>
          </c:spPr>
          <c:invertIfNegative val="0"/>
          <c:dLbls>
            <c:numFmt formatCode="$#,##0.0,,&quot;M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C545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FY24</c:v>
                  </c:pt>
                  <c:pt idx="1">
                    <c:v>FY25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2621203</c:v>
                </c:pt>
                <c:pt idx="1">
                  <c:v>2892598</c:v>
                </c:pt>
              </c:numCache>
            </c:numRef>
          </c:val>
        </c:ser>
        <c:dLbls>
          <c:numFmt formatCode="$#,##0.0,,&quot;M&quot;" sourceLinked="0"/>
          <c:txPr>
            <a:bodyPr/>
            <a:lstStyle/>
            <a:p>
              <a:pPr>
                <a:defRPr b="0" i="0" strike="noStrike" sz="800" u="none">
                  <a:solidFill>
                    <a:srgbClr val="5C545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545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6E2E4"/>
              </a:solidFill>
              <a:prstDash val="solid"/>
              <a:round/>
            </a:ln>
          </c:spPr>
        </c:majorGridlines>
        <c:numFmt formatCode="$#,##0.0,,&quot;M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545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5C545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Institutional grants ÷ revenue, 2020–24</c:v>
                </c:pt>
              </c:strCache>
            </c:strRef>
          </c:tx>
          <c:spPr>
            <a:solidFill>
              <a:srgbClr val="B8810C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C545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Sheet1!$A$2:$A$21</c:f>
              <c:multiLvlStrCache>
                <c:ptCount val="20"/>
                <c:lvl>
                  <c:pt idx="0">
                    <c:v>DWC (Los Angeles)</c:v>
                  </c:pt>
                  <c:pt idx="1">
                    <c:v>Coalition for the Homeless</c:v>
                  </c:pt>
                  <c:pt idx="2">
                    <c:v>Community of Hope</c:v>
                  </c:pt>
                  <c:pt idx="3">
                    <c:v>Everyone Home DC</c:v>
                  </c:pt>
                  <c:pt idx="4">
                    <c:v>Open Arms Housing</c:v>
                  </c:pt>
                  <c:pt idx="5">
                    <c:v>Covenant House DC</c:v>
                  </c:pt>
                  <c:pt idx="6">
                    <c:v>DC SAFE</c:v>
                  </c:pt>
                  <c:pt idx="7">
                    <c:v>DASH</c:v>
                  </c:pt>
                  <c:pt idx="8">
                    <c:v>Thrive DC</c:v>
                  </c:pt>
                  <c:pt idx="9">
                    <c:v>Christ House</c:v>
                  </c:pt>
                  <c:pt idx="10">
                    <c:v>New Endeavors by Women</c:v>
                  </c:pt>
                  <c:pt idx="11">
                    <c:v>N Street Village</c:v>
                  </c:pt>
                  <c:pt idx="12">
                    <c:v>Doorways (VA)</c:v>
                  </c:pt>
                  <c:pt idx="13">
                    <c:v>My Sister's Place</c:v>
                  </c:pt>
                  <c:pt idx="14">
                    <c:v>House of Ruth DC</c:v>
                  </c:pt>
                  <c:pt idx="15">
                    <c:v>House of Ruth MD</c:v>
                  </c:pt>
                  <c:pt idx="16">
                    <c:v>Heartly House (MD)</c:v>
                  </c:pt>
                  <c:pt idx="17">
                    <c:v>Miriam's Kitchen</c:v>
                  </c:pt>
                  <c:pt idx="18">
                    <c:v>Calvary</c:v>
                  </c:pt>
                  <c:pt idx="19">
                    <c:v>Samaritan Inns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0.0017034453788240906</c:v>
                </c:pt>
                <c:pt idx="1">
                  <c:v>0.0064254365506672545</c:v>
                </c:pt>
                <c:pt idx="2">
                  <c:v>0.013933281317835661</c:v>
                </c:pt>
                <c:pt idx="3">
                  <c:v>0.01786944629682721</c:v>
                </c:pt>
                <c:pt idx="4">
                  <c:v>0.025359914564161676</c:v>
                </c:pt>
                <c:pt idx="5">
                  <c:v>0.026667280639444</c:v>
                </c:pt>
                <c:pt idx="6">
                  <c:v>0.028556583884120783</c:v>
                </c:pt>
                <c:pt idx="7">
                  <c:v>0.046727753966249536</c:v>
                </c:pt>
                <c:pt idx="8">
                  <c:v>0.05053573048820192</c:v>
                </c:pt>
                <c:pt idx="9">
                  <c:v>0.0510634042063527</c:v>
                </c:pt>
                <c:pt idx="10">
                  <c:v>0.0610725705017268</c:v>
                </c:pt>
                <c:pt idx="11">
                  <c:v>0.06448252267815789</c:v>
                </c:pt>
                <c:pt idx="12">
                  <c:v>0.07162907637971937</c:v>
                </c:pt>
                <c:pt idx="13">
                  <c:v>0.07576576567177302</c:v>
                </c:pt>
                <c:pt idx="14">
                  <c:v>0.07707970031580223</c:v>
                </c:pt>
                <c:pt idx="15">
                  <c:v>0.08374297860012937</c:v>
                </c:pt>
                <c:pt idx="16">
                  <c:v>0.10308188164280643</c:v>
                </c:pt>
                <c:pt idx="17">
                  <c:v>0.11337780144175104</c:v>
                </c:pt>
                <c:pt idx="18">
                  <c:v>0.12421378928933748</c:v>
                </c:pt>
                <c:pt idx="19">
                  <c:v>0.2655745348038456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800" u="none">
                  <a:solidFill>
                    <a:srgbClr val="5C545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545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E6E2E4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545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Core peers funded (of 18)</c:v>
                </c:pt>
              </c:strCache>
            </c:strRef>
          </c:tx>
          <c:spPr>
            <a:solidFill>
              <a:srgbClr val="B8810C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C545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The Washington Home</c:v>
                  </c:pt>
                  <c:pt idx="1">
                    <c:v>Diane &amp; Norman Bernstein Foundation</c:v>
                  </c:pt>
                  <c:pt idx="2">
                    <c:v>Naomi And Nehemiah Cohen Foundation…</c:v>
                  </c:pt>
                  <c:pt idx="3">
                    <c:v>Brendan &amp; Helen Bechtel Foundation</c:v>
                  </c:pt>
                  <c:pt idx="4">
                    <c:v>Bunting Family Foundation</c:v>
                  </c:pt>
                  <c:pt idx="5">
                    <c:v>Robert I Schattner Foundation</c:v>
                  </c:pt>
                  <c:pt idx="6">
                    <c:v>Give Lively Foundation</c:v>
                  </c:pt>
                  <c:pt idx="7">
                    <c:v>Clark Charitable Foundation</c:v>
                  </c:pt>
                  <c:pt idx="8">
                    <c:v>Jpmorgan Chase Foundation</c:v>
                  </c:pt>
                  <c:pt idx="9">
                    <c:v>Americas Charities</c:v>
                  </c:pt>
                  <c:pt idx="10">
                    <c:v>Capital Area Food Bank</c:v>
                  </c:pt>
                  <c:pt idx="11">
                    <c:v>Gifts For The Homeless</c:v>
                  </c:pt>
                  <c:pt idx="12">
                    <c:v>T Rowe Price Program For Charitable Giving</c:v>
                  </c:pt>
                  <c:pt idx="13">
                    <c:v>Venable Baetjer And Howard Foundation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5</c:v>
                </c:pt>
                <c:pt idx="7">
                  <c:v>5</c:v>
                </c:pt>
                <c:pt idx="8">
                  <c:v>7</c:v>
                </c:pt>
                <c:pt idx="9">
                  <c:v>7</c:v>
                </c:pt>
                <c:pt idx="10">
                  <c:v>7</c:v>
                </c:pt>
                <c:pt idx="11">
                  <c:v>8</c:v>
                </c:pt>
                <c:pt idx="12">
                  <c:v>8</c:v>
                </c:pt>
                <c:pt idx="13">
                  <c:v>10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800" u="none">
                  <a:solidFill>
                    <a:srgbClr val="5C545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545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E6E2E4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545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DMV institutional grants naming the area, $/yr</c:v>
                </c:pt>
              </c:strCache>
            </c:strRef>
          </c:tx>
          <c:spPr>
            <a:solidFill>
              <a:srgbClr val="B8810C"/>
            </a:solidFill>
            <a:effectLst/>
          </c:spPr>
          <c:invertIfNegative val="0"/>
          <c:dLbls>
            <c:numFmt formatCode="$#,##0,,&quot;M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C545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Maternal and family health (far)</c:v>
                  </c:pt>
                  <c:pt idx="1">
                    <c:v>Reentry and justice-involved women (medium)</c:v>
                  </c:pt>
                  <c:pt idx="2">
                    <c:v>Women veterans (medium)</c:v>
                  </c:pt>
                  <c:pt idx="3">
                    <c:v>Aging and older adults (medium)</c:v>
                  </c:pt>
                  <c:pt idx="4">
                    <c:v>Physical health (medium)</c:v>
                  </c:pt>
                  <c:pt idx="5">
                    <c:v>Domestic violence and victim services (near)</c:v>
                  </c:pt>
                  <c:pt idx="6">
                    <c:v>Behavioral health and recovery (near)</c:v>
                  </c:pt>
                  <c:pt idx="7">
                    <c:v>Workforce and employment (near)</c:v>
                  </c:pt>
                  <c:pt idx="8">
                    <c:v>Housing and homelessness (core)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4206081.2</c:v>
                </c:pt>
                <c:pt idx="1">
                  <c:v>1021957.6</c:v>
                </c:pt>
                <c:pt idx="2">
                  <c:v>7686391.4</c:v>
                </c:pt>
                <c:pt idx="3">
                  <c:v>9733560.6</c:v>
                </c:pt>
                <c:pt idx="4">
                  <c:v>84151297.2</c:v>
                </c:pt>
                <c:pt idx="5">
                  <c:v>4462098.2</c:v>
                </c:pt>
                <c:pt idx="6">
                  <c:v>20685130.2</c:v>
                </c:pt>
                <c:pt idx="7">
                  <c:v>30396443.2</c:v>
                </c:pt>
                <c:pt idx="8">
                  <c:v>32368511.2</c:v>
                </c:pt>
              </c:numCache>
            </c:numRef>
          </c:val>
        </c:ser>
        <c:dLbls>
          <c:numFmt formatCode="$#,##0,,&quot;M&quot;" sourceLinked="0"/>
          <c:txPr>
            <a:bodyPr/>
            <a:lstStyle/>
            <a:p>
              <a:pPr>
                <a:defRPr b="0" i="0" strike="noStrike" sz="800" u="none">
                  <a:solidFill>
                    <a:srgbClr val="5C545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545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E6E2E4"/>
              </a:solidFill>
              <a:prstDash val="solid"/>
              <a:round/>
            </a:ln>
          </c:spPr>
        </c:majorGridlines>
        <c:numFmt formatCode="$#,##0,,&quot;M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545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412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168335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Title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816833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FFDD7F"/>
                </a:solidFill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FFDD7F"/>
                </a:solidFill>
              </a:rPr>
              <a:t>Subtitle</a:t>
            </a:r>
            <a:endParaRPr lang="en-US" sz="1700" dirty="0"/>
          </a:p>
        </p:txBody>
      </p:sp>
      <p:pic>
        <p:nvPicPr>
          <p:cNvPr id="4" name="Image 0" descr="Calvary Women's Service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4095" y="4572000"/>
            <a:ext cx="3657600" cy="2286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8640" y="6126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488"/>
                </a:solidFill>
              </a:rPr>
              <a:t>Prepared with public data as of 2026-10-10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412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Section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10944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FFDD7F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FFDD7F"/>
                </a:solidFill>
              </a:rPr>
              <a:t>Takeaway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100" b="1" dirty="0">
                <a:solidFill>
                  <a:srgbClr val="41242F"/>
                </a:solidFill>
              </a:defRPr>
            </a:lvl1pPr>
          </a:lstStyle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Headline</a:t>
            </a:r>
            <a:endParaRPr lang="en-US" sz="2100" dirty="0"/>
          </a:p>
        </p:txBody>
      </p:sp>
      <p:pic>
        <p:nvPicPr>
          <p:cNvPr id="3" name="Image 0" descr="Calvary Women's Service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5735" y="5989320"/>
            <a:ext cx="1234440" cy="7863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1683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Calvary's funding today, and the opportunities ahead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81683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DD7F"/>
                </a:solidFill>
              </a:rPr>
              <a:t>A pro bono look at Calvary Women's Services' public and private funding, built from public records, for discussion with leadership and the board.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Calvary has become a system-level provider whose funding needs a better shape and a deeper cushion, not a smaller share.</a:t>
            </a:r>
            <a:endParaRPr lang="en-US" sz="2100" dirty="0"/>
          </a:p>
        </p:txBody>
      </p:sp>
      <p:sp>
        <p:nvSpPr>
          <p:cNvPr id="3" name="claims"/>
          <p:cNvSpPr txBox="1"/>
          <p:nvPr/>
        </p:nvSpPr>
        <p:spPr>
          <a:xfrm>
            <a:off x="548640" y="1463040"/>
            <a:ext cx="110944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41242F"/>
                </a:solidFill>
              </a:rPr>
              <a:t>Situation: Calvary has built a stronger organization, funded mostly by public partners.</a:t>
            </a:r>
            <a:endParaRPr lang="en-US" sz="18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F1B1D"/>
                </a:solidFill>
              </a:rPr>
              <a:t>Revenue up 59% in real terms FY19→FY25; inventory 68 → 124 beds, 6.8% of DC's transitional-housing beds</a:t>
            </a:r>
            <a:endParaRPr lang="en-US" sz="18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F1B1D"/>
                </a:solidFill>
              </a:rPr>
              <a:t>Public funding is about half of revenue (53% FY22–24), typical for DC peers (11th of 19)</a:t>
            </a:r>
            <a:endParaRPr lang="en-US" sz="1800" dirty="0"/>
          </a:p>
          <a:p>
            <a:pPr indent="0" marL="0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41242F"/>
                </a:solidFill>
              </a:rPr>
              <a:t>Complication: the money arrives in a concentrated shape, private support has held flat, and FY25 thinned the cushion.</a:t>
            </a:r>
            <a:endParaRPr lang="en-US" sz="18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F1B1D"/>
                </a:solidFill>
              </a:rPr>
              <a:t>Three public streams, two through TCP, carry 74% of a $4.1M award base; the DHS contract is the largest and least documented</a:t>
            </a:r>
            <a:endParaRPr lang="en-US" sz="18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F1B1D"/>
                </a:solidFill>
              </a:rPr>
              <a:t>Foundation grants steady at ~$1M a year, one partner 27%; FY25: −$607K, event income −$483K, 4.4 months of cash</a:t>
            </a:r>
            <a:endParaRPr lang="en-US" sz="18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F1B1D"/>
                </a:solidFill>
              </a:rPr>
              <a:t>Calvary recognized only about two-thirds of its known award ceilings as revenue in FY24–25</a:t>
            </a:r>
            <a:endParaRPr lang="en-US" sz="1800" dirty="0"/>
          </a:p>
          <a:p>
            <a:pPr indent="0" marL="0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41242F"/>
                </a:solidFill>
              </a:rPr>
              <a:t>Resolution: draw every awarded dollar, grow private support alongside the public base, and hold a reserve.</a:t>
            </a:r>
            <a:endParaRPr lang="en-US" sz="18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F1B1D"/>
                </a:solidFill>
              </a:rPr>
              <a:t>A 90-day plan on four fronts with eleven Tier 1 targets: upgrade GWCF, Cafritz, Abell, Fowler; open Clark, Schattner; confirm the TCP contracts</a:t>
            </a:r>
            <a:endParaRPr lang="en-US" sz="18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F1B1D"/>
                </a:solidFill>
              </a:rPr>
              <a:t>Target: private revenue from ~$2.1M to ~$3M in three years, a six-month reserve, and workforce / behavioral-health formalization</a:t>
            </a:r>
            <a:endParaRPr lang="en-US" sz="18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F1B1D"/>
                </a:solidFill>
              </a:rPr>
              <a:t>What we need from you: reactions, the FY24–25 audits, the TCP agreements, and the FY25 gala calendar</a:t>
            </a:r>
            <a:endParaRPr lang="en-US" sz="1800" dirty="0"/>
          </a:p>
        </p:txBody>
      </p:sp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all modules M1–M10; figures carry chart IDs on the slides that follow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Situation–Complication–Resolution; bold lines are the argument, bullets the evidence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m1_01, m2_01, m2_07, m7_00 · data as of 2026-10-10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In five years Calvary has grown revenue 59% in real terms and its housing inventory to 124 beds.</a:t>
            </a:r>
            <a:endParaRPr lang="en-US" sz="2100" dirty="0"/>
          </a:p>
        </p:txBody>
      </p:sp>
      <p:sp>
        <p:nvSpPr>
          <p:cNvPr id="3" name="tile Real revenue growth FY19 → FY25 ($2.49M → $4.97M, 2024 dollars)"/>
          <p:cNvSpPr/>
          <p:nvPr/>
        </p:nvSpPr>
        <p:spPr>
          <a:xfrm>
            <a:off x="548640" y="1600200"/>
            <a:ext cx="2567864" cy="219456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2202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41242F"/>
                </a:solidFill>
              </a:rPr>
              <a:t>+59%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743200"/>
            <a:ext cx="2202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5458"/>
                </a:solidFill>
              </a:rPr>
              <a:t>Real revenue growth FY19 → FY25 ($2.49M → $4.97M, 2024 dollars)</a:t>
            </a:r>
            <a:endParaRPr lang="en-US" sz="1150" dirty="0"/>
          </a:p>
        </p:txBody>
      </p:sp>
      <p:sp>
        <p:nvSpPr>
          <p:cNvPr id="6" name="tile Housing inventory 2025, up from 68 in 2022; 6.8% of DC's transitional-housing beds (2.5% in 2022)"/>
          <p:cNvSpPr/>
          <p:nvPr/>
        </p:nvSpPr>
        <p:spPr>
          <a:xfrm>
            <a:off x="3390824" y="1600200"/>
            <a:ext cx="2567864" cy="219456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73704" y="1737360"/>
            <a:ext cx="2202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41242F"/>
                </a:solidFill>
              </a:rPr>
              <a:t>124 beds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3573704" y="2743200"/>
            <a:ext cx="2202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5458"/>
                </a:solidFill>
              </a:rPr>
              <a:t>Housing inventory 2025, up from 68 in 2022; 6.8% of DC's transitional-housing beds (2.5% in 2022)</a:t>
            </a:r>
            <a:endParaRPr lang="en-US" sz="1150" dirty="0"/>
          </a:p>
        </p:txBody>
      </p:sp>
      <p:sp>
        <p:nvSpPr>
          <p:cNvPr id="9" name="tile Public partners: DC OVSJG, HUD Continuum of Care via TCP, DC DHS via TCP"/>
          <p:cNvSpPr/>
          <p:nvPr/>
        </p:nvSpPr>
        <p:spPr>
          <a:xfrm>
            <a:off x="6233008" y="1600200"/>
            <a:ext cx="2567864" cy="219456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15888" y="1737360"/>
            <a:ext cx="2202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41242F"/>
                </a:solidFill>
              </a:rPr>
              <a:t>3 streams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415888" y="2743200"/>
            <a:ext cx="2202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5458"/>
                </a:solidFill>
              </a:rPr>
              <a:t>Public partners: DC OVSJG, HUD Continuum of Care via TCP, DC DHS via TCP</a:t>
            </a:r>
            <a:endParaRPr lang="en-US" sz="1150" dirty="0"/>
          </a:p>
        </p:txBody>
      </p:sp>
      <p:sp>
        <p:nvSpPr>
          <p:cNvPr id="12" name="tile Foundations and donor-advised sponsors with filed grants to Calvary, TY2020–24"/>
          <p:cNvSpPr/>
          <p:nvPr/>
        </p:nvSpPr>
        <p:spPr>
          <a:xfrm>
            <a:off x="9075191" y="1600200"/>
            <a:ext cx="2567864" cy="219456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58071" y="1737360"/>
            <a:ext cx="2202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41242F"/>
                </a:solidFill>
              </a:rPr>
              <a:t>50 funders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9258071" y="2743200"/>
            <a:ext cx="2202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5458"/>
                </a:solidFill>
              </a:rPr>
              <a:t>Foundations and donor-advised sponsors with filed grants to Calvary, TY2020–24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1148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1D"/>
                </a:solidFill>
              </a:rPr>
              <a:t>Calvary did this while serving the two wards with the deepest need in the city: Ward 8's poverty rate is 31% against 15% citywide, and a third of renters in Wards 7 and 8 pay more than half their income in rent.</a:t>
            </a:r>
            <a:endParaRPr lang="en-US" sz="1500" dirty="0"/>
          </a:p>
        </p:txBody>
      </p:sp>
      <p:sp>
        <p:nvSpPr>
          <p:cNvPr id="16" name="bumper"/>
          <p:cNvSpPr txBox="1"/>
          <p:nvPr/>
        </p:nvSpPr>
        <p:spPr>
          <a:xfrm>
            <a:off x="548640" y="5669280"/>
            <a:ext cx="9265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41242F"/>
                </a:solidFill>
              </a:rPr>
              <a:t>Implication: </a:t>
            </a:r>
            <a:pPr indent="0" marL="0">
              <a:buNone/>
            </a:pPr>
            <a:r>
              <a:rPr lang="en-US" sz="1100" i="1" dirty="0">
                <a:solidFill>
                  <a:srgbClr val="41242F"/>
                </a:solidFill>
              </a:rPr>
              <a:t>the case for Calvary to funders is strong and quantified, and the question is how to fund the next five years as well as the last five.</a:t>
            </a:r>
            <a:endParaRPr lang="en-US" sz="1100" dirty="0"/>
          </a:p>
        </p:txBody>
      </p:sp>
      <p:sp>
        <p:nvSpPr>
          <p:cNvPr id="17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IRS Form 990 returns FY2011–FY2025 (GivingTuesday / ProPublica / IRS SOI) in fact_org_financials; HUD Housing Inventory Count 2022–2025 in supp_hic_projects; ACS 2020–24 by ward in dim_geo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revenue deflated with CPI-U to 2024 dollars; beds = HIC total_beds for Calvary projects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m1_01, m9_03, m9_01 · data as of 2026-10-10 · method note A1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Public partners funded most of that growth and now provide about half of revenue, typical for DC peers.</a:t>
            </a:r>
            <a:endParaRPr lang="en-US" sz="21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600200"/>
          <a:ext cx="73152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What the chart says"/>
          <p:cNvSpPr/>
          <p:nvPr/>
        </p:nvSpPr>
        <p:spPr>
          <a:xfrm>
            <a:off x="8138160" y="1600200"/>
            <a:ext cx="3504895" cy="3977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321040" y="1737360"/>
            <a:ext cx="3139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What the chart says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2240280"/>
            <a:ext cx="31391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41242F"/>
                </a:solidFill>
              </a:rPr>
              <a:t>The share is typical.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Government ran 40–61% every year since FY15; 53% on average for FY22–24.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11th of 19 DC-area organizations; 57th percentile of DC's human-services sector.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41242F"/>
                </a:solidFill>
              </a:rPr>
              <a:t>Growth came with it.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The FY22 spike was a one-time $3.68M award to buy the New Foundations building.</a:t>
            </a:r>
            <a:endParaRPr lang="en-US" sz="1150" dirty="0"/>
          </a:p>
        </p:txBody>
      </p:sp>
      <p:sp>
        <p:nvSpPr>
          <p:cNvPr id="7" name="bumper"/>
          <p:cNvSpPr txBox="1"/>
          <p:nvPr/>
        </p:nvSpPr>
        <p:spPr>
          <a:xfrm>
            <a:off x="548640" y="5669280"/>
            <a:ext cx="9265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41242F"/>
                </a:solidFill>
              </a:rPr>
              <a:t>Implication: </a:t>
            </a:r>
            <a:pPr indent="0" marL="0">
              <a:buNone/>
            </a:pPr>
            <a:r>
              <a:rPr lang="en-US" sz="1100" i="1" dirty="0">
                <a:solidFill>
                  <a:srgbClr val="41242F"/>
                </a:solidFill>
              </a:rPr>
              <a:t>the share itself is not the problem to solve, and the shape of the public money and the private base are.</a:t>
            </a:r>
            <a:endParaRPr lang="en-US" sz="1100" dirty="0"/>
          </a:p>
        </p:txBody>
      </p:sp>
      <p:sp>
        <p:nvSpPr>
          <p:cNvPr id="8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Calvary audited financial statements FY15–FY23 (government revenue) and IRS 990 returns, fact_org_financials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government share = audited government contracts and grants ÷ audited revenue; 990 line 1e ÷ 990 revenue for FY24–25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m1_02 · data as of 2026-10-10 · method note A1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question is the shape of the public money, since three streams, two through one intermediary, carry $4.1M a year.</a:t>
            </a:r>
            <a:endParaRPr lang="en-US" sz="21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600200"/>
          <a:ext cx="73152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Three channels, one hub"/>
          <p:cNvSpPr/>
          <p:nvPr/>
        </p:nvSpPr>
        <p:spPr>
          <a:xfrm>
            <a:off x="8138160" y="1600200"/>
            <a:ext cx="3504895" cy="3977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321040" y="1737360"/>
            <a:ext cx="3139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Three channels, one hub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2240280"/>
            <a:ext cx="31391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41242F"/>
                </a:solidFill>
              </a:rPr>
              <a:t>TCP carries 74% of the base.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HUD CoC via TCP: $0.24M (2019) → $1.77M (FY2025), three projects.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DHS via TCP: $1.42M in FY2024 (transitional housing $830K, Sisters Rise $593K); other years not public.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41242F"/>
                </a:solidFill>
              </a:rPr>
              <a:t>OVSJG is direct and growing.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$0.37M (FY20) → $1.05M (FY26), two transitional-housing grants.</a:t>
            </a:r>
            <a:endParaRPr lang="en-US" sz="1150" dirty="0"/>
          </a:p>
        </p:txBody>
      </p:sp>
      <p:sp>
        <p:nvSpPr>
          <p:cNvPr id="7" name="bumper"/>
          <p:cNvSpPr txBox="1"/>
          <p:nvPr/>
        </p:nvSpPr>
        <p:spPr>
          <a:xfrm>
            <a:off x="548640" y="5669280"/>
            <a:ext cx="9265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41242F"/>
                </a:solidFill>
              </a:rPr>
              <a:t>Implication: </a:t>
            </a:r>
            <a:pPr indent="0" marL="0">
              <a:buNone/>
            </a:pPr>
            <a:r>
              <a:rPr lang="en-US" sz="1100" i="1" dirty="0">
                <a:solidFill>
                  <a:srgbClr val="41242F"/>
                </a:solidFill>
              </a:rPr>
              <a:t>the relationship with TCP matters as much as any single program, and the DHS contract is the stream to document first.</a:t>
            </a:r>
            <a:endParaRPr lang="en-US" sz="1100" dirty="0"/>
          </a:p>
        </p:txBody>
      </p:sp>
      <p:sp>
        <p:nvSpPr>
          <p:cNvPr id="8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DC OVSJG award lists FY2019–2026; HUD CoC award lists (TCP as applicant); DC Council oversight responses FY2024; Calvary single audits — fact_gov_awards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one source per stream, never summed across sources; OVSJG and DHS by DC fiscal year, CoC by competition year; one-time awards excluded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m2_01 · data as of 2026-10-10 · method note A2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Private support has held steady near $1M a year in grants, with one partner providing more than a quarter.</a:t>
            </a:r>
            <a:endParaRPr lang="en-US" sz="21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600200"/>
          <a:ext cx="73152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Steady, and concentrated"/>
          <p:cNvSpPr/>
          <p:nvPr/>
        </p:nvSpPr>
        <p:spPr>
          <a:xfrm>
            <a:off x="8138160" y="1600200"/>
            <a:ext cx="3504895" cy="3977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321040" y="1737360"/>
            <a:ext cx="3139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Steady, and concentrated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2240280"/>
            <a:ext cx="31391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41242F"/>
                </a:solidFill>
              </a:rPr>
              <a:t>$0.64–1.17M a year from 26–29 funders.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Grants named in funders' own filings, TY2020–24.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41242F"/>
                </a:solidFill>
              </a:rPr>
              <a:t>One partner is 27%; the top five are 63%.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GWCF, including the time-limited Health Equity Fund.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Donor-advised sponsors (Benevity, Fidelity, Schwab) add $1.1M over five years: individual donors' money.</a:t>
            </a:r>
            <a:endParaRPr lang="en-US" sz="1150" dirty="0"/>
          </a:p>
        </p:txBody>
      </p:sp>
      <p:sp>
        <p:nvSpPr>
          <p:cNvPr id="7" name="bumper"/>
          <p:cNvSpPr txBox="1"/>
          <p:nvPr/>
        </p:nvSpPr>
        <p:spPr>
          <a:xfrm>
            <a:off x="548640" y="5669280"/>
            <a:ext cx="9265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41242F"/>
                </a:solidFill>
              </a:rPr>
              <a:t>Implication: </a:t>
            </a:r>
            <a:pPr indent="0" marL="0">
              <a:buNone/>
            </a:pPr>
            <a:r>
              <a:rPr lang="en-US" sz="1100" i="1" dirty="0">
                <a:solidFill>
                  <a:srgbClr val="41242F"/>
                </a:solidFill>
              </a:rPr>
              <a:t>the Health Equity Fund's finite life makes a successor conversation with GWCF timely, and the base needs more names and deeper grants.</a:t>
            </a:r>
            <a:endParaRPr lang="en-US" sz="1100" dirty="0"/>
          </a:p>
        </p:txBody>
      </p:sp>
      <p:sp>
        <p:nvSpPr>
          <p:cNvPr id="8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IRS 990-PF and Schedule I filings TY2020–24 naming Calvary (GivingTuesday / IRS e-file), fact_grants and dim_funder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non-cumulative rows, aggregated by funder EIN; TY2024 filings partly released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m1_07, m1_08 · data as of 2026-10-10 · method note A3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After a strong FY24, FY25 brought a $607K deficit, a $483K event-income drop, and 4.4 months of cash.</a:t>
            </a:r>
            <a:endParaRPr lang="en-US" sz="2100" dirty="0"/>
          </a:p>
        </p:txBody>
      </p:sp>
      <p:sp>
        <p:nvSpPr>
          <p:cNvPr id="3" name="tile FY25 operating result (revenue $4.97M, expenses $5.58M); FY24 was +$507K"/>
          <p:cNvSpPr/>
          <p:nvPr/>
        </p:nvSpPr>
        <p:spPr>
          <a:xfrm>
            <a:off x="548640" y="1600200"/>
            <a:ext cx="3515258" cy="219456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31494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B23A48"/>
                </a:solidFill>
              </a:rPr>
              <a:t>−$607K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743200"/>
            <a:ext cx="31494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5458"/>
                </a:solidFill>
              </a:rPr>
              <a:t>FY25 operating result (revenue $4.97M, expenses $5.58M); FY24 was +$507K</a:t>
            </a:r>
            <a:endParaRPr lang="en-US" sz="1150" dirty="0"/>
          </a:p>
        </p:txBody>
      </p:sp>
      <p:sp>
        <p:nvSpPr>
          <p:cNvPr id="6" name="tile Event contributions FY24 → FY25 (990 line 1c); net event income turned positive, so timing may explain part of it"/>
          <p:cNvSpPr/>
          <p:nvPr/>
        </p:nvSpPr>
        <p:spPr>
          <a:xfrm>
            <a:off x="4338218" y="1600200"/>
            <a:ext cx="3515258" cy="219456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1098" y="1737360"/>
            <a:ext cx="31494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1242F"/>
                </a:solidFill>
              </a:rPr>
              <a:t>$538K → $55K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521098" y="2743200"/>
            <a:ext cx="31494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5458"/>
                </a:solidFill>
              </a:rPr>
              <a:t>Event contributions FY24 → FY25 (990 line 1c); net event income turned positive, so timing may explain part of it</a:t>
            </a:r>
            <a:endParaRPr lang="en-US" sz="1150" dirty="0"/>
          </a:p>
        </p:txBody>
      </p:sp>
      <p:sp>
        <p:nvSpPr>
          <p:cNvPr id="9" name="tile Cash and savings ÷ monthly expenses at FY25 year-end, down from 7.5 months in FY21"/>
          <p:cNvSpPr/>
          <p:nvPr/>
        </p:nvSpPr>
        <p:spPr>
          <a:xfrm>
            <a:off x="8127797" y="1600200"/>
            <a:ext cx="3515258" cy="219456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10677" y="1737360"/>
            <a:ext cx="31494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41242F"/>
                </a:solidFill>
              </a:rPr>
              <a:t>4.4 months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8310677" y="2743200"/>
            <a:ext cx="31494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5458"/>
                </a:solidFill>
              </a:rPr>
              <a:t>Cash and savings ÷ monthly expenses at FY25 year-end, down from 7.5 months in FY21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1148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1D"/>
                </a:solidFill>
              </a:rPr>
              <a:t>These are clouds on the horizon rather than a verdict on the year: FY24 was unusually strong and the event line may be a calendar change. They do mean there is little room to absorb a public-funding shock.</a:t>
            </a:r>
            <a:endParaRPr lang="en-US" sz="1500" dirty="0"/>
          </a:p>
        </p:txBody>
      </p:sp>
      <p:sp>
        <p:nvSpPr>
          <p:cNvPr id="13" name="bumper"/>
          <p:cNvSpPr txBox="1"/>
          <p:nvPr/>
        </p:nvSpPr>
        <p:spPr>
          <a:xfrm>
            <a:off x="548640" y="5669280"/>
            <a:ext cx="9265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41242F"/>
                </a:solidFill>
              </a:rPr>
              <a:t>Implication: </a:t>
            </a:r>
            <a:pPr indent="0" marL="0">
              <a:buNone/>
            </a:pPr>
            <a:r>
              <a:rPr lang="en-US" sz="1100" i="1" dirty="0">
                <a:solidFill>
                  <a:srgbClr val="41242F"/>
                </a:solidFill>
              </a:rPr>
              <a:t>the plan that follows starts with cash and draw-down, because a thin cushion turns a survivable cut into a crisis.</a:t>
            </a:r>
            <a:endParaRPr lang="en-US" sz="1100" dirty="0"/>
          </a:p>
        </p:txBody>
      </p:sp>
      <p:sp>
        <p:nvSpPr>
          <p:cNvPr id="1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IRS 990 returns FY2021–FY2025, fact_org_financials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months of cash = cash_savings_eoy ÷ (total_expenses ÷ 12)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m1_04, m1_05, m1_06 · data as of 2026-10-10 · method note A1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The clouds on the horizon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DD7F"/>
                </a:solidFill>
              </a:rPr>
              <a:t>DC's budgets have held, the Council has restored every proposed cut, and the real risk sits in one channel.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DC's budgets behind Calvary's local funding have held through FY2027, but a cut is proposed every spring.</a:t>
            </a:r>
            <a:endParaRPr lang="en-US" sz="2100" dirty="0"/>
          </a:p>
        </p:txBody>
      </p:sp>
      <p:pic>
        <p:nvPicPr>
          <p:cNvPr id="3" name="m2_04_dc_budget_context" descr="charts/m2_04_dc_budget_con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250577" cy="3977640"/>
          </a:xfrm>
          <a:prstGeom prst="rect">
            <a:avLst/>
          </a:prstGeom>
        </p:spPr>
      </p:pic>
      <p:sp>
        <p:nvSpPr>
          <p:cNvPr id="4" name="card Stable pools, annual threat"/>
          <p:cNvSpPr/>
          <p:nvPr/>
        </p:nvSpPr>
        <p:spPr>
          <a:xfrm>
            <a:off x="8412480" y="1600200"/>
            <a:ext cx="3230575" cy="3977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595360" y="1737360"/>
            <a:ext cx="2864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Stable pools, annual threat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595360" y="2240280"/>
            <a:ext cx="286481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41242F"/>
                </a:solidFill>
              </a:rPr>
              <a:t>OVSJG Victim Services grants are flat at $55M.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$45.5M (FY24) → $55.9M (FY25) → $55.4M (FY26) → $55.3M (FY27) approved.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Mayor proposed −$5.8M (FY26) and −$5.6M (FY27); the Council restored both.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41242F"/>
                </a:solidFill>
              </a:rPr>
              <a:t>DHS homeless services rose.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$170M (FY24) → $206M (FY26) → $194M (FY27); actual OVSJG spending runs 9–14% under approved.</a:t>
            </a:r>
            <a:endParaRPr lang="en-US" sz="1100" dirty="0"/>
          </a:p>
        </p:txBody>
      </p:sp>
      <p:sp>
        <p:nvSpPr>
          <p:cNvPr id="7" name="bumper"/>
          <p:cNvSpPr txBox="1"/>
          <p:nvPr/>
        </p:nvSpPr>
        <p:spPr>
          <a:xfrm>
            <a:off x="548640" y="5669280"/>
            <a:ext cx="9265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41242F"/>
                </a:solidFill>
              </a:rPr>
              <a:t>Implication: </a:t>
            </a:r>
            <a:pPr indent="0" marL="0">
              <a:buNone/>
            </a:pPr>
            <a:r>
              <a:rPr lang="en-US" sz="1100" i="1" dirty="0">
                <a:solidFill>
                  <a:srgbClr val="41242F"/>
                </a:solidFill>
              </a:rPr>
              <a:t>the local risk is annual and political, which an advocacy calendar can manage, and it is not a structural decline.</a:t>
            </a:r>
            <a:endParaRPr lang="en-US" sz="1100" dirty="0"/>
          </a:p>
        </p:txBody>
      </p:sp>
      <p:sp>
        <p:nvSpPr>
          <p:cNvPr id="8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DC budget books FY2024–FY2027 (OCFO Schedule 30-PBB, agency chapters) and Council committee reports — supp_dc_budget_lines, fact_policy_events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activity-level totals by program code; approved vs actual vs Mayor's proposal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m2_04, m2_06 · data as of 2026-10-10 · method note A6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Calvary can absorb the headline cuts, but losing the DHS contract through TCP is the cloud to plan for.</a:t>
            </a:r>
            <a:endParaRPr lang="en-US" sz="2100" dirty="0"/>
          </a:p>
        </p:txBody>
      </p:sp>
      <p:graphicFrame>
        <p:nvGraphicFramePr>
          <p:cNvPr id="11" name="scenario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645920"/>
                <a:gridCol w="1463040"/>
                <a:gridCol w="173736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 (FY25 baseline)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loss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of revenue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Deficit (gross)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Months of cash after a year (net)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 FY25 (actual)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−$607K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OVSJG grants cut 10%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−$67K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−$675K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OVSJG grants cut 25%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−$168K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−$776K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HUD CoC renewals cut 15%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−$178K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−$785K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CoC project lost (New Foundations 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−$366K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−$973K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DHS/TCP contract not renewed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−$960K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−$1,567K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Combined (OVSJG -25%, CoC -15%, DHS lost)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−$1,306K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−$1,914K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206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5458"/>
                </a:solidFill>
              </a:rPr>
              <a:t>Reading: an OVSJG cut of the size proposed in FY26 costs about $67K; a lost DHS/TCP contract costs about $960K. The net column assumes half of a lost stream's revenue is avoidable cost. Even the baseline burns cash at about $50K a month.</a:t>
            </a:r>
            <a:endParaRPr lang="en-US" sz="1250" dirty="0"/>
          </a:p>
        </p:txBody>
      </p:sp>
      <p:sp>
        <p:nvSpPr>
          <p:cNvPr id="5" name="bumper"/>
          <p:cNvSpPr txBox="1"/>
          <p:nvPr/>
        </p:nvSpPr>
        <p:spPr>
          <a:xfrm>
            <a:off x="548640" y="5669280"/>
            <a:ext cx="9265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41242F"/>
                </a:solidFill>
              </a:rPr>
              <a:t>Implication: </a:t>
            </a:r>
            <a:pPr indent="0" marL="0">
              <a:buNone/>
            </a:pPr>
            <a:r>
              <a:rPr lang="en-US" sz="1100" i="1" dirty="0">
                <a:solidFill>
                  <a:srgbClr val="41242F"/>
                </a:solidFill>
              </a:rPr>
              <a:t>protect the TCP-channel contract first, and the OVSJG budget season is survivable with a reserve and a voice in the coalition.</a:t>
            </a:r>
            <a:endParaRPr lang="en-US" sz="1100" dirty="0"/>
          </a:p>
        </p:txBody>
      </p:sp>
      <p:sp>
        <p:nvSpPr>
          <p:cNvPr id="6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fact_gov_awards (award ceilings by stream) and fact_org_financials (FY25 990); parameters in config/scenarios.yaml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FY25 recognized government revenue apportioned to streams by FY-aligned award ceilings; cuts applied to the apportioned amounts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m2_07 · data as of 2026-10-10 · method note A4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Calvary recognized about two-thirds of its known award ceilings in FY24–25, the first place to look.</a:t>
            </a:r>
            <a:endParaRPr lang="en-US" sz="21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600200"/>
          <a:ext cx="73152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A question, not a finding"/>
          <p:cNvSpPr/>
          <p:nvPr/>
        </p:nvSpPr>
        <p:spPr>
          <a:xfrm>
            <a:off x="8138160" y="1600200"/>
            <a:ext cx="3504895" cy="3977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321040" y="1737360"/>
            <a:ext cx="3139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A question, not a finding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2240280"/>
            <a:ext cx="31391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41242F"/>
                </a:solidFill>
              </a:rPr>
              <a:t>FY24: $2.62M of $3.6M (73%). FY25: $2.89M of $4.3M (67%).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Ceilings are awards, not revenue: timing, draw rates and cost-reimbursement limits all lower the figure.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The DHS value is public for FY2024 only and is carried into FY25.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41242F"/>
                </a:solidFill>
              </a:rPr>
              <a:t>The audits would settle it.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Calvary's FY24 and FY25 audits and its TCP subgrant agreements answer this in an afternoon.</a:t>
            </a:r>
            <a:endParaRPr lang="en-US" sz="1150" dirty="0"/>
          </a:p>
        </p:txBody>
      </p:sp>
      <p:sp>
        <p:nvSpPr>
          <p:cNvPr id="7" name="bumper"/>
          <p:cNvSpPr txBox="1"/>
          <p:nvPr/>
        </p:nvSpPr>
        <p:spPr>
          <a:xfrm>
            <a:off x="548640" y="5669280"/>
            <a:ext cx="9265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41242F"/>
                </a:solidFill>
              </a:rPr>
              <a:t>Implication: </a:t>
            </a:r>
            <a:pPr indent="0" marL="0">
              <a:buNone/>
            </a:pPr>
            <a:r>
              <a:rPr lang="en-US" sz="1100" i="1" dirty="0">
                <a:solidFill>
                  <a:srgbClr val="41242F"/>
                </a:solidFill>
              </a:rPr>
              <a:t>undrawn awards are the cheapest revenue there is, and a draw-down reconciliation is the first task in the 90-day plan.</a:t>
            </a:r>
            <a:endParaRPr lang="en-US" sz="1100" dirty="0"/>
          </a:p>
        </p:txBody>
      </p:sp>
      <p:sp>
        <p:nvSpPr>
          <p:cNvPr id="8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fact_gov_awards aligned to Calvary's fiscal year (DC FY direct; HUD competition year lagged one year; DHS FY2024 carried forward); fact_org_financials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ratio = recognized government revenue ÷ sum of known award ceilings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m2_02 · data as of 2026-10-10 · method note A5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What peers show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DD7F"/>
                </a:solidFill>
              </a:rPr>
              <a:t>Organizations with Calvary's profile have grown on more than one model; the closest fit is to grow private support alongside a stable public base.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Peers show three workable paths, and N Street Village's, growing private support beside a stable public base, fits Calvary best.</a:t>
            </a:r>
            <a:endParaRPr lang="en-US" sz="2100" dirty="0"/>
          </a:p>
        </p:txBody>
      </p:sp>
      <p:pic>
        <p:nvPicPr>
          <p:cNvPr id="3" name="m3_08_case_studies_mix" descr="charts/m3_08_case_studies_m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280484" cy="3977640"/>
          </a:xfrm>
          <a:prstGeom prst="rect">
            <a:avLst/>
          </a:prstGeom>
        </p:spPr>
      </p:pic>
      <p:sp>
        <p:nvSpPr>
          <p:cNvPr id="4" name="card Three paths"/>
          <p:cNvSpPr/>
          <p:nvPr/>
        </p:nvSpPr>
        <p:spPr>
          <a:xfrm>
            <a:off x="8686800" y="1600200"/>
            <a:ext cx="2956255" cy="3977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869680" y="1737360"/>
            <a:ext cx="2590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Three paths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869680" y="2240280"/>
            <a:ext cx="259049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41242F"/>
                </a:solidFill>
              </a:rPr>
              <a:t>Samaritan Inns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Government 72% → 11% while revenue held, replaced by program revenue.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41242F"/>
                </a:solidFill>
              </a:rPr>
              <a:t>N Street Village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~40% government, grew on private money; 8 months of cash.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41242F"/>
                </a:solidFill>
              </a:rPr>
              <a:t>Miriam's Kitchen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Philanthropy-led, tripled since FY18.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41242F"/>
                </a:solidFill>
              </a:rPr>
              <a:t>DWC (LA)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Scaled 3× since 2018 with government rising to 57%, on 2–3 months of cash.</a:t>
            </a:r>
            <a:endParaRPr lang="en-US" sz="1100" dirty="0"/>
          </a:p>
        </p:txBody>
      </p:sp>
      <p:sp>
        <p:nvSpPr>
          <p:cNvPr id="7" name="bumper"/>
          <p:cNvSpPr txBox="1"/>
          <p:nvPr/>
        </p:nvSpPr>
        <p:spPr>
          <a:xfrm>
            <a:off x="548640" y="5669280"/>
            <a:ext cx="9265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41242F"/>
                </a:solidFill>
              </a:rPr>
              <a:t>Implication: </a:t>
            </a:r>
            <a:pPr indent="0" marL="0">
              <a:buNone/>
            </a:pPr>
            <a:r>
              <a:rPr lang="en-US" sz="1100" i="1" dirty="0">
                <a:solidFill>
                  <a:srgbClr val="41242F"/>
                </a:solidFill>
              </a:rPr>
              <a:t>the N Street Village path fits Calvary's model and size, and Samaritan Inns shows the earned-revenue option.</a:t>
            </a:r>
            <a:endParaRPr lang="en-US" sz="1100" dirty="0"/>
          </a:p>
        </p:txBody>
      </p:sp>
      <p:sp>
        <p:nvSpPr>
          <p:cNvPr id="8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IRS 990 returns of 18 provisional DC-area peers and 2 Los Angeles comparators, fact_org_financials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government = 990 line 1e; peers chosen for model similarity (config/core_peers.csv, provisional)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m3_08, m3_01 · data as of 2026-10-10 · method note B1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Calvary already works its foundation funders harder than most peers, so the headroom is deeper grants, donors and earned revenue.</a:t>
            </a:r>
            <a:endParaRPr lang="en-US" sz="21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600200"/>
          <a:ext cx="73152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Depth, not count"/>
          <p:cNvSpPr/>
          <p:nvPr/>
        </p:nvSpPr>
        <p:spPr>
          <a:xfrm>
            <a:off x="8138160" y="1600200"/>
            <a:ext cx="3504895" cy="3977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321040" y="1737360"/>
            <a:ext cx="3139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Depth, not count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2240280"/>
            <a:ext cx="31391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41242F"/>
                </a:solidFill>
              </a:rPr>
              <a:t>Calvary: 42 funders; grants equal to 12% of revenue.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Typical peer 6–8% (N Street Village, House of Ruth DC); only Samaritan Inns (27%) is far ahead.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41242F"/>
                </a:solidFill>
              </a:rPr>
              <a:t>Donor-advised funds are the gap.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25% of Calvary's filed grants vs 51% at N Street Village and 41% at Miriam's Kitchen.</a:t>
            </a:r>
            <a:endParaRPr lang="en-US" sz="1150" dirty="0"/>
          </a:p>
        </p:txBody>
      </p:sp>
      <p:sp>
        <p:nvSpPr>
          <p:cNvPr id="7" name="bumper"/>
          <p:cNvSpPr txBox="1"/>
          <p:nvPr/>
        </p:nvSpPr>
        <p:spPr>
          <a:xfrm>
            <a:off x="548640" y="5669280"/>
            <a:ext cx="9265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41242F"/>
                </a:solidFill>
              </a:rPr>
              <a:t>Implication: </a:t>
            </a:r>
            <a:pPr indent="0" marL="0">
              <a:buNone/>
            </a:pPr>
            <a:r>
              <a:rPr lang="en-US" sz="1100" i="1" dirty="0">
                <a:solidFill>
                  <a:srgbClr val="41242F"/>
                </a:solidFill>
              </a:rPr>
              <a:t>more applications have limited headroom, and bigger multi-year grants, a major-gifts program and billable program revenue are the levers.</a:t>
            </a:r>
            <a:endParaRPr lang="en-US" sz="1100" dirty="0"/>
          </a:p>
        </p:txBody>
      </p:sp>
      <p:sp>
        <p:nvSpPr>
          <p:cNvPr id="8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990-PF and Schedule I filings TY2020–24 naming each organization (fact_grants, dim_funder); 990 revenue FY2020–24 (fact_org_financials)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institutional = all funder types except DAF sponsors; DMV funders' filings only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m3_06 · data as of 2026-10-10 · method note B2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Where the opportunities are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DD7F"/>
                </a:solidFill>
              </a:rPr>
              <a:t>The money exists in DC's funder community, and most of it already flows to organizations that share Calvary's funders.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DMV funders give DC's sector $132M a year, and 23 of them already fund three or more of Calvary's peers.</a:t>
            </a:r>
            <a:endParaRPr lang="en-US" sz="21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600200"/>
          <a:ext cx="73152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Warm cold prospects"/>
          <p:cNvSpPr/>
          <p:nvPr/>
        </p:nvSpPr>
        <p:spPr>
          <a:xfrm>
            <a:off x="8138160" y="1600200"/>
            <a:ext cx="3504895" cy="3977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321040" y="1737360"/>
            <a:ext cx="3139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Warm cold prospects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2240280"/>
            <a:ext cx="31391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41242F"/>
                </a:solidFill>
              </a:rPr>
              <a:t>$660M flowed to DC's sector in TY2020–24, 58% via donor-advised funds.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41242F"/>
                </a:solidFill>
              </a:rPr>
              <a:t>Clark Charitable: $7.8M to five peers, median grant $250K, no Calvary grant yet.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Schattner, Cohen, Bernstein and The Washington Home each fund 3–4 peers at $25–75K.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Venable and America's Charities are already in Calvary's records; the filing gap is lag.</a:t>
            </a:r>
            <a:endParaRPr lang="en-US" sz="1150" dirty="0"/>
          </a:p>
        </p:txBody>
      </p:sp>
      <p:sp>
        <p:nvSpPr>
          <p:cNvPr id="7" name="bumper"/>
          <p:cNvSpPr txBox="1"/>
          <p:nvPr/>
        </p:nvSpPr>
        <p:spPr>
          <a:xfrm>
            <a:off x="548640" y="5669280"/>
            <a:ext cx="9265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41242F"/>
                </a:solidFill>
              </a:rPr>
              <a:t>Implication: </a:t>
            </a:r>
            <a:pPr indent="0" marL="0">
              <a:buNone/>
            </a:pPr>
            <a:r>
              <a:rPr lang="en-US" sz="1100" i="1" dirty="0">
                <a:solidFill>
                  <a:srgbClr val="41242F"/>
                </a:solidFill>
              </a:rPr>
              <a:t>these funders already fund Calvary's model, and the ask is an introduction, not a case for the cause.</a:t>
            </a:r>
            <a:endParaRPr lang="en-US" sz="1100" dirty="0"/>
          </a:p>
        </p:txBody>
      </p:sp>
      <p:sp>
        <p:nvSpPr>
          <p:cNvPr id="8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990-PF and Schedule I filings TY2020–24 (fact_grants, dim_funder, dim_universe_membership); landscape exclusions in config/landscape_exclusions.csv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gap = funder names 2+ core peers and no Calvary row in TY2020–24 filings; DAF sponsors excluded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m5_01, m4_01 · data as of 2026-10-10 · method note C1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Calvary sits inside the funder web, so the next funders are one introduction away through peers that share its funders.</a:t>
            </a:r>
            <a:endParaRPr lang="en-US" sz="2100" dirty="0"/>
          </a:p>
        </p:txBody>
      </p:sp>
      <p:pic>
        <p:nvPicPr>
          <p:cNvPr id="3" name="m6_03_network" descr="charts/m6_03_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11091672" cy="3017520"/>
          </a:xfrm>
          <a:prstGeom prst="rect">
            <a:avLst/>
          </a:prstGeom>
        </p:spPr>
      </p:pic>
      <p:sp>
        <p:nvSpPr>
          <p:cNvPr id="4" name="card Closest neighbors"/>
          <p:cNvSpPr/>
          <p:nvPr/>
        </p:nvSpPr>
        <p:spPr>
          <a:xfrm>
            <a:off x="548640" y="4709160"/>
            <a:ext cx="11094415" cy="86868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4818888"/>
            <a:ext cx="13716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1242F"/>
                </a:solidFill>
              </a:rPr>
              <a:t>Closest neighbors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2194560" y="4818888"/>
            <a:ext cx="449564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41242F"/>
                </a:solidFill>
              </a:rPr>
              <a:t>17 shared funders with Miriam's Kitchen; 14 each with DASH and House of Ruth DC.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1B1D"/>
                </a:solidFill>
              </a:rPr>
              <a:t>House of Ruth DC (69) and House of Ruth MD (81) have the longest lists of funders Calvary lacks.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6964528" y="4818888"/>
            <a:ext cx="449564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41242F"/>
                </a:solidFill>
              </a:rPr>
              <a:t>Board overlaps are thin in public filings.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1B1D"/>
                </a:solidFill>
              </a:rPr>
              <a:t>One high-confidence link, not a funder; introductions run through shared funders and peers.</a:t>
            </a:r>
            <a:endParaRPr lang="en-US" sz="1050" dirty="0"/>
          </a:p>
        </p:txBody>
      </p:sp>
      <p:sp>
        <p:nvSpPr>
          <p:cNvPr id="8" name="bumper"/>
          <p:cNvSpPr txBox="1"/>
          <p:nvPr/>
        </p:nvSpPr>
        <p:spPr>
          <a:xfrm>
            <a:off x="548640" y="5669280"/>
            <a:ext cx="9265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41242F"/>
                </a:solidFill>
              </a:rPr>
              <a:t>Implication: </a:t>
            </a:r>
            <a:pPr indent="0" marL="0">
              <a:buNone/>
            </a:pPr>
            <a:r>
              <a:rPr lang="en-US" sz="1100" i="1" dirty="0">
                <a:solidFill>
                  <a:srgbClr val="41242F"/>
                </a:solidFill>
              </a:rPr>
              <a:t>ask the closest peers for introductions to the funders they share with each other but not yet with Calvary.</a:t>
            </a:r>
            <a:endParaRPr lang="en-US" sz="1100" dirty="0"/>
          </a:p>
        </p:txBody>
      </p:sp>
      <p:sp>
        <p:nvSpPr>
          <p:cNvPr id="9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fact_grants (funders of Calvary and 18 peers, TY2020–24), fact_org_relationships (board links by person match confidence)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bipartite funder–recipient graph; funders of 3+ organizations shown; high-confidence board links only in this deck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m6_03, m6_02 · data as of 2026-10-10 · method note C2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 plan to consider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DD7F"/>
                </a:solidFill>
              </a:rPr>
              <a:t>Four fronts over 90 days, eleven named targets, and two policy choices for the board.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We suggest a 90-day plan that draws every awarded dollar, upgrades partners, opens new foundations and restores the event line.</a:t>
            </a:r>
            <a:endParaRPr lang="en-US" sz="2100" dirty="0"/>
          </a:p>
        </p:txBody>
      </p:sp>
      <p:sp>
        <p:nvSpPr>
          <p:cNvPr id="3" name="card 1. Draw every awarded dollar"/>
          <p:cNvSpPr/>
          <p:nvPr/>
        </p:nvSpPr>
        <p:spPr>
          <a:xfrm>
            <a:off x="548640" y="1600200"/>
            <a:ext cx="2567864" cy="2834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1. Draw every awarded dollar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40280"/>
            <a:ext cx="220210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41242F"/>
                </a:solidFill>
              </a:rPr>
              <a:t>Day 30</a:t>
            </a:r>
            <a:endParaRPr lang="en-US" sz="1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B1D"/>
                </a:solidFill>
              </a:rPr>
              <a:t>Reconcile award ceilings to revenue for FY24–26</a:t>
            </a:r>
            <a:endParaRPr lang="en-US" sz="1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B1D"/>
                </a:solidFill>
              </a:rPr>
              <a:t>Confirm the DHS contract and Sisters Rise status with TCP</a:t>
            </a:r>
            <a:endParaRPr lang="en-US" sz="1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B1D"/>
                </a:solidFill>
              </a:rPr>
              <a:t>Defend the three CoC renewals; scope a PSH expansion project</a:t>
            </a:r>
            <a:endParaRPr lang="en-US" sz="1200" dirty="0"/>
          </a:p>
        </p:txBody>
      </p:sp>
      <p:sp>
        <p:nvSpPr>
          <p:cNvPr id="6" name="card 2. Upgrade current partners"/>
          <p:cNvSpPr/>
          <p:nvPr/>
        </p:nvSpPr>
        <p:spPr>
          <a:xfrm>
            <a:off x="3390824" y="1600200"/>
            <a:ext cx="2567864" cy="2834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73704" y="1737360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2. Upgrade current partners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573704" y="2240280"/>
            <a:ext cx="220210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41242F"/>
                </a:solidFill>
              </a:rPr>
              <a:t>Day 45</a:t>
            </a:r>
            <a:endParaRPr lang="en-US" sz="1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B1D"/>
                </a:solidFill>
              </a:rPr>
              <a:t>Multi-year general-operating asks to GWCF, Cafritz, Abell, Fowler, United Way NCA, Bank of America</a:t>
            </a:r>
            <a:endParaRPr lang="en-US" sz="1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B1D"/>
                </a:solidFill>
              </a:rPr>
              <a:t>Ask GWCF about a Health Equity Fund successor</a:t>
            </a:r>
            <a:endParaRPr lang="en-US" sz="1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B1D"/>
                </a:solidFill>
              </a:rPr>
              <a:t>Cafritz deadlines: Mar 1, Jul 1, Nov 1</a:t>
            </a:r>
            <a:endParaRPr lang="en-US" sz="1200" dirty="0"/>
          </a:p>
        </p:txBody>
      </p:sp>
      <p:sp>
        <p:nvSpPr>
          <p:cNvPr id="9" name="card 3. Open new foundations"/>
          <p:cNvSpPr/>
          <p:nvPr/>
        </p:nvSpPr>
        <p:spPr>
          <a:xfrm>
            <a:off x="6233008" y="1600200"/>
            <a:ext cx="2567864" cy="2834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15888" y="1737360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3. Open new foundations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15888" y="2240280"/>
            <a:ext cx="220210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41242F"/>
                </a:solidFill>
              </a:rPr>
              <a:t>Day 60–90</a:t>
            </a:r>
            <a:endParaRPr lang="en-US" sz="1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B1D"/>
                </a:solidFill>
              </a:rPr>
              <a:t>Clark Charitable first, via the peers it funds</a:t>
            </a:r>
            <a:endParaRPr lang="en-US" sz="1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B1D"/>
                </a:solidFill>
              </a:rPr>
              <a:t>Schattner, Cohen, Bernstein, The Washington Home</a:t>
            </a:r>
            <a:endParaRPr lang="en-US" sz="1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B1D"/>
                </a:solidFill>
              </a:rPr>
              <a:t>Re-engage Many Hands (January window), World Bank CCF, Jane Bancroft Robinson</a:t>
            </a:r>
            <a:endParaRPr lang="en-US" sz="1200" dirty="0"/>
          </a:p>
        </p:txBody>
      </p:sp>
      <p:sp>
        <p:nvSpPr>
          <p:cNvPr id="12" name="card 4. Restore the event line"/>
          <p:cNvSpPr/>
          <p:nvPr/>
        </p:nvSpPr>
        <p:spPr>
          <a:xfrm>
            <a:off x="9075191" y="1600200"/>
            <a:ext cx="2567864" cy="2834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58071" y="1737360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4. Restore the event line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258071" y="2240280"/>
            <a:ext cx="220210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41242F"/>
                </a:solidFill>
              </a:rPr>
              <a:t>Day 45</a:t>
            </a:r>
            <a:endParaRPr lang="en-US" sz="1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B1D"/>
                </a:solidFill>
              </a:rPr>
              <a:t>Confirm whether the FY25 gala moved across the fiscal year</a:t>
            </a:r>
            <a:endParaRPr lang="en-US" sz="1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B1D"/>
                </a:solidFill>
              </a:rPr>
              <a:t>Set the FY26 event at the FY24 level ($538K)</a:t>
            </a:r>
            <a:endParaRPr lang="en-US" sz="1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B1D"/>
                </a:solidFill>
              </a:rPr>
              <a:t>Start a named major-gifts and DAF program</a:t>
            </a:r>
            <a:endParaRPr lang="en-US" sz="1200" dirty="0"/>
          </a:p>
        </p:txBody>
      </p:sp>
      <p:sp>
        <p:nvSpPr>
          <p:cNvPr id="15" name="bumper"/>
          <p:cNvSpPr txBox="1"/>
          <p:nvPr/>
        </p:nvSpPr>
        <p:spPr>
          <a:xfrm>
            <a:off x="548640" y="5669280"/>
            <a:ext cx="9265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41242F"/>
                </a:solidFill>
              </a:rPr>
              <a:t>Implication: </a:t>
            </a:r>
            <a:pPr indent="0" marL="0">
              <a:buNone/>
            </a:pPr>
            <a:r>
              <a:rPr lang="en-US" sz="1100" i="1" dirty="0">
                <a:solidFill>
                  <a:srgbClr val="41242F"/>
                </a:solidFill>
              </a:rPr>
              <a:t>front 1 costs nothing and may be worth the most, and fronts 2–4 are the private-revenue plan that moves the share toward half.</a:t>
            </a:r>
            <a:endParaRPr lang="en-US" sz="1100" dirty="0"/>
          </a:p>
        </p:txBody>
      </p:sp>
      <p:sp>
        <p:nvSpPr>
          <p:cNvPr id="16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recommendations/strategic_recommendations.md, built from modules M1–M7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recommendations are options for Calvary's leadership to weigh, drawn from the evidence in this deck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m7_01 · data as of 2026-10-10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Eleven Tier 1 targets come with a next step, an owner and a deadline.</a:t>
            </a:r>
            <a:endParaRPr lang="en-US" sz="2100" dirty="0"/>
          </a:p>
        </p:txBody>
      </p:sp>
      <p:graphicFrame>
        <p:nvGraphicFramePr>
          <p:cNvPr id="21" name="tier1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914400"/>
                <a:gridCol w="4206240"/>
                <a:gridCol w="1280160"/>
                <a:gridCol w="777240"/>
                <a:gridCol w="12618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 step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 cycle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William S Abell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Upgrade ask: request a multi-year general-operating grant at the funder's peer-level amount, citing the FY25 deficit and the three-stream exposure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Development director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45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Greater Washington Community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Upgrade ask: request a multi-year general-operating grant at the funder's peer-level amount, citing the FY25 deficit and the three-stream exposure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Development director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45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Cycle-specific; check Grant Opportunities page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Clark Charitable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Warm introduction through a shared peer or co-funder; request guidelines / invitation; submit an LOI in the next cycle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CEO + board chair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60 (LOI by day 90)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OVSJG Victim Services grants (Reach Up, New Foundations)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public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 FY26 award letters and draw-down status; schedule program-officer check-in; map FY27 renewal calendar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CEO + board chair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30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Morris And Gwendolyn Cafritz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Upgrade ask: request a multi-year general-operating grant at the funder's peer-level amount, citing the FY25 deficit and the three-stream exposure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Development director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45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March 1, July 1, November 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HUD Continuum of Care via TCP (Sister Circle, Reach Up, New Foundations 2)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federal public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 FY26 award letters and draw-down status; schedule program-officer check-in; map FY27 renewal calendar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CEO + board chair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30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DHS homeless services via TCP (TH contract, Sisters Rise)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public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 FY26 award letters and draw-down status; schedule program-officer check-in; map FY27 renewal calendar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CEO + board chair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30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John Edward Fowler Memorial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Upgrade ask: request a multi-year general-operating grant at the funder's peer-level amount, citing the FY25 deficit and the three-stream exposure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Development director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45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Rolling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MGAC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Quantify cash vs in-kind in the CRM; propose a multi-year sponsorship or program partnership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CEO + board chair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45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 I Schattner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Warm introduction through a shared peer or co-funder; request guidelines / invitation; submit an LOI in the next cycle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Development director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60 (LOI by day 90)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Americas Charities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Warm introduction through a shared peer or co-funder; request guidelines / invitation; submit an LOI in the next cycle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Development director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60 (LOI by day 90)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campaign enrollment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bumper"/>
          <p:cNvSpPr txBox="1"/>
          <p:nvPr/>
        </p:nvSpPr>
        <p:spPr>
          <a:xfrm>
            <a:off x="548640" y="5669280"/>
            <a:ext cx="9265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41242F"/>
                </a:solidFill>
              </a:rPr>
              <a:t>Implication: </a:t>
            </a:r>
            <a:pPr indent="0" marL="0">
              <a:buNone/>
            </a:pPr>
            <a:r>
              <a:rPr lang="en-US" sz="1100" i="1" dirty="0">
                <a:solidFill>
                  <a:srgbClr val="41242F"/>
                </a:solidFill>
              </a:rPr>
              <a:t>owners and dates are proposals for the working session, and the scoring weights behind the tiers are editable in one file.</a:t>
            </a:r>
            <a:endParaRPr lang="en-US" sz="1100" dirty="0"/>
          </a:p>
        </p:txBody>
      </p:sp>
      <p:sp>
        <p:nvSpPr>
          <p:cNvPr id="5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recommendations/funder_pipeline.csv and action_plan_90day.csv (from fact_grants, dim_funder, fact_org_relationships, the CRM reconciliation and a reviewed web pull of funder guidelines)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seven weighted dimensions in config/scoring_weights.yaml; Tier 1 = score ≥ 0.62 and typical grant ≥ $25K; public rows carry analyst scores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m7_01, m7_04 · data as of 2026-10-10 · method note C3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Formalizing workforce and behavioral health opens the largest nearby pools without changing the mission.</a:t>
            </a:r>
            <a:endParaRPr lang="en-US" sz="21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600200"/>
          <a:ext cx="73152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Options and trade-offs"/>
          <p:cNvSpPr/>
          <p:nvPr/>
        </p:nvSpPr>
        <p:spPr>
          <a:xfrm>
            <a:off x="8138160" y="1600200"/>
            <a:ext cx="3504895" cy="3977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321040" y="1737360"/>
            <a:ext cx="3139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Options and trade-offs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2240280"/>
            <a:ext cx="31391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41242F"/>
                </a:solidFill>
              </a:rPr>
              <a:t>Workforce (near): a SheWorks-style cohort inside Step Up DC; opens DOES and workforce funders.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41242F"/>
                </a:solidFill>
              </a:rPr>
              <a:t>Behavioral health (near): a credential or billing partner turns therapy into program revenue.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41242F"/>
                </a:solidFill>
              </a:rPr>
              <a:t>Health (medium): clinic hours with an FQHC partner (Community of Hope is a Ward 8 peer).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DV formalization raises the public share; families would be a mission change and is not suggested.</a:t>
            </a:r>
            <a:endParaRPr lang="en-US" sz="1100" dirty="0"/>
          </a:p>
        </p:txBody>
      </p:sp>
      <p:sp>
        <p:nvSpPr>
          <p:cNvPr id="7" name="bumper"/>
          <p:cNvSpPr txBox="1"/>
          <p:nvPr/>
        </p:nvSpPr>
        <p:spPr>
          <a:xfrm>
            <a:off x="548640" y="5669280"/>
            <a:ext cx="9265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41242F"/>
                </a:solidFill>
              </a:rPr>
              <a:t>Implication: </a:t>
            </a:r>
            <a:pPr indent="0" marL="0">
              <a:buNone/>
            </a:pPr>
            <a:r>
              <a:rPr lang="en-US" sz="1100" i="1" dirty="0">
                <a:solidFill>
                  <a:srgbClr val="41242F"/>
                </a:solidFill>
              </a:rPr>
              <a:t>pick two near options to scope this year, and health is a partnership conversation, not a build.</a:t>
            </a:r>
            <a:endParaRPr lang="en-US" sz="1100" dirty="0"/>
          </a:p>
        </p:txBody>
      </p:sp>
      <p:sp>
        <p:nvSpPr>
          <p:cNvPr id="8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fact_grants purpose text tagged with dim_program_area keywords (DMV institutional funders, TY2020–24); fact_opportunities; config/expansion_areas.yaml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dollars whose purpose names the area (general operating excluded, so pools are understated); distance ratings are analyst judgment; education shown in the appendix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m8_01 · data as of 2026-10-10 · method note D1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A six-month reserve and an annual advocacy calendar would make the spring budget season routine.</a:t>
            </a:r>
            <a:endParaRPr lang="en-US" sz="2100" dirty="0"/>
          </a:p>
        </p:txBody>
      </p:sp>
      <p:sp>
        <p:nvSpPr>
          <p:cNvPr id="3" name="card Reserve policy"/>
          <p:cNvSpPr/>
          <p:nvPr/>
        </p:nvSpPr>
        <p:spPr>
          <a:xfrm>
            <a:off x="548640" y="1600200"/>
            <a:ext cx="5410048" cy="2834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504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Reserve policy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40280"/>
            <a:ext cx="504428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41242F"/>
                </a:solidFill>
              </a:rPr>
              <a:t>Target six months of expenses, about $2.8M; Calvary holds 4.4 today.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1B1D"/>
                </a:solidFill>
              </a:rPr>
              <a:t>Peers with Calvary's mix hold more: Doorways 12, Everyone Home DC 10, N Street Village 8; government-anchored DV providers hold about one.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1B1D"/>
                </a:solidFill>
              </a:rPr>
              <a:t>Treat the Health Equity Fund and other time-limited sources as one-time in the budget.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1B1D"/>
                </a:solidFill>
              </a:rPr>
              <a:t>Close the FY25 gap in the FY26 budget with the private tracks plus a cost plan.</a:t>
            </a:r>
            <a:endParaRPr lang="en-US" sz="1300" dirty="0"/>
          </a:p>
        </p:txBody>
      </p:sp>
      <p:sp>
        <p:nvSpPr>
          <p:cNvPr id="6" name="card Advocacy and monitoring calendar"/>
          <p:cNvSpPr/>
          <p:nvPr/>
        </p:nvSpPr>
        <p:spPr>
          <a:xfrm>
            <a:off x="6233008" y="1600200"/>
            <a:ext cx="5410048" cy="2834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15888" y="1737360"/>
            <a:ext cx="504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Advocacy and monitoring calendar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15888" y="2240280"/>
            <a:ext cx="504428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41242F"/>
                </a:solidFill>
              </a:rPr>
              <a:t>March–July is the season: proposal, markups, vote.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1B1D"/>
                </a:solidFill>
              </a:rPr>
              <a:t>Mayor's budget March–April (cuts proposed in FY26 and FY27); committee markups May–June; Council vote June–July (restorations).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1B1D"/>
                </a:solidFill>
              </a:rPr>
              <a:t>Join the coalition testimony that restored the victim-services line twice.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1B1D"/>
                </a:solidFill>
              </a:rPr>
              <a:t>Track draw-down against ceilings monthly; watch OVSJG under-spend, TCP's DHS purchase orders, the CoC NOFO and the EHV sunset.</a:t>
            </a:r>
            <a:endParaRPr lang="en-US" sz="1300" dirty="0"/>
          </a:p>
        </p:txBody>
      </p:sp>
      <p:sp>
        <p:nvSpPr>
          <p:cNvPr id="9" name="bumper"/>
          <p:cNvSpPr txBox="1"/>
          <p:nvPr/>
        </p:nvSpPr>
        <p:spPr>
          <a:xfrm>
            <a:off x="548640" y="5669280"/>
            <a:ext cx="9265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41242F"/>
                </a:solidFill>
              </a:rPr>
              <a:t>Implication: </a:t>
            </a:r>
            <a:pPr indent="0" marL="0">
              <a:buNone/>
            </a:pPr>
            <a:r>
              <a:rPr lang="en-US" sz="1100" i="1" dirty="0">
                <a:solidFill>
                  <a:srgbClr val="41242F"/>
                </a:solidFill>
              </a:rPr>
              <a:t>two board decisions: adopt a reserve target, and put the advocacy calendar on the board's own calendar.</a:t>
            </a:r>
            <a:endParaRPr lang="en-US" sz="1100" dirty="0"/>
          </a:p>
        </p:txBody>
      </p:sp>
      <p:sp>
        <p:nvSpPr>
          <p:cNvPr id="10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fact_org_financials (months of cash, 20 organizations), fact_policy_events (DC budget calendar FY2024–FY2027)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months of cash = cash and savings ÷ monthly expenses, FY2024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m3_04, m2_06 · data as of 2026-10-10 · method note A6, B1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Los Angeles comparators show scale with government (DWC) and a program design to borrow (SheWorks).</a:t>
            </a:r>
            <a:endParaRPr lang="en-US" sz="2100" dirty="0"/>
          </a:p>
        </p:txBody>
      </p:sp>
      <p:pic>
        <p:nvPicPr>
          <p:cNvPr id="3" name="m10_01_comparator_trajectories" descr="charts/m10_01_comparator_trajector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680960" cy="3308721"/>
          </a:xfrm>
          <a:prstGeom prst="rect">
            <a:avLst/>
          </a:prstGeom>
        </p:spPr>
      </p:pic>
      <p:sp>
        <p:nvSpPr>
          <p:cNvPr id="4" name="card What transfers"/>
          <p:cNvSpPr/>
          <p:nvPr/>
        </p:nvSpPr>
        <p:spPr>
          <a:xfrm>
            <a:off x="8503920" y="1600200"/>
            <a:ext cx="3139135" cy="3977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0" y="173736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What transfers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2240280"/>
            <a:ext cx="27733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41242F"/>
                </a:solidFill>
              </a:rPr>
              <a:t>DWC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$6M (2014) → $34M (2024), government 24% → 57%, 99% pass-through federal money, 2.4 months of cash.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Transferable: the PSH pipeline, the clinic partnership, the MADE enterprise.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41242F"/>
                </a:solidFill>
              </a:rPr>
              <a:t>SheWorks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Cohort model with stipends, childcare, transport and labor and health-plan partners; a design for Step Up DC, not a funding model.</a:t>
            </a:r>
            <a:endParaRPr lang="en-US" sz="1100" dirty="0"/>
          </a:p>
        </p:txBody>
      </p:sp>
      <p:sp>
        <p:nvSpPr>
          <p:cNvPr id="7" name="bumper"/>
          <p:cNvSpPr txBox="1"/>
          <p:nvPr/>
        </p:nvSpPr>
        <p:spPr>
          <a:xfrm>
            <a:off x="548640" y="5669280"/>
            <a:ext cx="9265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41242F"/>
                </a:solidFill>
              </a:rPr>
              <a:t>Implication: </a:t>
            </a:r>
            <a:pPr indent="0" marL="0">
              <a:buNone/>
            </a:pPr>
            <a:r>
              <a:rPr lang="en-US" sz="1100" i="1" dirty="0">
                <a:solidFill>
                  <a:srgbClr val="41242F"/>
                </a:solidFill>
              </a:rPr>
              <a:t>borrow DWC's housing-development and partnership playbook and SheWorks' program design, and do not copy either funding mix.</a:t>
            </a:r>
            <a:endParaRPr lang="en-US" sz="1100" dirty="0"/>
          </a:p>
        </p:txBody>
      </p:sp>
      <p:sp>
        <p:nvSpPr>
          <p:cNvPr id="8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IRS 990 returns (fact_org_financials); Federal Audit Clearinghouse single audits (fact_gov_awards); organization web pages and funder announcements (fact_grants web rows)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government = 990 line 1e; DWC fiscal year is the calendar year; CBWC fiscal year ends June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m10_01, m10_02 · data as of 2026-10-10 · method note B3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FY24–25 audits, the TCP agreements and the FY25 gala calendar would sharpen every number in this deck.</a:t>
            </a:r>
            <a:endParaRPr lang="en-US" sz="2100" dirty="0"/>
          </a:p>
        </p:txBody>
      </p:sp>
      <p:sp>
        <p:nvSpPr>
          <p:cNvPr id="3" name="card FY24 and FY25 audited statements"/>
          <p:cNvSpPr/>
          <p:nvPr/>
        </p:nvSpPr>
        <p:spPr>
          <a:xfrm>
            <a:off x="548640" y="1600200"/>
            <a:ext cx="3515258" cy="23774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FY24 and FY25 audited statements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40280"/>
            <a:ext cx="314949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41242F"/>
                </a:solidFill>
              </a:rPr>
              <a:t>Resolves the ceilings-vs-recognized question (~$1M a year).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1B1D"/>
                </a:solidFill>
              </a:rPr>
              <a:t>Government revenue on the audit basis for the two latest years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1B1D"/>
                </a:solidFill>
              </a:rPr>
              <a:t>Whether single audits were filed</a:t>
            </a:r>
            <a:endParaRPr lang="en-US" sz="1300" dirty="0"/>
          </a:p>
        </p:txBody>
      </p:sp>
      <p:sp>
        <p:nvSpPr>
          <p:cNvPr id="6" name="card TCP subgrant agreements FY2023–FY2026"/>
          <p:cNvSpPr/>
          <p:nvPr/>
        </p:nvSpPr>
        <p:spPr>
          <a:xfrm>
            <a:off x="4338218" y="1600200"/>
            <a:ext cx="3515258" cy="23774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1098" y="173736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TCP subgrant agreements FY2023–FY2026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21098" y="2240280"/>
            <a:ext cx="314949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41242F"/>
                </a:solidFill>
              </a:rPr>
              <a:t>Resolves the DHS contract values and the Sisters Rise / EHV status.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1B1D"/>
                </a:solidFill>
              </a:rPr>
              <a:t>Renewal terms for the largest single stream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1B1D"/>
                </a:solidFill>
              </a:rPr>
              <a:t>Draw-down terms and schedules</a:t>
            </a:r>
            <a:endParaRPr lang="en-US" sz="1300" dirty="0"/>
          </a:p>
        </p:txBody>
      </p:sp>
      <p:sp>
        <p:nvSpPr>
          <p:cNvPr id="9" name="card FY25 event calendar and CRM notes"/>
          <p:cNvSpPr/>
          <p:nvPr/>
        </p:nvSpPr>
        <p:spPr>
          <a:xfrm>
            <a:off x="8127797" y="1600200"/>
            <a:ext cx="3515258" cy="23774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10677" y="173736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FY25 event calendar and CRM notes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310677" y="2240280"/>
            <a:ext cx="314949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41242F"/>
                </a:solidFill>
              </a:rPr>
              <a:t>Resolves whether the gala moved across the fiscal year.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1B1D"/>
                </a:solidFill>
              </a:rPr>
              <a:t>Cash vs in-kind in the corporate relationships (MGAC, Capital One, IMF)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1B1D"/>
                </a:solidFill>
              </a:rPr>
              <a:t>Lapsed funders' gifts routed through DAFs</a:t>
            </a:r>
            <a:endParaRPr lang="en-US" sz="1300" dirty="0"/>
          </a:p>
        </p:txBody>
      </p:sp>
      <p:sp>
        <p:nvSpPr>
          <p:cNvPr id="12" name="bumper"/>
          <p:cNvSpPr txBox="1"/>
          <p:nvPr/>
        </p:nvSpPr>
        <p:spPr>
          <a:xfrm>
            <a:off x="548640" y="5669280"/>
            <a:ext cx="9265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41242F"/>
                </a:solidFill>
              </a:rPr>
              <a:t>Implication: </a:t>
            </a:r>
            <a:pPr indent="0" marL="0">
              <a:buNone/>
            </a:pPr>
            <a:r>
              <a:rPr lang="en-US" sz="1100" i="1" dirty="0">
                <a:solidFill>
                  <a:srgbClr val="41242F"/>
                </a:solidFill>
              </a:rPr>
              <a:t>with these three documents the government picture rests on Calvary's own numbers rather than on public reconstruction.</a:t>
            </a:r>
            <a:endParaRPr lang="en-US" sz="1100" dirty="0"/>
          </a:p>
        </p:txBody>
      </p:sp>
      <p:sp>
        <p:nvSpPr>
          <p:cNvPr id="13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discoveries_log.md (flags D1–D3) and open_questions.md part B from the data build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each document maps to a flag raised during the analysis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m2_02, m2_03, m1_06 · data as of 2026-10-10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next steps are your reactions, the three documents, and a working session that turns Tier 1 into assignments.</a:t>
            </a:r>
            <a:endParaRPr lang="en-US" sz="2100" dirty="0"/>
          </a:p>
        </p:txBody>
      </p:sp>
      <p:sp>
        <p:nvSpPr>
          <p:cNvPr id="3" name="card What has been done"/>
          <p:cNvSpPr/>
          <p:nvPr/>
        </p:nvSpPr>
        <p:spPr>
          <a:xfrm>
            <a:off x="548640" y="1600200"/>
            <a:ext cx="3515258" cy="256032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What has been done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40280"/>
            <a:ext cx="314949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1B1D"/>
                </a:solidFill>
              </a:rPr>
              <a:t>Ten analysis modules on 25 public-record tables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1B1D"/>
                </a:solidFill>
              </a:rPr>
              <a:t>Verdict, scored pipeline (182 rows), 90-day plan, expansion options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1B1D"/>
                </a:solidFill>
              </a:rPr>
              <a:t>Every figure traced to a chart-data file and a public source</a:t>
            </a:r>
            <a:endParaRPr lang="en-US" sz="1300" dirty="0"/>
          </a:p>
        </p:txBody>
      </p:sp>
      <p:sp>
        <p:nvSpPr>
          <p:cNvPr id="6" name="card What comes next"/>
          <p:cNvSpPr/>
          <p:nvPr/>
        </p:nvSpPr>
        <p:spPr>
          <a:xfrm>
            <a:off x="4338218" y="1600200"/>
            <a:ext cx="3515258" cy="256032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1098" y="173736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What comes next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21098" y="2240280"/>
            <a:ext cx="314949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1B1D"/>
                </a:solidFill>
              </a:rPr>
              <a:t>Week 1: leadership reactions to the framing, targets and options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1B1D"/>
                </a:solidFill>
              </a:rPr>
              <a:t>Week 2: the three documents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1B1D"/>
                </a:solidFill>
              </a:rPr>
              <a:t>Week 3: working session to assign Tier 1 owners and dates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1B1D"/>
                </a:solidFill>
              </a:rPr>
              <a:t>Day 30 / 45 / 60–90 milestones from the action plan</a:t>
            </a:r>
            <a:endParaRPr lang="en-US" sz="1300" dirty="0"/>
          </a:p>
        </p:txBody>
      </p:sp>
      <p:sp>
        <p:nvSpPr>
          <p:cNvPr id="9" name="card Decisions needed from you"/>
          <p:cNvSpPr/>
          <p:nvPr/>
        </p:nvSpPr>
        <p:spPr>
          <a:xfrm>
            <a:off x="8127797" y="1600200"/>
            <a:ext cx="3515258" cy="256032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10677" y="173736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Decisions needed from you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310677" y="2240280"/>
            <a:ext cx="314949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1B1D"/>
                </a:solidFill>
              </a:rPr>
              <a:t>Adopt (or adjust) the verdict framing and the $3M / 50% target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1B1D"/>
                </a:solidFill>
              </a:rPr>
              <a:t>Confirm the Tier 1 list and owners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1B1D"/>
                </a:solidFill>
              </a:rPr>
              <a:t>Pick two expansion options to scope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1B1D"/>
                </a:solidFill>
              </a:rPr>
              <a:t>Adopt a reserve target and the advocacy calendar</a:t>
            </a:r>
            <a:endParaRPr lang="en-US" sz="1300" dirty="0"/>
          </a:p>
        </p:txBody>
      </p:sp>
      <p:sp>
        <p:nvSpPr>
          <p:cNvPr id="12" name="bumper"/>
          <p:cNvSpPr txBox="1"/>
          <p:nvPr/>
        </p:nvSpPr>
        <p:spPr>
          <a:xfrm>
            <a:off x="548640" y="5669280"/>
            <a:ext cx="9265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41242F"/>
                </a:solidFill>
              </a:rPr>
              <a:t>Implication: </a:t>
            </a:r>
            <a:pPr indent="0" marL="0">
              <a:buNone/>
            </a:pPr>
            <a:r>
              <a:rPr lang="en-US" sz="1100" i="1" dirty="0">
                <a:solidFill>
                  <a:srgbClr val="41242F"/>
                </a:solidFill>
              </a:rPr>
              <a:t>nothing here is final until Calvary's team has weighed it, and the consulting team keeps the pipeline and charts current as decisions land.</a:t>
            </a:r>
            <a:endParaRPr lang="en-US" sz="1100" dirty="0"/>
          </a:p>
        </p:txBody>
      </p:sp>
      <p:sp>
        <p:nvSpPr>
          <p:cNvPr id="13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recommendations/action_plan_90day.csv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deadlines are relative to the start of the plan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m7_01 · data as of 2026-10-10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Every figure traces to a chart-data file and a public source, and the consulting and appendix decks carry the methods.</a:t>
            </a:r>
            <a:endParaRPr lang="en-US" sz="21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600200"/>
            <a:ext cx="11094415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1F1B1D"/>
                </a:solidFill>
              </a:rPr>
              <a:t>Consulting deck: 55 slides with every module, method and the complete scored pipeline.</a:t>
            </a:r>
            <a:endParaRPr lang="en-US" sz="15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1F1B1D"/>
                </a:solidFill>
              </a:rPr>
              <a:t>Appendix A: Calvary and government funding. Appendix B: peers and named comparators. Appendix C: funders, gaps, network and pipeline. Appendix D: data and methods (method notes A1–D3).</a:t>
            </a:r>
            <a:endParaRPr lang="en-US" sz="15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1F1B1D"/>
                </a:solidFill>
              </a:rPr>
              <a:t>Reports: executive summary, full findings, methodology, recommendations; board talking points and consulting briefing.</a:t>
            </a:r>
            <a:endParaRPr lang="en-US" sz="15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1F1B1D"/>
                </a:solidFill>
              </a:rPr>
              <a:t>Every chart ID (e.g., m2_02) is a CSV in chart_data/ whose source IDs point to the public documents in the source registry; scoring weights live in config/scoring_weights.yaml.</a:t>
            </a:r>
            <a:endParaRPr lang="en-US" sz="15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1F1B1D"/>
                </a:solidFill>
              </a:rPr>
              <a:t>Data as of 2026-10-10. Core peers are provisional; FY24–25 government figures rest on the 990 until the audits are shared.</a:t>
            </a:r>
            <a:endParaRPr lang="en-US" sz="1550" dirty="0"/>
          </a:p>
        </p:txBody>
      </p:sp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calvary_analysis/README.md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traceability checked by scripts/lib/trace.py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all · data as of 2026-10-10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lvary Funding Engagement">
  <a:themeElements>
    <a:clrScheme name="Calvary Funding Engagement">
      <a:dk1>
        <a:srgbClr val="1F1B1D"/>
      </a:dk1>
      <a:lt1>
        <a:srgbClr val="FFFFFF"/>
      </a:lt1>
      <a:dk2>
        <a:srgbClr val="41242F"/>
      </a:dk2>
      <a:lt2>
        <a:srgbClr val="F6F3F4"/>
      </a:lt2>
      <a:accent1>
        <a:srgbClr val="A03F7E"/>
      </a:accent1>
      <a:accent2>
        <a:srgbClr val="B8810C"/>
      </a:accent2>
      <a:accent3>
        <a:srgbClr val="0F9ACB"/>
      </a:accent3>
      <a:accent4>
        <a:srgbClr val="CF5A2C"/>
      </a:accent4>
      <a:accent5>
        <a:srgbClr val="3B6FD8"/>
      </a:accent5>
      <a:accent6>
        <a:srgbClr val="D39F28"/>
      </a:accent6>
      <a:hlink>
        <a:srgbClr val="41242F"/>
      </a:hlink>
      <a:folHlink>
        <a:srgbClr val="8C8488"/>
      </a:folHlink>
    </a:clrScheme>
    <a:fontScheme name="Calvary Funding Engagemen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Calvary funding engagement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Calvary's funding today, and the opportunities ahead</dc:title>
  <dc:subject>Leadership and board deck</dc:subject>
  <dc:creator>Pro bono analysis for Calvary Women's Services</dc:creator>
  <cp:lastModifiedBy>Pro bono analysis for Calvary Women's Services</cp:lastModifiedBy>
  <cp:revision>1</cp:revision>
  <dcterms:created xsi:type="dcterms:W3CDTF">2026-10-11T20:53:56Z</dcterms:created>
  <dcterms:modified xsi:type="dcterms:W3CDTF">2026-10-11T20:53:56Z</dcterms:modified>
</cp:coreProperties>
</file>