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 A" id="{ddfde320-6775-5edc-0e27-f9614097309f}">
          <p14:sldIdLst>
            <p14:sldId id="256"/>
          </p14:sldIdLst>
        </p14:section>
        <p14:section name="Trajectory" id="{5215ffae-d838-cd3b-d66a-af8e197f937f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Government streams" id="{9f757a51-2210-8a20-f07d-8f4341ef1155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DC budget and pools" id="{8c4d1230-6472-7dc4-6390-b0f740b1e584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 Up TH</c:v>
                </c:pt>
              </c:strCache>
            </c:strRef>
          </c:tx>
          <c:spPr>
            <a:solidFill>
              <a:srgbClr val="A03F7E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FY19</c:v>
                  </c:pt>
                  <c:pt idx="1">
                    <c:v>FY20</c:v>
                  </c:pt>
                  <c:pt idx="2">
                    <c:v>FY21</c:v>
                  </c:pt>
                  <c:pt idx="3">
                    <c:v>FY22</c:v>
                  </c:pt>
                  <c:pt idx="4">
                    <c:v>FY23</c:v>
                  </c:pt>
                  <c:pt idx="5">
                    <c:v>FY24</c:v>
                  </c:pt>
                  <c:pt idx="6">
                    <c:v>FY25</c:v>
                  </c:pt>
                  <c:pt idx="7">
                    <c:v>FY26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660935</c:v>
                </c:pt>
                <c:pt idx="1">
                  <c:v>368935</c:v>
                </c:pt>
                <c:pt idx="2">
                  <c:v>368935</c:v>
                </c:pt>
                <c:pt idx="3">
                  <c:v>468435</c:v>
                </c:pt>
                <c:pt idx="4">
                  <c:v>402540</c:v>
                </c:pt>
                <c:pt idx="5">
                  <c:v>430873</c:v>
                </c:pt>
                <c:pt idx="6">
                  <c:v>478622</c:v>
                </c:pt>
                <c:pt idx="7">
                  <c:v>507595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Foundations TH</c:v>
                </c:pt>
              </c:strCache>
            </c:strRef>
          </c:tx>
          <c:spPr>
            <a:solidFill>
              <a:srgbClr val="3B6FD8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FY19</c:v>
                  </c:pt>
                  <c:pt idx="1">
                    <c:v>FY20</c:v>
                  </c:pt>
                  <c:pt idx="2">
                    <c:v>FY21</c:v>
                  </c:pt>
                  <c:pt idx="3">
                    <c:v>FY22</c:v>
                  </c:pt>
                  <c:pt idx="4">
                    <c:v>FY23</c:v>
                  </c:pt>
                  <c:pt idx="5">
                    <c:v>FY24</c:v>
                  </c:pt>
                  <c:pt idx="6">
                    <c:v>FY25</c:v>
                  </c:pt>
                  <c:pt idx="7">
                    <c:v>FY26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438500</c:v>
                </c:pt>
                <c:pt idx="5">
                  <c:v>482528</c:v>
                </c:pt>
                <c:pt idx="6">
                  <c:v>519656</c:v>
                </c:pt>
                <c:pt idx="7">
                  <c:v>543056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Sister Circle PSH</c:v>
                </c:pt>
              </c:strCache>
            </c:strRef>
          </c:tx>
          <c:spPr>
            <a:solidFill>
              <a:srgbClr val="A03F7E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239659</c:v>
                </c:pt>
                <c:pt idx="1">
                  <c:v>248131</c:v>
                </c:pt>
                <c:pt idx="2">
                  <c:v>250135</c:v>
                </c:pt>
                <c:pt idx="3">
                  <c:v>250135</c:v>
                </c:pt>
                <c:pt idx="4">
                  <c:v>254491</c:v>
                </c:pt>
                <c:pt idx="5">
                  <c:v>296926</c:v>
                </c:pt>
                <c:pt idx="6">
                  <c:v>296930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Reach Up</c:v>
                </c:pt>
              </c:strCache>
            </c:strRef>
          </c:tx>
          <c:spPr>
            <a:solidFill>
              <a:srgbClr val="0F9ACB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1222263</c:v>
                </c:pt>
                <c:pt idx="3">
                  <c:v>421930</c:v>
                </c:pt>
                <c:pt idx="4">
                  <c:v>427330</c:v>
                </c:pt>
                <c:pt idx="5">
                  <c:v>921970</c:v>
                </c:pt>
                <c:pt idx="6">
                  <c:v>923637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Foundations 2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469719</c:v>
                </c:pt>
                <c:pt idx="5">
                  <c:v>542456</c:v>
                </c:pt>
                <c:pt idx="6">
                  <c:v>546247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Subtitle</a:t>
            </a:r>
            <a:endParaRPr lang="en-US" sz="1700" dirty="0"/>
          </a:p>
        </p:txBody>
      </p:sp>
      <p:pic>
        <p:nvPicPr>
          <p:cNvPr id="4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4572000"/>
            <a:ext cx="36576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88"/>
                </a:solidFill>
              </a:rPr>
              <a:t>Prepared with public data as of 2026-10-10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41242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Headline</a:t>
            </a:r>
            <a:endParaRPr lang="en-US" sz="2100" dirty="0"/>
          </a:p>
        </p:txBody>
      </p:sp>
      <p:pic>
        <p:nvPicPr>
          <p:cNvPr id="3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5989320"/>
            <a:ext cx="1234440" cy="786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Appendix A: Calvary and Government Funding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Appendix A · Calvary and government funding · pro bono funding analysis for Calvary Women's Services. Method notes A1–A6 are in Appendix 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revenue series agrees across five sources within 1% in every year, so the trajectory rests on firm ground.</a:t>
            </a:r>
            <a:endParaRPr lang="en-US" sz="21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554480"/>
                <a:gridCol w="1737360"/>
                <a:gridCol w="173736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(990)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 sources with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990-source difference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total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difference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net assets = 990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$1,445,107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$2,021,027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$1,886,681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$2,056,534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$2,072,635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$2,217,472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$2,008,601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$2,173,996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$1,990,443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$2,130,506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$2,259,177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$2,432,385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$2,153,899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$2,352,225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$2,486,678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$2,584,467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$3,896,046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$3,908,836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$3,851,984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$3,928,601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$8,867,250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$9,264,137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$4,456,814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$4,807,645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$5,817,167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$4,967,995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XML (GivingTuesday), IRS SOI, ProPublica, NCCS e-file tables, Calvary 990 PDFs and audits; calvary_funding_data/reports/calvary_financials_reconciliation.csv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difference = source revenue vs e-filed XML; audits differ 0–9% by design (GAAP in-kind and special-event presentation)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Government revenue on the audit basis exceeded 990 line 1e by $1.48M in FY21 and matched it in FY22 and FY23.</a:t>
            </a:r>
            <a:endParaRPr lang="en-US" sz="2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463040"/>
                <a:gridCol w="1097280"/>
                <a:gridCol w="1737360"/>
                <a:gridCol w="1463040"/>
                <a:gridCol w="118872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(audit)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total revenue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(audit)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(990 line 1e)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 total revenue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(line 1e)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− line 1e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$813,088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$2,056,534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$1,886,681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$829,432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$2,217,472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$2,072,635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$888,295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$2,173,996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$888,295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$2,008,601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$932,814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$2,130,506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$932,814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$1,990,443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$965,548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$2,432,385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$965,548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$2,259,177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$979,272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$2,352,225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$979,272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$2,153,899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$1,256,102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$2,584,467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$1,256,102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$2,486,678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$2,166,119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$3,908,836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$2,166,119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$3,896,046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$1,981,161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$3,928,601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$503,222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$3,851,984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$1,477,939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$5,685,504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$9,264,137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$5,685,504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$8,867,250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$2,460,897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$4,807,645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$2,460,897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$4,456,814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$2,621,203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$5,817,167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$2,892,598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$4,967,995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 audited financial statements FY13–FY23 and IRS 990 Part VIII line 1e;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share = government revenue ÷ total revenue on each basis; FY24–25 have no public audit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m1_03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Revenue, expenses, net assets, cash and months of cash by year show the FY22 capital event and the FY23 and FY25 deficits.</a:t>
            </a:r>
            <a:endParaRPr lang="en-US" sz="21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463040"/>
                <a:gridCol w="1463040"/>
                <a:gridCol w="1463040"/>
                <a:gridCol w="1645920"/>
                <a:gridCol w="1463040"/>
                <a:gridCol w="1124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Surplus / deficit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(2024 $)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assets (year end)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and savings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$1,445,107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$1,065,764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$379,343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$2,015,275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$1,117,933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$2,021,027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$1,144,102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$876,925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$2,761,283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$2,171,801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$1,886,681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$1,464,641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$422,040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$2,540,516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$2,593,841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$2,072,635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$1,705,571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$367,064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$2,746,362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$2,960,905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$2,008,601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$1,879,006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$129,595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$2,658,357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$3,090,500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$1,067,632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$1,990,443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$1,989,199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$2,601,507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$3,091,744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$1,058,436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$2,259,177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$2,076,427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$182,750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$2,891,150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$3,274,494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$1,119,092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$2,153,899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$2,152,260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$2,690,702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$3,276,133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$1,343,966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$2,486,678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$2,403,977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$82,701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$3,051,134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$3,358,790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$1,163,003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$3,896,046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$3,215,728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$680,318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$4,722,160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$4,039,108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$1,697,108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$3,851,984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$3,334,967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$517,017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$4,459,257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$4,555,754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$2,076,828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$8,867,250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$4,550,205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$4,317,045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$9,504,566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$8,872,799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$2,398,667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$4,456,814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$5,130,964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−$674,150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$4,588,263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$8,198,649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$2,149,562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$5,817,167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$5,310,627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$506,540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$5,817,167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$8,705,189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$2,315,867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$4,967,995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$5,575,321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−$607,326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$4,840,626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$8,098,765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$2,063,796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ProPublica), Calvary 990 PDFs and audits FY13–FY23; fact_org_financials; dim_period (CPI-U)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preferred 990 row per year; 2024 dollars via CPI-U; months of cash = cash and savings ÷ (expenses ÷ 12); FY22 includes the $3.68M SLFRF award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m1_01, m1_04, m1_05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Event contributions and net event income by year show the FY25 collapse against positive net income.</a:t>
            </a:r>
            <a:endParaRPr lang="en-US" sz="2100" dirty="0"/>
          </a:p>
        </p:txBody>
      </p:sp>
      <p:pic>
        <p:nvPicPr>
          <p:cNvPr id="3" name="m1_06_event_income.png" descr="Chart m1_06_event_income (charts/m1_06_event_income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583680" cy="3291840"/>
          </a:xfrm>
          <a:prstGeom prst="rect">
            <a:avLst/>
          </a:prstGeom>
        </p:spPr>
      </p:pic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00200"/>
          <a:ext cx="4233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16733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contributions (line 1c)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special-event income (line 8c)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$287,580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−$75,685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$301,790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−$81,352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$301,899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−$84,479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$279,265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−$98,619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$331,837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−$76,550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$165,497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−$19,511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$287,145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−$19,919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$383,731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−$93,154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$457,758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−$149,059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$538,070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−$177,248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$54,730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$218,588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Part VIII lines 1c and 8c;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as reported; line 8c = gross event income less direct event expenses (discovery flag D3: confirm FY25 gala timing)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m1_06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Fifty funders filed grants to Calvary in TY2020–24 and the top ten supplied 79% of the dollars.</a:t>
            </a:r>
            <a:endParaRPr lang="en-US" sz="21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1828800"/>
                <a:gridCol w="1554480"/>
                <a:gridCol w="822960"/>
                <a:gridCol w="731520"/>
                <a:gridCol w="731520"/>
                <a:gridCol w="850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TY2020–24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$1,206,500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Online Giving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$511,616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Leafglen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Fidelity Investments Charitable Gift Fund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$314,317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Advised Charitable Giving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$128,155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Community Connections Fund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of American Medical Colleges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$89,549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and Gene Ludwig Family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Hands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naming Calvary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TY2020–24, cumulative rows excluded, aggregated by funder EIN; DAF sponsors included and typed; HHI 1,168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m1_07 · data as of 2026-10-10 · method note A3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Fifty funders filed grants to Calvary in TY2020–24 and the top ten supplied 79% of the dollars. (continued, 2 of 4)</a:t>
            </a:r>
            <a:endParaRPr lang="en-US" sz="21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1828800"/>
                <a:gridCol w="1554480"/>
                <a:gridCol w="822960"/>
                <a:gridCol w="731520"/>
                <a:gridCol w="731520"/>
                <a:gridCol w="850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TY2020–24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Rapoport Family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Philanthropic 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Corina Higginson Trust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PayPal Charitable Giving Fund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$41,636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Vanguard Charitable Endowment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MGM Resorts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 Shaver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M Fisher Memorial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Walter a Bloedorn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Owen Family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 Bancroft Robinson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Dimick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Congressional Sports for Charity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 Harris Maley Memorial Fund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naming Calvary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TY2020–24, cumulative rows excluded, aggregated by funder EIN; DAF sponsors included and typed; HHI 1,168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m1_07 · data as of 2026-10-10 · method note A3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Fifty funders filed grants to Calvary in TY2020–24 and the top ten supplied 79% of the dollars. (continued, 3 of 4)</a:t>
            </a:r>
            <a:endParaRPr lang="en-US" sz="21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1828800"/>
                <a:gridCol w="1554480"/>
                <a:gridCol w="822960"/>
                <a:gridCol w="731520"/>
                <a:gridCol w="731520"/>
                <a:gridCol w="850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TY2020–24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Lavin Family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Qlarant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Leslie Joanne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Miller &amp; Chevalier Charitable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Junior League of the City of Washington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Charities Aid Foundation America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$13,936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Monumental Sports &amp; Entertainment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$11,546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Levatus Charitable Trust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&amp; Victoria Dreyfus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Baxt Family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Nancy Peery Marriott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Phase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Blackbaud Giving Fund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Spur Local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naming Calvary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TY2020–24, cumulative rows excluded, aggregated by funder EIN; DAF sponsors included and typed; HHI 1,168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m1_07 · data as of 2026-10-10 · method note A3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Fifty funders filed grants to Calvary in TY2020–24 and the top ten supplied 79% of the dollars. (continued, 4 of 4)</a:t>
            </a:r>
            <a:endParaRPr lang="en-US" sz="21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1828800"/>
                <a:gridCol w="1554480"/>
                <a:gridCol w="822960"/>
                <a:gridCol w="731520"/>
                <a:gridCol w="731520"/>
                <a:gridCol w="850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TY2020–24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and Zoe Poole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Jacquemin Family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Omidyar Network Fund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CPMG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RCLCO Foundation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Sidgmore Family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Grossman Family Charitable Funds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Whispering Bells Foundation Charitable Tr UA 122690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naming Calvary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TY2020–24, cumulative rows excluded, aggregated by funder EIN; DAF sponsors included and typed; HHI 1,168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m1_07 · data as of 2026-10-10 · method note A3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OVSJG awards to Calvary rose from $369K to $1.05M between DC FY2020 and FY2026, with the one-time $3.68M building award in FY2022.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5852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00200"/>
          <a:ext cx="50109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60120"/>
                <a:gridCol w="1143000"/>
                <a:gridCol w="1051560"/>
                <a:gridCol w="1307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FY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Up 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Foundations 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$660,935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$660,935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$468,435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$468,435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$3,680,675 SLFRF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$402,540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$438,500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$841,040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$430,873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$482,528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$913,401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$478,622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$519,656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$998,278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$507,595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$543,056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$1,050,651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29400" y="484632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458"/>
                </a:solidFill>
              </a:rPr>
              <a:t>FY2019 and FY2022 Reach Up totals combine two awards each ($292,000 + $368,935; $368,935 + $99,500). FY2024–26 lists label all Calvary grants Local; the FY23 SEFA shows SLFRF pass-through.</a:t>
            </a:r>
            <a:endParaRPr lang="en-US" sz="95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OVSJG award lists FY2019–2026 (DC Open Data, OVSJG recipient lists); fact_gov_awards (source_type dc_ovsjg)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source per stream; DC fiscal year = Calvary fiscal year; the SLFRF building award is excluded from the recurring base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m2_01, m2_01b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HUD CoC awards to Calvary's three projects rose from $240K (2019) to $1.77M (FY2025) through TCP.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5852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00200"/>
          <a:ext cx="501091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868680"/>
                <a:gridCol w="868680"/>
                <a:gridCol w="914400"/>
                <a:gridCol w="914400"/>
                <a:gridCol w="6675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Sister Circle PSH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Up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Foundations 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FY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$239,659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$239,659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$248,131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$248,131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$250,135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$1,222,263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$1,472,398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$250,135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$421,930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$672,065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$254,491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$427,330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$469,719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$1,151,540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$296,926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$921,970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$542,456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$1,761,352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$296,930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$923,637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$546,247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$1,766,814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29400" y="4206240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458"/>
                </a:solidFill>
              </a:rPr>
              <a:t>TCP is the applicant; each project is stored once as a subaward with TCP as pass-through. Reach Up fell from $1.22M (2021) to $0.42M (2022) under TCP reallocation and expanded in 2024.</a:t>
            </a:r>
            <a:endParaRPr lang="en-US" sz="95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HUD Continuum of Care award lists, DC-500, competition years 2019–FY2025; fact_gov_awards (source_type hud_coc)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HUD competition year t aligned to Calvary operating year t+1 (coc_award_lag_years: 1 in config/scenarios.yaml)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m2_01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DC's FY2024 oversight responses are the only public record of Calvary's DHS contracts: $830K for transitional housing and $593K for Sisters Rise.</a:t>
            </a:r>
            <a:endParaRPr lang="en-US" sz="21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1097280"/>
                <a:gridCol w="914400"/>
                <a:gridCol w="3017520"/>
                <a:gridCol w="35021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(via TCP)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FY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Renewal mechanism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 rating (analyst judgment)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Transitional Housing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$830,384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beds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provider contract via TCP (45 beds)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Medium-high: single public data point; TCP's DHS POs fell sharply in FY2025 after DC's financial-system change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Sisters Rise EHV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$593,280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units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provider contract (25 units); the project left the HIC in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High: EHV is a sunsetting federal voucher program; the 2025 HIC no longer lists Sisters Rise PSH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$1,423,664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 Why this stream rests on one public data point"/>
          <p:cNvSpPr/>
          <p:nvPr/>
        </p:nvSpPr>
        <p:spPr>
          <a:xfrm>
            <a:off x="548640" y="3383280"/>
            <a:ext cx="11094415" cy="228600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5204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Why this stream rests on one public data point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023360"/>
            <a:ext cx="10728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Provider amounts appear only in the Council's FY2024 oversight responses (pp 111–112); DHS provider lists for 2025–2026 were not posted.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TCP's own 990s do not itemize provider payments on Schedule I, so they cannot fill the other years.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Every other year of this stream is unknown, not zero; the scenario baseline carries the FY2024 value forward (dhs_assumed_flat_from_fy2024).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Sisters Rise is absent from the 2025 Housing Inventory Count (discovery flag D2); TCP subgrant agreements FY2023–FY2026 would close it.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Council FY2024 performance oversight responses (DHS); fact_gov_awards (source_type dc_oversight); supp_hic_projects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contract ceilings as reported; durability ratings are analyst judgment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m2_01, m2_03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single audits for FY22 and FY23 show $4.07M and $0.94M of federal expenditures, almost all passed through DC agencies and TCP.</a:t>
            </a:r>
            <a:endParaRPr lang="en-US" sz="21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280160"/>
                <a:gridCol w="1463040"/>
                <a:gridCol w="1371600"/>
                <a:gridCol w="822960"/>
                <a:gridCol w="1371600"/>
                <a:gridCol w="11247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Assistance listing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through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and Local Fiscal Recovery Funds (SLFRF)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OVSJG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$3,583,885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$440,677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Continuum of Care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$415,830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$390,649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Food and Shelter Program (EFSP)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$48,889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$67,684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 Employment and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DHS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$19,114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$38,989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federal expenditures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$4,067,718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$937,999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 Reading the SEFA"/>
          <p:cNvSpPr/>
          <p:nvPr/>
        </p:nvSpPr>
        <p:spPr>
          <a:xfrm>
            <a:off x="548640" y="3749040"/>
            <a:ext cx="11094415" cy="182880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8862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Reading the SEFA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891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SEFA lines are expenditures in the audited fiscal year, not awards; they are never added to OVSJG or CoC award amounts.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FAC's 'audit year 2023' record repeats the FY22 lines; the FY23 audit PDF ($937,999) is used and both are kept, flagged.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FY17–FY20 audits state Calvary was not subject to a single audit; the FY21 audit is silent; FY24–FY25 audits are not public.</a:t>
            </a:r>
            <a:endParaRPr lang="en-US" sz="12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 audited financial statements FY22 (via Candid) and FY23, Federal Audit Clearinghouse; fact_gov_awards (source_type audit_sefa); notes_for_analysis.md §2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expenditures as audited; shares of each year's total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One-time awards (SLFRF, PPP, HUD CPF, LISC) total $4.23M and are excluded from the recurring base.</a:t>
            </a:r>
            <a:endParaRPr lang="en-US" sz="21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914400"/>
                <a:gridCol w="1463040"/>
                <a:gridCol w="1645920"/>
                <a:gridCol w="19476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basis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SLFRF via OVSJG: New Foundations building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dc_ovsjg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$3,680,675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Paycheck Protection Loan Program (PPP)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usaspending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$327,200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Economic Development Initiative, Community Project Funding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usaspending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Section 4 Capacity Building (LISC subaward)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usaspending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one-time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$4,232,875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 What each award was"/>
          <p:cNvSpPr/>
          <p:nvPr/>
        </p:nvSpPr>
        <p:spPr>
          <a:xfrm>
            <a:off x="548640" y="3657600"/>
            <a:ext cx="11094415" cy="20116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7947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What each award was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9768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SLFRF via OVSJG: the New Foundations building (FY2022); it drives the FY22 revenue spike.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HUD Community Project Funding (14.251): $200,000 awarded 2023 for a capital project, $76,866 outlaid in the data.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SBA Paycheck Protection Program loan (2020) and a $25,000 LISC capacity-building subaward (2017).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No DHCD award appears in the government-award data, so none is listed.</a:t>
            </a:r>
            <a:endParaRPr lang="en-US" sz="12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OVSJG award lists; USAspending (SBA, HUD); fact_gov_awards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one-time = capital, pandemic or single-year awards; excluded from recurring stream totals and scenarios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m2_01b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award-ceiling alignment uses DC fiscal years directly, HUD competition years lagged one year, and the FY2024 DHS value carried forward.</a:t>
            </a:r>
            <a:endParaRPr lang="en-US" sz="21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097280"/>
                <a:gridCol w="1005840"/>
                <a:gridCol w="914400"/>
                <a:gridCol w="1005840"/>
                <a:gridCol w="1097280"/>
                <a:gridCol w="1188720"/>
                <a:gridCol w="100584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FY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CoC (lagged)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/ TCP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federal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SLFRF spent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 ceilings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Recognized government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Recognized ex SLFRF ÷ ceilings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$660,935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$728,938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$1,256,102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$239,659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$676,597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$2,166,119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$248,131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$685,069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$1,981,161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$468,435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$1,472,398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$3,583,885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$2,008,836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$5,685,504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$841,040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$672,065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$106,673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$440,677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$1,619,778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$2,460,897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$913,401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$1,151,540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$1,423,664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$106,673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$3,595,278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$2,621,203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 line 1e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$998,278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$1,761,352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$1,423,664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$106,673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$4,289,967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$2,892,598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 line 1e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 (OVSJG, HUD CoC, DC oversight, audit SEFA) and fact_org_financials (audits to FY23, 990 line 1e FY24–25)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CoC year t → Calvary FY t+1; DHS FY2024 carried forward; EFSP/SNAP at audited FY23 level; DHS unknown before FY2024 (flag D1)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m2_02 · data as of 2026-10-10 · method note A5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Seven streams carry distinct renewal mechanisms and risks.</a:t>
            </a:r>
            <a:endParaRPr lang="en-US" sz="21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2286000"/>
                <a:gridCol w="2377440"/>
                <a:gridCol w="2587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→ latest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Renewal mechanism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 risk (judgment)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DHS/TCP: Sisters Rise EHV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$593K (2024) → $593K (2024)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 via TCP, paired with Emergency Housing Vouchers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provider contract (25 units); the project left the HIC in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High: EHV is a sunsetting federal voucher program; the 2025 HIC no longer lists Sisters Rise PSH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DHS/TCP: Transitional Housing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$830K (2024) → $830K (2024)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 via TCP (DHS Homeless Services Continuum)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provider contract via TCP (45 beds)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Medium-high: single public data point; TCP's DHS POs fell sharply in FY2025 after DC's financial-system change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CoC: New Foundations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$470K (2023) → $546K (2025)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HUD CoC 14.267 via TCP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renewal; new in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a young project is the first to go in a tight competition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CoC: Reach 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$1.22M (2021) → $924K (2025)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HUD CoC 14.267 via TCP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renewal; expanded in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TCP reallocation cut it from $1.22M to $0.42M in 2022, then it grew to $0.92M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CoC: Sister Circle PSH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$240K (2019) → $297K (2025)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HUD CoC 14.267 via TCP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 in the DC CoC competition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Medium-low: PSH renewals are usually protected, but HUD's 2025 CoC NOFO shifted priorities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OVSJG: New Foundations 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$439K (2023) → $543K (2026)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OVSJG grant; started FY23 after the FY22 building award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as above; tied to a DV-designated 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OVSJG: Reach Up 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$661K (2019) → $508K (2026)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 (FY24-26 lists); SLFRF-funded in FY22-23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OVSJG grant; continuation funding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annual, Mayor proposed cuts to Victim Services grants in FY26 and FY27, Council restored both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fact_gov_awards, fact_policy_events, supp_hic_projects (HUD HIC 2024–2025)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first and latest observed award per stream; risk ratings are analyst judgment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m2_03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Since pandemic money ended, DC's four budget lines behind Calvary's local streams have held flat to rising, with OVSJG under-spending 9–14%.</a:t>
            </a:r>
            <a:endParaRPr lang="en-US" sz="2100" dirty="0"/>
          </a:p>
        </p:txBody>
      </p:sp>
      <p:pic>
        <p:nvPicPr>
          <p:cNvPr id="3" name="m2_04_dc_budget_context.png" descr="Chart m2_04_dc_budget_context (charts/m2_04_dc_budget_context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250577" cy="3977640"/>
          </a:xfrm>
          <a:prstGeom prst="rect">
            <a:avLst/>
          </a:prstGeom>
        </p:spPr>
      </p:pic>
      <p:sp>
        <p:nvSpPr>
          <p:cNvPr id="4" name="card Approved vs actual"/>
          <p:cNvSpPr/>
          <p:nvPr/>
        </p:nvSpPr>
        <p:spPr>
          <a:xfrm>
            <a:off x="7073537" y="1600200"/>
            <a:ext cx="4569518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256417" y="1737360"/>
            <a:ext cx="4203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Approved vs actual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256417" y="2240280"/>
            <a:ext cx="420375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OVSJG P02303 approved $45.5M (FY24), $55.9M (FY25), $55.4M (FY26), $55.3M (FY27); actual $41.3M and $47.9M in FY24–FY25.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DHS continuum approved $170M (FY24) → $206M (FY26) → $194M (FY27).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PSH approved $145M–$166M FY25–FY27.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DV services $2.9M–$3.4M approved; the Mayor's FY26 proposal ($2.8M) was not enacted.</a:t>
            </a:r>
            <a:endParaRPr lang="en-US" sz="11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Approved Budget and Financial Plan books FY2024–FY2027, Council committee budget reports, Budget Support Acts; supp_dc_budget_lines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sums of activity-level total rows per program code; proposed = Mayor's FY2026 proposal as reported by Council committees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m2_04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DC budget lines for OVSJG, the DHS continuum, PSH and DV services by stage and year show approved budgets flat to rising through FY2027.</a:t>
            </a:r>
            <a:endParaRPr lang="en-US" sz="21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996696"/>
                <a:gridCol w="996696"/>
                <a:gridCol w="996696"/>
                <a:gridCol w="996696"/>
                <a:gridCol w="996696"/>
                <a:gridCol w="996696"/>
                <a:gridCol w="9966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domestic violence services (H03007)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$3.4M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$3.3M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domestic violence services (H03007)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$3.9M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domestic violence services (H03007)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continuum (H03002-04, H03009)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$178.0M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$170.0M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$178.7M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$205.9M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$193.7M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continuum (H03002-04, H03009)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$337.4M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$390.2M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$170.4M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$189.6M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$178.8M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continuum (H03002-04, H03009)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$198.1M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permanent supportive housing (H03010-13)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$162.6M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$152.9M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$144.8M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$147.6M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$166.2M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permanent supportive housing (H03010-13)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$49.3M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$76.7M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$156.2M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$165.5M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$143.0M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permanent supportive housing (H03010-13)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$146.9M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Victim Services grants (P02303)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$41.8M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$45.5M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$55.9M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$55.4M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$55.3M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Victim Services grants (P02303)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$30.6M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$42.3M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$39.1M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$41.3M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$47.9M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Victim Services grants (P02303)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$50.1M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Approved Budget and Financial Plan books FY2024–FY2027, Council committee budget reports, Budget Support Acts; supp_dc_budget_lines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activity-level totals; each book carries two years of actuals and two approved years; proposed = Mayor's FY2026 proposal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m2_04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In each of the last two budget seasons the Mayor proposed cuts to OVSJG Victim Services grants and the Council restored them.</a:t>
            </a:r>
            <a:endParaRPr lang="en-US" sz="2100" dirty="0"/>
          </a:p>
        </p:txBody>
      </p:sp>
      <p:pic>
        <p:nvPicPr>
          <p:cNvPr id="3" name="m2_06_policy_timeline.png" descr="Chart m2_06_policy_timeline (charts/m2_06_policy_timeline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31391" cy="3977640"/>
          </a:xfrm>
          <a:prstGeom prst="rect">
            <a:avLst/>
          </a:prstGeom>
        </p:spPr>
      </p:pic>
      <p:sp>
        <p:nvSpPr>
          <p:cNvPr id="4" name="card Pattern"/>
          <p:cNvSpPr/>
          <p:nvPr/>
        </p:nvSpPr>
        <p:spPr>
          <a:xfrm>
            <a:off x="7554351" y="1600200"/>
            <a:ext cx="4088704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37231" y="1737360"/>
            <a:ext cx="3722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Pattern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37231" y="2240280"/>
            <a:ext cx="37229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FY26: Mayor −$5.84M to $50.1M; Council committee +$3.5M and a +$6.03M enhancement ($3.9M one-time).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FY27: Mayor −$5.60M to $49.9M; Council +$5.1M one-time restoration.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DHS lines move by larger amounts in both directions, driven by family rehousing (FRSP), ERAP and PSH vouchers.</a:t>
            </a:r>
            <a:endParaRPr lang="en-US" sz="11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Approved Budget and Financial Plan books FY2024–FY2027, Council committee budget reports, Budget Support Acts; fact_policy_events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events of $1M or more touching homeless, PSH, DV and victim-services lines, FY2024–FY2027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m2_06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Fourteen budget events of $2M or more touched Calvary's OVSJG Victim Services line since 2023.</a:t>
            </a:r>
            <a:endParaRPr lang="en-US" sz="21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005840"/>
                <a:gridCol w="6793992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FY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2023-05-30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Enhance: To support Victim Services - Domestic Violence ($4.6M one-time) [division: Victim…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$10,490,000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2023-05-30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 approved budget vs FY2023 approved (all funds): PS0023 SUBTOTAL: VICTIM SERVICES (as…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$3,717,000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2023-05-30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 approved budget vs FY2023 approved (all funds): P02303 VICTIM SERVICES (as printed in…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$3,710,000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2024-04-03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FY2025 proposal erroneously included $6.538 million of already-spent federal VOCA…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−$2,700,000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2024-06-12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 approved budget vs FY2024 approved (all funds): P02303 VICTIM SERVICES GRANTS (as…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$10,407,000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2024-06-12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 approved budget vs FY2024 approved (all funds): PS0023 SUBTOTAL: VICTIM SERVICES (as…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$10,395,000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2025-06-02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Mayor's proposed FY2026 budget decreased OVSJG Victim Services grants by $5,842,000 to a…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−$5,842,000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2025-06-02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Increase: To align the budget with projected revenues [division: Victim Services; Mayor…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$2,598,000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2025-06-02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Enhance: To support the Sexual Assault Victims’ Right Act Amendment (one-time) [division…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$3,046,000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2025-07-28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Committee on the Judiciary and Public Safety recommended change to the Mayor's proposed…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$3,500,000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2025-07-28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Enhance: To support Victims Services grants ($3.9M one-time) [division: Victim Services…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$6,028,000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Decrease: To align the budget with projected revenues [division: Victim Services; Mayor…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−$2,557,000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Mayor's proposed FY2027 budget included $49,930,000 for Victim Services grants, a $5,596,000…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−$5,596,000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2026-06-23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enhancement to restore funding for Victim Services grants [P02303 VICTIM SERVICES…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$5,100,000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Approved Budget and Financial Plan books FY2024–FY2027, Council committee budget reports, Budget Support Acts; fact_policy_events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OVSJG events with a dated budget stage and |change| ≥ $2M; P02303 and its PS0023 subtotal are separate printed rows; DHS events are in chart_data/m2_06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m2_06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held 0.7–1.5% of the OVSJG pool outside FY22's building award and moved from 1.1% (2019) to 5.3% (2025) of the DC CoC pool.</a:t>
            </a:r>
            <a:endParaRPr lang="en-US" sz="21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1371600"/>
                <a:gridCol w="1371600"/>
                <a:gridCol w="1371600"/>
                <a:gridCol w="1645920"/>
                <a:gridCol w="137160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OVSJG awards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OVSJG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which recurring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share of OVSJG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CoC awards (DC-500)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CoC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share of CoC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$96,738,945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$660,935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$660,935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$22,075,117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$239,659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$47,478,438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$23,608,105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$248,131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$54,624,805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$368,935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$25,062,775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$1,472,398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$90,888,468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$4,149,110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$468,435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$27,933,554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$672,065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$71,617,828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$841,040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$841,040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$29,711,325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$1,151,540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$62,935,024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$913,401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$913,401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$33,659,924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$1,761,352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$92,682,681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$998,278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$998,278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$33,538,014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$1,766,814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$96,653,604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$1,050,651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$1,050,651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OVSJG award lists (all recipients) and HUD CoC award lists (all DC-500 projects); fact_gov_awards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Calvary ÷ pool total by year; OVSJG by DC FY, CoC by competition year as listed (Calvary CoC column follows the m2_05 alignment)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m2_05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six scenarios and their parameters are reproducible from config/scenarios.yaml.</a:t>
            </a:r>
            <a:endParaRPr lang="en-US" sz="21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parameter (FY25)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$4,967,995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$5,575,321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Surplus / deficit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−$607,326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at year 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$2,063,796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Recognized government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$2,892,598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share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Apportioned: OVSJG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$673,109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Apportioned: HUD CoC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$1,187,628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Apportioned: DHS / TCP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$959,935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Apportioned: other federal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$71,926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Foundations 2 share of CoC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Cost-avoidance share (net view)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600200"/>
          <a:ext cx="72511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685800"/>
                <a:gridCol w="914400"/>
                <a:gridCol w="914400"/>
                <a:gridCol w="868680"/>
                <a:gridCol w="7589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loss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Deficit (gross)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Deficit (net)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after 12m (net, months)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to zero (net)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FY25 (actual)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−$607,326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−$607,326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grants cut 10%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$67,311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−$674,637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−$640,981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grants cut 25%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$168,277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−$775,603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−$691,465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CoC renewals cut 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$178,144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−$785,470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−$696,398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CoC project lost (New Foundations 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$365,762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−$973,088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−$790,207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 contract not renewed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$959,935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−$1,567,261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−$1,087,293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(OVSJG -25%, CoC -15%, DHS lost)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$1,306,356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−$1,913,682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−$1,260,504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389120" y="4343400"/>
            <a:ext cx="7251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58"/>
                </a:solidFill>
              </a:rPr>
              <a:t>Cuts: S1 OVSJG 10%; S2 OVSJG 25%; S3 CoC 15%; S4 New Foundations 2 lost (30.8% of CoC); S5 DHS/TCP 100%; S6 S2 + S3 + S5. Net view: 50% of a lost stream's revenue is avoidable cost (cost_avoidance_share). Stream amounts are recognized FY25 government revenue apportioned by FY-aligned award ceilings.</a:t>
            </a:r>
            <a:endParaRPr lang="en-US" sz="100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fact_gov_awards, fact_org_financials (FY25 990); config/scenarios.yaml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apportioned stream amounts × configured cuts; cash after 12 months and months to zero as computed in scripts/02_m2_exposure.py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m2_07 · data as of 2026-10-10 · method note A4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vary Funding Engagement">
  <a:themeElements>
    <a:clrScheme name="Calvary Funding Engagement">
      <a:dk1>
        <a:srgbClr val="1F1B1D"/>
      </a:dk1>
      <a:lt1>
        <a:srgbClr val="FFFFFF"/>
      </a:lt1>
      <a:dk2>
        <a:srgbClr val="41242F"/>
      </a:dk2>
      <a:lt2>
        <a:srgbClr val="F6F3F4"/>
      </a:lt2>
      <a:accent1>
        <a:srgbClr val="A03F7E"/>
      </a:accent1>
      <a:accent2>
        <a:srgbClr val="B8810C"/>
      </a:accent2>
      <a:accent3>
        <a:srgbClr val="0F9ACB"/>
      </a:accent3>
      <a:accent4>
        <a:srgbClr val="CF5A2C"/>
      </a:accent4>
      <a:accent5>
        <a:srgbClr val="3B6FD8"/>
      </a:accent5>
      <a:accent6>
        <a:srgbClr val="D39F28"/>
      </a:accent6>
      <a:hlink>
        <a:srgbClr val="41242F"/>
      </a:hlink>
      <a:folHlink>
        <a:srgbClr val="8C8488"/>
      </a:folHlink>
    </a:clrScheme>
    <a:fontScheme name="Calvary Funding Engag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Calvary funding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A: Calvary and government funding</dc:title>
  <dc:subject>Appendix A of the Calvary funding analysis</dc:subject>
  <dc:creator>Pro bono analysis for Calvary Women's Services</dc:creator>
  <cp:lastModifiedBy>Pro bono analysis for Calvary Women's Services</cp:lastModifiedBy>
  <cp:revision>1</cp:revision>
  <dcterms:created xsi:type="dcterms:W3CDTF">2026-10-11T20:38:54Z</dcterms:created>
  <dcterms:modified xsi:type="dcterms:W3CDTF">2026-10-11T20:38:54Z</dcterms:modified>
</cp:coreProperties>
</file>