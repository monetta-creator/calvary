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A" id="{c780f877-cbbb-e517-d8f5-68cf557ad2a1}">
          <p14:sldIdLst>
            <p14:sldId id="256"/>
          </p14:sldIdLst>
        </p14:section>
        <p14:section name="Trajectory" id="{8bae10c9-eccc-c0ca-0dc8-ce23d266000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overnment streams" id="{524dc21a-29d0-a3d9-c5dd-0208a5c753ed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C budget and pools" id="{4420f6e5-4cb0-de4d-e359-90d80eadfa01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Up TH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402540</c:v>
                </c:pt>
                <c:pt idx="5">
                  <c:v>430873</c:v>
                </c:pt>
                <c:pt idx="6">
                  <c:v>478622</c:v>
                </c:pt>
                <c:pt idx="7">
                  <c:v>507595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Foundations TH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438500</c:v>
                </c:pt>
                <c:pt idx="5">
                  <c:v>482528</c:v>
                </c:pt>
                <c:pt idx="6">
                  <c:v>519656</c:v>
                </c:pt>
                <c:pt idx="7">
                  <c:v>543056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Sister Circle PSH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239659</c:v>
                </c:pt>
                <c:pt idx="1">
                  <c:v>248131</c:v>
                </c:pt>
                <c:pt idx="2">
                  <c:v>250135</c:v>
                </c:pt>
                <c:pt idx="3">
                  <c:v>250135</c:v>
                </c:pt>
                <c:pt idx="4">
                  <c:v>254491</c:v>
                </c:pt>
                <c:pt idx="5">
                  <c:v>296926</c:v>
                </c:pt>
                <c:pt idx="6">
                  <c:v>296930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Reach Up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1222263</c:v>
                </c:pt>
                <c:pt idx="3">
                  <c:v>421930</c:v>
                </c:pt>
                <c:pt idx="4">
                  <c:v>427330</c:v>
                </c:pt>
                <c:pt idx="5">
                  <c:v>921970</c:v>
                </c:pt>
                <c:pt idx="6">
                  <c:v>923637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Foundations 2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469719</c:v>
                </c:pt>
                <c:pt idx="5">
                  <c:v>542456</c:v>
                </c:pt>
                <c:pt idx="6">
                  <c:v>546247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A collects every chart and table behind Calvary's trajectory and government exposure.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A · Calvary and government funding · pro bono funding analysis for Calvary Women's Services. Method notes A1–A6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series agrees across five sources within 1% in every year, so the trajectory rests on firm ground.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554480"/>
                <a:gridCol w="1737360"/>
                <a:gridCol w="173736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 (990)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sources with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990-source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net assets = 990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XML (GivingTuesday), IRS SOI, ProPublica, NCCS e-file tables, Calvary 990 PDFs and audits; calvary_funding_data/reports/calvary_financials_reconciliation.csv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difference = source revenue vs e-filed XML; audits differ 0–9% by design (GAAP in-kind and special-event presentation)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revenue on the audit basis exceeded 990 line 1e by $1.48M in FY21 and matched it in FY22 and FY23.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097280"/>
                <a:gridCol w="1737360"/>
                <a:gridCol w="1463040"/>
                <a:gridCol w="118872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(990 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−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$813,088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$829,432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$503,222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$1,477,939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Part VIII line 1e;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basis; FY24–25 have no public audit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Revenue, expenses, net assets, cash and months of cash by year show the FY22 capital event and the FY23 and FY25 deficits.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463040"/>
                <a:gridCol w="1463040"/>
                <a:gridCol w="1645920"/>
                <a:gridCol w="1463040"/>
                <a:gridCol w="1124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(2024 $)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 (year end)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and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$1,065,764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$379,343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$2,015,275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$1,117,933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$1,144,102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$876,925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$2,761,283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$2,171,801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$1,464,641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$422,040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$2,540,516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$2,593,841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$1,705,571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$367,064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$2,746,362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$2,960,905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$1,879,006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$129,595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$2,658,357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$1,067,632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$1,989,199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$2,601,507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$3,091,744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$1,058,436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$182,750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$3,274,494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$1,119,092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$2,152,260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$2,690,702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$3,276,133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$1,343,966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$2,403,977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$3,051,134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$3,358,790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$1,163,003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$3,215,728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$680,318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$4,722,160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$4,039,108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$1,697,108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$4,459,257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$4,555,754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$2,076,828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$4,550,205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$4,317,045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$9,504,566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$8,872,799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$2,398,667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$5,130,964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−$674,150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$4,588,263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$8,198,649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$2,149,562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$5,310,627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$506,540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$8,705,189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$2,315,867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$4,840,626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$8,098,765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ProPublica), Calvary 990 PDFs and audits FY13–FY23; fact_org_financials; dim_period (CPI-U)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 per year; 2024 dollars via CPI-U; months of cash = cash and savings ÷ (expenses ÷ 12); FY22 includes the $3.68M SLFRF award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contributions and net event income by year show the FY25 collapse against positive net income.</a:t>
            </a:r>
            <a:endParaRPr lang="en-US" sz="2100" dirty="0"/>
          </a:p>
        </p:txBody>
      </p:sp>
      <p:pic>
        <p:nvPicPr>
          <p:cNvPr id="3" name="m1_06_event_income.png" descr="Chart m1_06_event_income (charts/m1_06_event_incom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583680" cy="3291840"/>
          </a:xfrm>
          <a:prstGeom prst="rect">
            <a:avLst/>
          </a:prstGeom>
        </p:spPr>
      </p:pic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00200"/>
          <a:ext cx="4233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1673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(line 1c)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special-event income (line 8c)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−$75,685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$301,790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−$81,352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−$84,479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−$98,619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$331,837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−$76,550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$165,497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−$19,919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$383,731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−$93,154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$457,758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−$149,059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$538,070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−$177,248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$54,730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$218,588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 and 8c;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as reported; line 8c = gross event income less direct event expenses (discovery flag D3: confirm FY25 gala timing)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$511,616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$128,155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2 of 4)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3 of 4)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$13,936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4 of 4)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awards to Calvary rose from $369K to $1.05M between DC FY2020 and FY2026, with the one-time $3.68M building award in FY2022.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1143000"/>
                <a:gridCol w="1051560"/>
                <a:gridCol w="1307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Recurring 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 SLFRF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$402,540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$438,500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$430,873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$482,528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$478,622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$519,656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$507,595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$543,056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84632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FY2019 and FY2022 Reach Up totals combine two awards each ($292,000 + $368,935; $368,935 + $99,500). FY2024–26 lists label all Calvary grants Local; the FY23 SEFA shows SLFRF pass-through.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 (DC Open Data, OVSJG recipient lists); fact_gov_awards (source_type dc_ovsjg)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fiscal year = Calvary fiscal year; the SLFRF building award is excluded from the recurring base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HUD CoC awards to Calvary's three projects rose from $240K (2019) to $1.77M (FY2025) through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68680"/>
                <a:gridCol w="868680"/>
                <a:gridCol w="914400"/>
                <a:gridCol w="91440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Competition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 Circle PSH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$1,222,263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$421,930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$254,491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$427,330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$469,719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$921,970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$542,456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$923,637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$546,247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206240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TCP is the applicant; each project is stored once as a subaward with TCP as pass-through. Reach Up fell from $1.22M (2021) to $0.42M (2022) under TCP reallocation and expanded in 2024.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HUD Continuum of Care award lists, DC-500, competition years 2019–FY2025; fact_gov_awards (source_type hud_coc)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HUD competition year t aligned to Calvary operating year t+1 (coc_award_lag_years: 1 in config/scenarios.yaml)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FY2024 oversight responses are the only public record of Calvary's DHS contracts: $830K for transitional housing and $593K for Sisters Rise.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1097280"/>
                <a:gridCol w="914400"/>
                <a:gridCol w="3017520"/>
                <a:gridCol w="35021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(via TCP)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rating (analyst judgment)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$830,384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beds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EHV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$593,280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units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y this stream rests on one public data point"/>
          <p:cNvSpPr/>
          <p:nvPr/>
        </p:nvSpPr>
        <p:spPr>
          <a:xfrm>
            <a:off x="548640" y="3383280"/>
            <a:ext cx="11094415" cy="22860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Why this stream rests on one public data point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10728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Provider amounts appear only in the Council's FY2024 oversight responses (pp 111–112); DHS provider lists for 2025–2026 were not posted.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TCP's own 990s do not itemize provider payments on Schedule I, so they cannot fill the other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Every other year of this stream is unknown, not zero; the scenario baseline carries the FY2024 value forward (dhs_assumed_flat_from_fy2024).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Sisters Rise is absent from the 2025 Housing Inventory Count (discovery flag D2); TCP subgrant agreements FY2023–FY2026 would close it.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Council FY2024 performance oversight responses (DHS); fact_gov_awards (source_type dc_oversight);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contract ceilings as reported; durability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single audits for FY22 and FY23 show $4.07M and $0.94M of federal expenditures, almost all passed through DC agencies and TCP.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280160"/>
                <a:gridCol w="1463040"/>
                <a:gridCol w="1371600"/>
                <a:gridCol w="822960"/>
                <a:gridCol w="1371600"/>
                <a:gridCol w="11247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Assistance listing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through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and Local Fiscal Recovery Funds (SLFRF)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$415,830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$390,649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Program (EFSP)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$48,889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$67,684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 Employment and Training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$38,989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federal expenditures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$4,067,718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$937,999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Reading the SEFA"/>
          <p:cNvSpPr/>
          <p:nvPr/>
        </p:nvSpPr>
        <p:spPr>
          <a:xfrm>
            <a:off x="548640" y="3749040"/>
            <a:ext cx="11094415" cy="1828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SEFA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89120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SEFA lines are expenditures in the audited fiscal year, not awards; they are never added to OVSJG or CoC award amounts.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FAC's 'audit year 2023' record repeats the FY22 lines; the FY23 audit PDF ($937,999) is used and both are kept, flagged.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FY17–FY20 audits state Calvary was not subject to a single audit; the FY21 audit is silent; FY24–FY25 audits are not public.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FY22 (via Candid) and FY23, Federal Audit Clearinghouse; fact_gov_awards (source_type audit_sefa); notes_for_analysis.md §2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as audited; shares of each year's total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One-time awards (SLFRF, PPP, HUD CPF, LISC) total $4.23M and are excluded from the recurring base.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914400"/>
                <a:gridCol w="1463040"/>
                <a:gridCol w="1645920"/>
                <a:gridCol w="1947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basis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via OVSJG: New Foundations building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Paycheck Protection Loan Program (PPP)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$327,200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Economic Development Initiative, Community Project Funding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Section 4 Capacity Building (LISC subaward)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one-time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$4,232,875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each award was"/>
          <p:cNvSpPr/>
          <p:nvPr/>
        </p:nvSpPr>
        <p:spPr>
          <a:xfrm>
            <a:off x="548640" y="365760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7947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each award was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SLFRF via OVSJG: the New Foundations building (FY2022); it drives the FY22 revenue spike.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HUD Community Project Funding (14.251): $200,000 awarded 2023 for a capital project, $76,866 outlaid in the data.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SBA Paycheck Protection Program loan (2020) and a $25,000 LISC capacity-building subaward (2017).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No DHCD award appears in the government-award data, so none is listed.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lists; USAspending (SBA, HUD);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one-time = capital, pandemic or single-year awards; excluded from recurring stream totals and scenarios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award-ceiling alignment uses DC fiscal years directly, HUD competition years lagged one year, and the FY2024 DHS value carried forward.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97280"/>
                <a:gridCol w="1005840"/>
                <a:gridCol w="914400"/>
                <a:gridCol w="1005840"/>
                <a:gridCol w="1097280"/>
                <a:gridCol w="1188720"/>
                <a:gridCol w="100584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(lagged)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/ TCP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federal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spent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Known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ex SLFRF ÷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$728,938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$676,597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$685,069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$1,619,778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$3,595,278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$4,289,967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(OVSJG, HUD CoC, DC oversight, audit SEFA) and fact_org_financials (audits to FY23, 990 line 1e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year t → Calvary FY t+1; DHS FY2024 carried forward; EFSP/SNAP at audited FY23 level; DHS unknown before FY2024 (flag D1)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distinct renewal mechanisms and risks.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286000"/>
                <a:gridCol w="237744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 (judgment)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 (2021) → $924K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protected, but HUD's 2025 CoC NOFO shifted priorities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 (HUD HIC 2024–2025)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first and latest observed award per stream;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four budget lines behind Calvary's local streams have held flat to rising, with OVSJG under-spending 9–14%.</a:t>
            </a:r>
            <a:endParaRPr lang="en-US" sz="2100" dirty="0"/>
          </a:p>
        </p:txBody>
      </p:sp>
      <p:pic>
        <p:nvPicPr>
          <p:cNvPr id="3" name="m2_04_dc_budget_context.png" descr="Chart m2_04_dc_budget_context (charts/m2_04_dc_budget_context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Approved vs actual"/>
          <p:cNvSpPr/>
          <p:nvPr/>
        </p:nvSpPr>
        <p:spPr>
          <a:xfrm>
            <a:off x="7073537" y="1600200"/>
            <a:ext cx="4569518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256417" y="1737360"/>
            <a:ext cx="42037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Approved vs actual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256417" y="2240280"/>
            <a:ext cx="42037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OVSJG P02303 approved $45.5M (FY24), $55.9M (FY25), $55.4M (FY26), $55.3M (FY27); actual $41.3M and $47.9M in FY24–FY25.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continuum approved $170M (FY24) → $206M (FY26) → $194M (FY27).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PSH approved $145M–$166M FY25–FY27.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services $2.9M–$3.4M approved; the Mayor's FY26 proposal ($2.8M) was not enacted.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total rows per program code; proposed = Mayor's FY2026 proposal as reported by Council committees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 budget lines for OVSJG, the DHS continuum, PSH and DV services by stage and year show approved budgets flat to rising through FY2027.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96696"/>
                <a:gridCol w="996696"/>
                <a:gridCol w="996696"/>
                <a:gridCol w="996696"/>
                <a:gridCol w="996696"/>
                <a:gridCol w="996696"/>
                <a:gridCol w="9966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$337.4M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$198.1M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$144.8M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$147.6M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$143.0M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totals; each book carries two years of actuals and two approved years; proposed = Mayor's FY2026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each of the last two budget seasons the Mayor proposed cuts to OVSJG Victim Services grants and the Council restored them.</a:t>
            </a:r>
            <a:endParaRPr lang="en-US" sz="2100" dirty="0"/>
          </a:p>
        </p:txBody>
      </p:sp>
      <p:pic>
        <p:nvPicPr>
          <p:cNvPr id="3" name="m2_06_policy_timeline.png" descr="Chart m2_06_policy_timeline (charts/m2_06_policy_timelin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31391" cy="3977640"/>
          </a:xfrm>
          <a:prstGeom prst="rect">
            <a:avLst/>
          </a:prstGeom>
        </p:spPr>
      </p:pic>
      <p:sp>
        <p:nvSpPr>
          <p:cNvPr id="4" name="card Pattern"/>
          <p:cNvSpPr/>
          <p:nvPr/>
        </p:nvSpPr>
        <p:spPr>
          <a:xfrm>
            <a:off x="7554351" y="1600200"/>
            <a:ext cx="4088704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37231" y="1737360"/>
            <a:ext cx="3722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37231" y="2240280"/>
            <a:ext cx="37229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FY26: Mayor −$5.84M to $50.1M; Council committee +$3.5M and a +$6.03M enhancement ($3.9M one-time).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FY27: Mayor −$5.60M to $49.9M; Council +$5.1M one-time restoration.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lines move by larger amounts in both directions, driven by family rehousing (FRSP), ERAP and PSH vouchers.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$1M or more touching homeless, PSH, DV and victim-services lines, FY2024–FY2027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Fourteen budget events of $2M or more touched Calvary's OVSJG Victim Services line since 2023.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005840"/>
                <a:gridCol w="6793992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 Services - Domestic Violence ($4.6M one-time) [division: Victim…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P02303 VICTIM SERVICES (as printed in…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2024-04-03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FY2025 proposal erroneously included $6.538 million of already-spent federal VOCA…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−$2,700,000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P02303 VICTIM SERVICES GRANTS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$10,407,000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$10,395,000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FY2026 budget decreased OVSJG Victim Services grants by $5,842,000 to 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−$5,842,000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the Sexual Assault Victims’ Right Act Amendment (one-time) [division…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$3,046,000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Committee on the Judiciary and Public Safety recommended change to the Mayor's proposed…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Victims Services grants ($3.9M one-time) [division: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−$2,557,000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FY2027 budget included $49,930,000 for Victim Services grants, a $5,596,000…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−$5,596,000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2026-06-23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 enhancement to restore funding for Victim Services grants [P02303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OVSJG events with a dated budget stage and |change| ≥ $2M; P02303 and its PS0023 subtotal are separate printed rows; DHS events are in chart_data/m2_06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held 0.7–1.5% of the OVSJG pool outside FY22's building award and moved from 1.1% (2019) to 5.3% (2025) of the DC CoC pool.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1371600"/>
                <a:gridCol w="1371600"/>
                <a:gridCol w="1371600"/>
                <a:gridCol w="1645920"/>
                <a:gridCol w="137160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OVSJG awards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recurring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CoC awards (DC-500)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$96,738,945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$22,075,117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$47,478,438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$23,608,105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$54,624,805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$25,062,775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$90,888,468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$4,149,110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$27,933,554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$71,617,828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$29,711,325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$62,935,024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$33,659,924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$92,682,681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$33,538,014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$96,653,604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(all recipients) and HUD CoC award lists (all DC-500 projects);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year; OVSJG by DC FY, CoC by competition year as listed (Calvary CoC column follows the m2_05 alignment)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six scenarios and their parameters are reproducible from config/scenarios.yaml.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parameter (FY25)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at year 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OVSJG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$673,109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$1,187,628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DHS / TCP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other federal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 share of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Cost-avoidance share (net view)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72511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685800"/>
                <a:gridCol w="914400"/>
                <a:gridCol w="914400"/>
                <a:gridCol w="868680"/>
                <a:gridCol w="758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(gross)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(net)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after 12m (net, months)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(net)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$67,311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−$674,637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−$640,981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$168,277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−$775,603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−$691,465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$178,144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−$785,470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−$696,398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$365,762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−$973,088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−$790,207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−$1,567,261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−$1,087,293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$1,306,356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−$1,913,682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−$1,260,504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389120" y="4343400"/>
            <a:ext cx="7251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Cuts: S1 OVSJG 10%; S2 OVSJG 25%; S3 CoC 15%; S4 New Foundations 2 lost (30.8% of CoC); S5 DHS/TCP 100%; S6 S2 + S3 + S5. Net view: 50% of a lost stream's revenue is avoidable cost (cost_avoidance_share). Stream amounts are recognized FY25 government revenue apportioned by FY-aligned award ceilings.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 (FY25 990);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apportioned stream amounts × configured cuts; cash after 12 months and months to zero as computed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A: Calvary and government funding</dc:title>
  <dc:subject>Appendix A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2026-10-11T03:22:13Z</dcterms:created>
  <dcterms:modified xsi:type="dcterms:W3CDTF">2026-10-11T03:22:13Z</dcterms:modified>
</cp:coreProperties>
</file>