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D" id="{797c4c21-5c27-bb68-dad4-0425ad783993}">
          <p14:sldIdLst>
            <p14:sldId id="256"/>
          </p14:sldIdLst>
        </p14:section>
        <p14:section name="Inputs and data quality" id="{c4fad9b8-97d9-b5de-74ea-70655b3ea7b4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Method notes" id="{eb071dbd-f8dc-7970-ee13-900921613d5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gisters and reruns" id="{c152de0d-b1a2-faf8-aa68-a6db1c5d8106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D: Data and Methods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D · Data and methods · pro bono funding analysis for Calvary Women's Services. Method notes A1–D3 are the numbers that slide footnotes cite in Appendices A–C.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README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calvary_funding_data/README.md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model, conventions, universes, caveats, rebuild steps, "Start here" list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Analysis-outputs section added by Prompt 2 (see…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calvary_funding_data/clean/*.csv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UTF-8 CSVs, 1.9 GB: dim_org, dim_funder, dim_universe_membership, dim_period, dim_geo, dim_program_area…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(567 MB) and fact_org_relationships (101 MB) need usecols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dictionary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calvary_funding_data/clean/data_dictionary.csv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 rows: table, column, type, definition, allowed values, sources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registry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calvary_funding_data/sources/source_registry.csv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 source_ids with URL/file, publisher, retrieved date, license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catalog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calvary_funding_data/sources/api_catalog.md, api_catalog.csv…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sources probed, status, coverage, limits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calvary_funding_data/reports/data_quality.md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counts, null rates, duplicate keys, Calvary reconciliation, CRM verification, unmatched names, person…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listed twice with different counts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inventory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calvary_funding_data/reports/data_inventory.md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Counts per universe, table and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calvary_funding_data/notes_for_analysis.md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sections of observations and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Placeholder-grant figure stale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questions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calvary_funding_data/open_questions.md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assumptions A1–A5 and others; Part B questions for Calvary; Part C extensions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scripts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 (00_setup.py … 80_docs.py, lib/)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Numbered pipeline; run_all.sh at the data-folder root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 file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calvary_funding_data/requirements.txt; environment…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pinned packages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packages added in calvary_analysis/requirements.txt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calvary_funding_data/raw/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Present, 7.0 GB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needed for analysis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calvary_funding_data/logs/build_log.md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6,760 lines, append-only, per-script sections with timestamps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template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 CalvaryPPT_White.pptx (project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4:3 deck (13.54 × 10.16 in), 6 placeholder slides, two logo PNGs (ppt/media/image1.png white background…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layouts worth reusing; Prompt 2 builds its own 16:9 design 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calvary_funding_data/inputs/ (30 files)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Foundation &amp; Corporate Funders_2023-2026.xlsx; audits FY15–FY21, FY23; 990 PDFs TY2014–TY2019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Copies of the same files also sit at the project root and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Supporting reports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calvary_funding_data/reports/reviewer_guide.md…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guide with 6 self-checks; provisional peer rationale and alternates; universe rule counts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core_peers.csv (18, provisional), named_comparators.csv (2), universes.yaml, program_areas.yaml, overrides…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config file (outside the project)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Tavily, FAC, Census, DC MAR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the approved Tier 1 web pull in Phase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Universe rules and sizes run from Calvary alone to 7,705 DMV funders, with 15,812 distinct EINs across all universes.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011680"/>
                <a:gridCol w="6611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(EINs)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NC1 (2)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(311597223) and the CBWC Empowerment Institute (882046704),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CP1 (18)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set in config/core_peers.csv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DCS1 (896), DCS2 (131)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core and adjacent NTEE codes (homelessness, housing, DV/victim services, human services, behavioral health, reentry…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DMV1 (4,250), DMV2 (660)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filters across DC/MD/VA counties in the DC MSA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NW1 (1,118), NW2 (1,326), NW3 (8), NW4 (426)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DV shelters (P43), women's centers (P83, added as NW4), women-named homeless/housing orgs, I71 DV orgs with housing terms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SZ1 (566)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L40/L41/P85/P43/P83, revenue 0.5×–2× Calvary's TY2022–24 median ($4,967,995; band $2,483,998–$9,935,990), so the TY2021 $8.87M outlier is…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(5,855), F2 (1,847), F3 (3)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 (NTEE T-codes), plus three pins: TCP, Washington Area Women's Foundation, America's…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DAF1 (15)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 (Fidelity, Schwab, Vanguard, NPT, …), Schedule I filtered to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calvary_known_funders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KF1 (68), KF2 (20)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named in Calvary's CRM, reports or support page, matched to EINs. KF2 = inferred corporate foundation (low confidence)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Business Master File and e-file index (releases 2021–2026); calvary_funding_data/reports/universe_summary.md;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applied by scripts/20_build_universes.py; size band 0.5–2× Calvary's TY2022–24 median revenue ($4,967,995)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source registry covers 238 sources plus 33 web guideline pages, each with a URL or file and retrieval date.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480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Acquisition type (source_id prefix)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web_ (web pages: Calvary, peers, comparators, funders)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input_ (client-provided files)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api_ (API pulls)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bulk_ (bulk downloads)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doc_ (government documents)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ref_ (reference)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extension: web guideline pages (Phase 3 pull)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77724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(own documents, website, CRM export)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audits, 990 PDFs, annual reports, CRM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and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 (8)…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(annual reports, donor lists)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Hope, 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(7), IRS, Treasury, HUD, GSA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and regional government, DC CoC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GIS / OCTO, OCFO, Council, OVSJG, TCP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(11), CBWC Empowerment…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intermediaries and tools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GivingTuesday Data Commons (5), NCCS (3)…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firms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News and press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releases, local news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1148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Every row in the registry and its extension carries a URL or file path and a retrieval date (all 2026-10-10). The API catalog records 65 sources probed: 55 ok, 4 ok with no results, 3 blocked pending a key (skipped as not needed), 2 not applicable, 1 failed.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calvary_funding_data/sources/source_registry.csv; calvary_analysis/sources/source_registry_extension.csv; sources/api_catalog.md (via methodology.md §2.2)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counts by source_id prefix and by publisher group; extension rows come from the analyst-reviewed Tier 1–2 guideline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dim_program_area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supp_calvary_individual_donor_bands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supp_calvary_program_metrics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supp_calvary_strategic_targets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supp_crm_cash_verification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supp_dc_budget_lines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supp_hic_projects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supp_homeless_counts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candidate_interlocks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Counting notes"/>
          <p:cNvSpPr/>
          <p:nvPr/>
        </p:nvSpPr>
        <p:spPr>
          <a:xfrm>
            <a:off x="8229600" y="1600200"/>
            <a:ext cx="3413455" cy="42062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12480" y="1737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Counting notes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2240280"/>
            <a:ext cx="304769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entity_aliases has 231,647 parsed rows; its 231,678 physical lines include 31 quoted names with line breaks.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fact_gov_awards shows the same effect: 40,300 rows in 42,958 lines.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fact_grants (567 MB) and fact_org_relationships (101 MB) are read with selected columns.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 duplicate primary keys.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2 of 3)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audits balance internally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 of 260 checks pass, across 8 audits and 6 readable 990 PDFs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revenue agrees across independent sources (XML, SOI, ProPublica, NCCS, 990 PDFs)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42 year-source rows differ by &gt;1%. Audits differ 0–9% on revenue for a known reason (GAAP in-kind and special-event presentation); net assets…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 lists add up to reported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on 99.96% of 18,116 returns with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Parsed rows match the original IRS file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of 20 random rows traced to the exact XML element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XML fetch and parse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31,469 of 31,469 returns fetched; 0 parse errors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tables tie to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 of 257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awards and HIC beds tie to HUD's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years tie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confirmations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Cafritz filing: $170,000 to Calvary (TY2024); FY22 audit vs FAC within $3,000; OVSJG awards match across DC open data and PDF lists; Graham's $200K…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keys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Portability (no local paths, usernames or keys)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Rebuild 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2026-10-10: two consecutive offline rebuilds reproduced 24 of 25 tables (22 byte-for-byte); entity_aliases differed only in displayed…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3 of 3)</a:t>
            </a:r>
            <a:endParaRPr lang="en-US" sz="2100" dirty="0"/>
          </a:p>
        </p:txBody>
      </p:sp>
      <p:sp>
        <p:nvSpPr>
          <p:cNvPr id="3" name="card Reconciliation and match rates"/>
          <p:cNvSpPr/>
          <p:nvPr/>
        </p:nvSpPr>
        <p:spPr>
          <a:xfrm>
            <a:off x="548640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 and match rates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Calvary's revenue: one row per fiscal year and source FY2011–FY2025; 990-family sources agree, audits differ 0–9% by design (Appendix A, slide 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FY21: audit government revenue $1,981,161 vs 990 line 1e $503,222.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CRM: of 160 funders, 25 confirmed in window, 7 earlier only, 7 attachment-only lists, 29 with no filing rows, 92 not exempt filers.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Unmatched recipients: 76,801 rows and $3,972,062,391 (10.0% of DC/MD/VA named-recipient dollars) lack an EIN; 'see attached' rows (667, $3,497,262,549) reported separately.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Person matching: 48,563 people; 2,036 linked across organizations (597 high, 1,439 medium); 1,270 low-confidence pairs held back.</a:t>
            </a:r>
            <a:endParaRPr lang="en-US" sz="1050" dirty="0"/>
          </a:p>
        </p:txBody>
      </p:sp>
      <p:sp>
        <p:nvSpPr>
          <p:cNvPr id="6" name="card Known coverage gaps"/>
          <p:cNvSpPr/>
          <p:nvPr/>
        </p:nvSpPr>
        <p:spPr>
          <a:xfrm>
            <a:off x="6245352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Known coverage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990-N / non-filers: 660 sector orgs have no return since TY2020 in the BMF or e-file index (990-N postcard filers or inactive)…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XML fetch: 0 of 31,483 targeted returns not retrieved.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Paper filers: returns filed on paper have no XML; financials rely on SOI/ProPublica where present.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Recent years: TY2024 returns are partially released (IRS 2025-2026 batches); TY2025 returns are mostly not yet filed (fiscal…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Calvary audits for FY22, FY24, FY25 were not provided; FY22 comes from the FY23 audit's comparative column.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FAC audit-year 2023 record for Calvary repeats FY22 SEFA amounts; FY23 audit PDF shows $937,999 (both kept, flagged).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USAspending shows little of the DC pass-through money (SLFRF, CoC via TCP, EFSP); FAC and DC sources cover it.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DHS provider-level grant lists for 2025-2026 were not posted (Excel attachments missing); TCP Schedule I is the fallback.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Corporate giving (non-foundation) appears only where Calvary or a peer lists it (no public filing).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Individual donors are deliberately excluded except as counts per gift band (Calvary donor privacy policy).</a:t>
            </a:r>
            <a:endParaRPr lang="en-US" sz="10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Memory reconciliation found eight differences, none affecting a finding.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737360"/>
                <a:gridCol w="2103120"/>
                <a:gridCol w="3291840"/>
                <a:gridCol w="137160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said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show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Ruling (2026-10-10)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placeholder grants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 returns, $3.2B (same in README, reviewer guide, notes)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data_quality.md §7 and fact_grants: 667 rows, $3,497,262,549; 627 funder-tax-years, 180 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(landscape totals, not Calvary…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$3.5B / 627 funder-years; Prompt 1 docs untouched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~930K 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(rounding)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row 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memory; QC lists 231,647 and 231,678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 parsed rows; 31 quoted names contain line breaks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231,647; count with pandas, never wc -l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depth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TY2020–TY2025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2012–2025; pre-2020 from NCCS/SOI, thinner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TY2020–24 is the complete window; pre-2020 only for long trends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naming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GWCF at $1.21M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raw spellings under EIN 237343119 ($748,500 + $458,000); same for Schwab, Vanguard…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aggregate on funder_id / EIN, never raw name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 machine in original brief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raw/ present (7.0 GB): same 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Provisional, never formally reviewed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statement in README, open questions, proposal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(pending decision)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keep the 18 as provisional; swap via config/core_peers.csv + rerun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 in universes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also in national_women via NW4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311597223 = named_comparators;national_women; 882046704 = named_comparators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(consistent)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memory_reconciliation.md (CP1); methodology.md §8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project memory compared with project files; files are the working source of truth; no item rated High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A1: government share uses the audit basis through FY23 and 990 line 1e for FY24–25, which matched the audits in FY22–23.</a:t>
            </a:r>
            <a:endParaRPr lang="en-US" sz="2100" dirty="0"/>
          </a:p>
        </p:txBody>
      </p:sp>
      <p:sp>
        <p:nvSpPr>
          <p:cNvPr id="3" name="card Question: how large is government money in Calvary's revenue, and how reliable is each measur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large is government money in Calvary's revenue, and how reliable is each measure?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Revenue, expenses, net assets and cash come from fact_org_financials preferred 990 rows, one per fiscal year; five sources agree within 1%.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revenue: audit basis (contracts and grants) FY13–FY23; 990 Part VIII line 1e FY24–FY25.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1e misses contracts booked as program revenue: the FY21 audit shows $1,981,161 against $503,222 on line 1e.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ex-events = contributions total − government − line 1c events; institutional giving is measured from funders' filings instead (A3).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values: CPI-U annual average, base 2024, by the calendar year in which the fiscal year ends.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Peers: line 1e ÷ total revenue on preferred rows, FY2015–FY2025.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FY24 or FY25 audits are public; those years rest on the 990.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990 cannot split individuals from foundations in private contributions.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is comparable from FY2020.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revenue, margin, liquidity and government share through FY23; medium on the FY24–25 government share (990 only).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A1; modules/m1_calvary_trajectory.md; no config file (preferred-row ranking set in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the stated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m1_01–m1_06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A2: each government stream uses one source, never summed, with DC fiscal years as Calvary's and CoC years lagged one.</a:t>
            </a:r>
            <a:endParaRPr lang="en-US" sz="2100" dirty="0"/>
          </a:p>
        </p:txBody>
      </p:sp>
      <p:sp>
        <p:nvSpPr>
          <p:cNvPr id="3" name="card Question: which government streams fund Calvary, and how big is each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government streams fund Calvary, and how big is each?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OVSJG: award lists, DC FY2019–2026.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award lists, competition years 2019–FY2025; each project is stored once as a subaward with TCP as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provider contracts via TCP: Council oversight responses, DC FY2024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Small federal pass-throughs (EFSP, SNAP E&amp;T): audited SEFA lines.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 money listed separately: SLFRF $3.68M, PPP $327K, HUD CPF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Calendars: DC FY = Calvary FY; CoC competition year t → Calvary operating year t+1; SEFA = expenditure in the audited year; the FAC 'audit year 2023' record duplicates FY22, so the FY23 audit PDF ($937,999) is used.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Stream durability (annual, renewal, at-risk) is an analyst rating.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DHS/TCP amounts are public for FY2024 only; other years are unknown, not zero.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one-year CoC lag is an assumption set in config.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policy risk (2025 CoC NOFO, EHV sunset) is only partly in the data.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stream map, pool shares and DC budget lines; durability ratings are judgment.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A2; modules/m2_government_exposure.md; config/scenarios.yaml (coc_award_lag_years)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source_type per stream from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m2_01b, m2_03,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A3: filed grants to Calvary come from funders' own filings for TY2020–24, exclude cumulative rows and aggregate by funder EIN.</a:t>
            </a:r>
            <a:endParaRPr lang="en-US" sz="2100" dirty="0"/>
          </a:p>
        </p:txBody>
      </p:sp>
      <p:sp>
        <p:nvSpPr>
          <p:cNvPr id="3" name="card Question: which institutions fund Calvary, and how concentrated is that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institutions fund Calvary, and how concentrated is that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fact_grants 990-PF and Schedule I rows naming Calvary, TY2020–24, non-cumulative, aggregated by funder EIN.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base is 138 rows from 50 funders, $4.43M.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Concentration = each funder's share of five-year filed grants plus a Herfindahl index (1,168).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is the largest filed funder at $1,206,500 under two raw spellings on one EIN; the Health Equity Fund is attributed to GWCF as funder of record.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CRM export: 160 funders, $10.56M, treated as cumulative over an unconfirmed 2023–26 window (assumption A1) and as cash unless contradicted (A2); checked against each funder's filings and never added to filed annual grants.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Funder tax years do not align with Calvary's fiscal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 and TY2025 mostly unfiled, so 'flat' after TY2023 is partly filing lag.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CRM covers institutional gifts only.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concentration of filed grants.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A3; modules/m1_calvary_trajectory.md; calvary_funding_data/config/funder_match_overrides.csv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share = funder total ÷ $4.43M; HHI on shares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A4: scenarios split FY25 government revenue by ceiling share and apply configured cuts, and the net view treats half as avoidable cost.</a:t>
            </a:r>
            <a:endParaRPr lang="en-US" sz="2100" dirty="0"/>
          </a:p>
        </p:txBody>
      </p:sp>
      <p:sp>
        <p:nvSpPr>
          <p:cNvPr id="3" name="card Question: what happens to revenue, deficit and cash if government streams are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happens to revenue, deficit and cash if government streams are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Baseline: FY25 recognized government revenue ($2.89M) apportioned by ceiling share: OVSJG 23%, CoC 41%, DHS 33%, other 2%.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Each scenario applies its cuts to those stream amounts; gross = the revenue loss; net assumes 50% of a lost stream's revenue is avoidable program cost.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Outputs: revenue loss, deficit, months of cash after a year and months until cash runs out.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Parameters: baseline_fiscal_year 2025; cost_avoidance_share 0.5; dhs_assumed_flat_from_fy2024 true; coc_award_lag_years 1.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S1 OVSJG −10%; S2 OVSJG −25%; S3 CoC −15%; S4 New Foundations 2 lost; S5 DHS/TCP not renewed; S6 combined. Levels set by the CP1 ruling.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Stream shares come from award ceilings, not Calvary's ledger.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value is the FY2024 figure carried forward.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Cost avoidance of 50% is an assumption.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apportionment and carry-forward assumptions drive the stream amounts.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A4; modules/m2_government_exposure.md;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scenario arithmetic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A5: award ceilings are aligned to Calvary's fiscal year and compared with recognized revenue, not substituted for it.</a:t>
            </a:r>
            <a:endParaRPr lang="en-US" sz="2100" dirty="0"/>
          </a:p>
        </p:txBody>
      </p:sp>
      <p:sp>
        <p:nvSpPr>
          <p:cNvPr id="3" name="card Question: does Calvary recognize the government money it is awarded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does Calvary recognize the government money it is awarded?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come from the A2 sources, aligned to Calvary's fiscal year: DC FY = Calvary FY, CoC lagged one year, DHS FY2024 carried 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They are compared with recognized government revenue (990 line 1e for FY24–25) in m2_02.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Result, discovery flag D1: FY24 ceilings $3.6M vs $2.62M recognized; FY25 $4.3M vs $2.89M.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Approved at CP2 as a medium-confidence finding labeled 'ceilings vs recognized'.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Possible explanations: undrawn awards, timing, cost-reimbursement limits or an overstated DHS carry-forward; the data cannot distinguish them.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values before FY2024 are unknown, so earlier ceilings are understated.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EFSP and SNAP E&amp;T are held at the audited FY23 level.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 The FY24 and FY25 audits and TCP subgrant agreements would resolve it.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A5; modules/m2_government_exposure.md; config/scenarios.yaml (dhs_assumed_flat_from_fy2024, 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ex SLFRF ÷ known ceilings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A6: DC budget lines are activity-level totals from the budget books, and policy events add Council reports and Budget Support Acts.</a:t>
            </a:r>
            <a:endParaRPr lang="en-US" sz="2100" dirty="0"/>
          </a:p>
        </p:txBody>
      </p:sp>
      <p:sp>
        <p:nvSpPr>
          <p:cNvPr id="3" name="card Question: are the DC pools Calvary draws on growing or shrinking, and when are they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are the DC pools Calvary draws on growing or shrinking, and when are they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supp_dc_budget_lines (5,172 rows): activity-level totals from the DC Approved Budget and Financial Plan books FY2024–FY2027, approved vs actual vs Mayor's proposal; each book carries two years of actuals and two approved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fact_policy_events (297 rows): dated changes from the budget books, Council committee budget reports, Council Budget Office change charts and the Budget Support Acts FY2024–FY2027.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Committee recommendations the Council did not enact stay as budget_proposed.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Budget tables tie to printed totals (257 of 257).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Lines tracked: OVSJG Victim Services grants, the DHS homeless-services continuum and local PSH, alongside DCHA, DBH, DHCD and DOES.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Mayor's proposals are as reported by Council committees.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Actual spending is available only for years with a later book.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DC budget lines.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A6; modules/m2_government_exposure.md; no config file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'total' rows per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m2_05,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B1: peer metrics use preferred 990 rows, FY2022–24 government-share means and FY2019–24 real growth that skips the FY22 award.</a:t>
            </a:r>
            <a:endParaRPr lang="en-US" sz="2100" dirty="0"/>
          </a:p>
        </p:txBody>
      </p:sp>
      <p:sp>
        <p:nvSpPr>
          <p:cNvPr id="3" name="card Question: how does Calvary compare with its peers on mix, size, growth and liquidit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does Calvary compare with its peers on mix, size, growth and liquidity?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Preferred 990 rows FY2015–FY2025 for Calvary, the 18 provisional peers and the two named comparators.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share: line 1e ÷ total revenue (Calvary FY≤2023 on the audit basis); FY2022–24 means smooth reporting breaks such as Coalition for the Homeless FY23 and Samaritan Inns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growth: CAGR of 2024-dollar revenue FY2019 → FY2024.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cash and savings ÷ monthly expenses.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Typology on the three-year mean: government-anchored ≥65%, mixed 35–65%, philanthropy-led &lt;35%.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Sector distributions: dc_sector FY2023 (n=163), size_matched FY2022 (n=334), national_women FY2022 (n=542), chosen for filing coverage.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Core peers are provisional.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understates government where contracts are booked as program revenue (possibly Samaritan Inns FY24–25).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for shares, growth, liquidity and sector percentiles; medium for the typology of diversifiers.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B1; modules/m3_peer_benchmarking.md;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metrics in scripts/03_m3_peers.py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m3_05, m3_07,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B2: the funder base counts filed grants naming each organization, separates DAF sponsors and measures depth per revenue dollar.</a:t>
            </a:r>
            <a:endParaRPr lang="en-US" sz="2100" dirty="0"/>
          </a:p>
        </p:txBody>
      </p:sp>
      <p:sp>
        <p:nvSpPr>
          <p:cNvPr id="3" name="card Question: how deep is each organization's institutional funder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deep is each organization's institutional funder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base: 990-PF and Schedule I rows naming each organization, TY2020–24, non-cumulative.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Split: institutional vs DAF via dim_funder.funder_type (Fidelity, Schwab, Benevity/AOGF, NPT, Vanguard and others are DAF sponsors).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Measures: institutional-funder count, DAF share of filed grants, and depth = institutional dollars ÷ FY2020–24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Diversifier case studies use line-1e mix trajectories (m3_08).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Only DMV funders' filings are present, so the LA comparators' local funders are not captured.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 for funder-base depth.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B2; modules/m3_peer_benchmarking.md; calvary_funding_data/config/core_peers.csv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depth = institutional $ ÷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B3: comparator profiles combine 990 trajectories, single-audit federal programs and web funder evidence, and each closes with what transfers to Calvary.</a:t>
            </a:r>
            <a:endParaRPr lang="en-US" sz="2100" dirty="0"/>
          </a:p>
        </p:txBody>
      </p:sp>
      <p:sp>
        <p:nvSpPr>
          <p:cNvPr id="3" name="card Question: what can Calvary learn from DWC and SheWorks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can Calvary learn from DWC and SheWorks?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Financials: trajectory, mix and months of cash from preferred 990 rows (line 1e for government).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DWC federal programs: FAC single-audit SEFA FY2020–25.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evidence: DWC donor lists and gala pages (2023, 2025), funders' press releases and announced grants, and DMV funders' filings.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SheWorks: program evidence from the parent's and partners' web pages.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Both appear as Los Angeles reference rows on every peer table and chart.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DWC's fiscal year is the calendar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is the only government measure for both.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LA-area funders are partly captured (no amounts on web lists).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CBWC Institute has three filings; SheWorks launched after the last one.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DWC's trajectory and federal programs; medium on funder lists and the SheWorks parent.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B3; modules/m10_comparator_profiles.md; calvary_funding_data/config/named_comparators.csv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profiles built by scripts/10_m10_profiles.py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m10_01–m10_05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C1: the landscape uses two lenses on filed grants with two exclusions, and five gap categories test whether an absence is current.</a:t>
            </a:r>
            <a:endParaRPr lang="en-US" sz="2100" dirty="0"/>
          </a:p>
        </p:txBody>
      </p:sp>
      <p:sp>
        <p:nvSpPr>
          <p:cNvPr id="3" name="card Question: who funds Calvary's space, and which of those funders do not yet fund Calvar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funds Calvary's space, and which of those funders do not yet fund Calvary?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Base: filed grants TY2020–24, non-cumulative; exclusions: Gates Foundation (global and research recipients) and TCP (public pass-through).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Lens A: grants to the 1,027 dc_sector organizations. Lens B: grants to DC/MD/VA recipients whose purpose is tagged housing, DV or women.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reported separately from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'Funds Calvary' = any filed grant naming Calvary TY2020–24; 'itemized TY2023+' = the funder filed itemized lists recently, so a missing Calvary grant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G1 peer funders (≥2 peers); G2 lapsed (last grant ≤TY2022); G3 headroom (larger grant to a peer); G4 DC-sector majors (≥$500K); G5 peer donor lists only; plus the CRM reconciliation.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'See attached' filers (667 rows, about $3.5B) have no recipient names.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giving without a foundation is invisible in filings.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filing gap may be a DAF-routed gift or a corporate match.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totals, concentration and filing-based gaps; medium on purpose tags and headroom.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C1; modules/m4_funder_landscape.md, modules/m5_funder_gaps.md;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scripts/04_m4_landscape.py and 05_m5_gaps.py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m4_00–m4_08, m5_00–m5_06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C2: the network is a funder-by-recipient graph of filed grants, with rated interlocks and a 0–1 path score.</a:t>
            </a:r>
            <a:endParaRPr lang="en-US" sz="2100" dirty="0"/>
          </a:p>
        </p:txBody>
      </p:sp>
      <p:sp>
        <p:nvSpPr>
          <p:cNvPr id="3" name="card Question: which funders sit closest to Calvary's network, and are there board links to them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sit closest to Calvary's network, and are there board links to them?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Graph: bipartite, funders × 19 recipients (Calvary + 18 provisional peers); edges = filed grants TY2020–24 with exclusions; degree = organizations funded; betweenness on the unweighted graph.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Overlap per peer: shared institutional funders (DAF sponsors excluded), Jaccard similarity, and the peer's institutional funders that do not fund Calvary.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Interlocks: shared_board_member links touching Calvary, a peer or a comparator; person records linked only on an exact normalized name plus a corroborating signal; outputs store person_id only, never names.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CP1 ruling: leadership materials use high-confidence links only; medium links are labeled unconfirmed.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Path strength = 0.40 × peers funded (cap 12) + 0.25 × close peers (cap 8) + 0.25 × overlapping co-funders (cap 20) + 0.10 × any high-confidence board link; consulting variant +0.05 for a medium link.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and DAF-routed individual gifts are only partly visible.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medium-confidence match may be two different people.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graph and overlap counts; medium on the path-strength construct.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C2; modules/m6_network.md; config/landscape_exclusions.csv (path weights documented in the m6_05 manifest note)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scripts/06_m6_network.py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m6_01–m6_05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C3: the pipeline scores candidates on seven weights from one config file and adds analyst-scored government and corporate rows.</a:t>
            </a:r>
            <a:endParaRPr lang="en-US" sz="2100" dirty="0"/>
          </a:p>
        </p:txBody>
      </p:sp>
      <p:sp>
        <p:nvSpPr>
          <p:cNvPr id="3" name="card Question: which funders should Calvary pursue firs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should Calvary pursue first?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Candidates: the M5 gap and current-funder base joined to M6 paths and the M4 landscape; DAF sponsors excluded; the T. Rowe Price Program scored like a DAF.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Weights: mission fit 0.20, peer giving 0.20, regional giving 0.10, award size 0.15, accessibility 0.10, durability 0.10, relationship 0.15.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Tiers: Tier 1 score ≥ 0.62 and median peer grant ≥ $25,000 (max 20); Tier 2 ≥ 0.48; Tier 3 the rest.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Analyst-scored rows: five government rows (OVSJG 0.80, HUD CoC 0.78, DHS 0.72, DHS PSH 0.55, HUD CPF 0.45) and corporate CRM relationships ≥ $50K; Grants.gov notices default to Tier 3.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Web pull: 32 Tier 1–2 funders searched, 128 hits, hand-reviewed into 27 guideline notes (13 first-party, 7 third-party, 7 analyst notes).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Sensitivity: each weight ±0.05 (renormalized) and each tier cutoff ±0.05.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Scores rank evidence, not fit with funder guidelines.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and corporate scores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In-kind channels are penalized, not removed.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ordering is robust to moderate weight changes; exact ranks are not.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C3; modules/m7_pipeline.md; config/scoring_weights.yaml,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scripts/07_m7_pipeline.py, 12_merge_guidelines.py, 13_m7_sensitivity.py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m7_00–m7_05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D1: the expansion scan measures tagged DMV grant dollars, funders and federal notices per area and rates each area's distance.</a:t>
            </a:r>
            <a:endParaRPr lang="en-US" sz="2100" dirty="0"/>
          </a:p>
        </p:txBody>
      </p:sp>
      <p:sp>
        <p:nvSpPr>
          <p:cNvPr id="3" name="card Question: which adjacent program areas would open new funding pools, and how far are they from what Calvary runs toda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adjacent program areas would open new funding pools, and how far are they from what Calvary runs today?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For each tag in dim_program_area: DMV institutional grant dollars TY2020–24 whose purpose text carries the tag (DAF sponsors and exclusions removed).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Funders active, funders at $100K+, median grant, DC policy events, and peer and comparator examples.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Grants.gov notices after dropping research, tribal, rural and overseas notices and keeping HUD, VA, DOL, DOJ, ACF, SAMHSA, USDA, Treasury and ACL.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Distance: core; near = already delivered in some form; medium = same clients, new capability or credential; far = new population or licensing.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Ratings: housing core; DV, behavioral health, workforce and education near; physical health, aging, women veterans and reentry medium; maternal and family health far.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Tagged dollars understate what funders would give (general operating excluded).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Distance ratings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notices are a snapshot.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D1;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scripts/08_m8_expansion.py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m8_01,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D2: universes are rule-built from IRS master files, and the 18 provisional peers change with one config edit.</a:t>
            </a:r>
            <a:endParaRPr lang="en-US" sz="2100" dirty="0"/>
          </a:p>
        </p:txBody>
      </p:sp>
      <p:sp>
        <p:nvSpPr>
          <p:cNvPr id="3" name="card Question: who is Calvary compared with, and how robust is that choic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is Calvary compared with, and how robust is that choice?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Universes are built from the IRS EO BMF and e-file index with rules in config/universes.yaml (sizes on the universes slide).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 candidates: 36 named DC-area seeds plus a sweep of DC/DMV sector charities with revenue ≥ $750K and a shelter/DV NTEE code or a women-focused name.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Score: women focus 3, DV 2, homeless/housing 2, recovery or mental health 1, Ward 7/8 2, DC 1, size similarity up to 2; homeless or DV language must appear in the filing text.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18 peers have not been formally reviewed and are labeled provisional in every output; thirteen alternates are listed in the proposal.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Swap: edit core_peers.csv, rerun 20_build_universes.py, then the analysis scripts from 03 onward.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Peer-dependent outputs that move with the set: B1–B2 benchmarks, gap categories G1 and G3, the network and path strength, and pipeline peer-giving and relationship scores.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differ by universe (dc_sector FY2023; national universes FY2022) because filing coverage collapses afterwards.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Provisional by design; sector percentiles are reported alongside peer ranks.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D2; modules/m3_peer_benchmarking.md; calvary_funding_data/reports/core_peers_proposal.md;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and scores as documented in the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the main limitations are known and bounded, and six documents from Calvary would close the largest of them.</a:t>
            </a:r>
            <a:endParaRPr lang="en-US" sz="2100" dirty="0"/>
          </a:p>
        </p:txBody>
      </p:sp>
      <p:sp>
        <p:nvSpPr>
          <p:cNvPr id="3" name="card Documents requested from Calvary"/>
          <p:cNvSpPr/>
          <p:nvPr/>
        </p:nvSpPr>
        <p:spPr>
          <a:xfrm>
            <a:off x="548640" y="1600200"/>
            <a:ext cx="585216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Documents requested from Calvary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4864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FY24 and FY25 audits, including any single audits: closes the audit-basis government share for FY24–25 and flag D1.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TCP subgrant agreements FY2023–FY2026: closes the DHS/TCP stream (public for one year only) and flags D1 and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 export definitions: window, gift-date basis and the in-kind share of the largest corporate relationships (assumptions A1 and A2).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Sisters Rise / EHV status in FY25: closes flag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FY25 gala timing: closes flag D3.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SheWorks program-level budget and funders.</a:t>
            </a:r>
            <a:endParaRPr lang="en-US" sz="1050" dirty="0"/>
          </a:p>
        </p:txBody>
      </p:sp>
      <p:sp>
        <p:nvSpPr>
          <p:cNvPr id="6" name="card Discovery flags (all approved as proposed at CP2)"/>
          <p:cNvSpPr/>
          <p:nvPr/>
        </p:nvSpPr>
        <p:spPr>
          <a:xfrm>
            <a:off x="6675120" y="1600200"/>
            <a:ext cx="4967935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37360"/>
            <a:ext cx="4602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Discovery flags (all approved as proposed at CP2)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240280"/>
            <a:ext cx="4602175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D1: recognized 67–73% of known award ceilings in FY24–FY25; medium confidence, labeled 'ceilings vs recognized'.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D2: Sisters Rise absent from the 2025 HIC; DHS stream rated 'at risk', FY2024 value kept in the baseline.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D3: event contributions $538K → $55K while net event income turned positive; reported as the largest single swing.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The full limitation list (29 items, each with its mitigation) follows.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D3 and §9; discoveries_log.md; modules/*.md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limitations consolidated from the module readouts and the data-build reports; duplicates merged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</a:t>
            </a:r>
            <a:endParaRPr lang="en-US" sz="2100" dirty="0"/>
          </a:p>
        </p:txBody>
      </p:sp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FY24/FY25 audits are public; those years rest on the 990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used for FY24–25 because it matched audits exactly in FY22–23; audits requested from Calvary (D3)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 understates government money where contracts are booked as program revenue (Calvary FY21; possibly Samaritan Inns FY24–25…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on the audit basis through FY23; both measures shown; three-year means for peers; reporting breaks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amounts are public for FY2024 only; other years are unknown, not zero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carried forward as a config assumption; stream rated "at risk"; TCP agreements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amounts are competition years; the one-year lag to Calvary's operating year is an assumption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 set in scenarios.yaml and named in footnotes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stream shares are apportioned from award ceilings, not from Calvary's ledger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published in m2_07_scenario_parameters; ceilings vs recognized gap reported as flag D1 at medium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policy risk (2025 CoC NOFO, EHV sunset) is only partly in the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external context in durability ratings, not modeled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award sources overlap (awards, payments, SEFA)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source per stream, never summed across source_type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don't align with Calvary's fiscal year; TY2024 is partial and TY2025 mostly unfiled, so "flat" after TY2023 is partly…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window, TY2024 labeled "arriving", TY2025 excluded; "itemized TY2023+" test in M5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990 cannot split individuals from foundations in private contributions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giving measured from funders' own filings instead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is cumulative over an unconfirmed window, institutional only, cash vs in-kind unknown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cumulative_flag=1, never added to annual rows; each funder checked against its filings (supp_crm_cash_verification); questions sent to…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 (continued, 2 of 3)</a:t>
            </a:r>
            <a:endParaRPr lang="en-US" sz="21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filers (667 rows, $3,497,262,549; 627 funder-years) have no recipient names, under-counting some DC funders (Philip L.…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separately; flagged in the landscape table; −0.15 accessibility penalty; CRM used to confirm relationships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 vehicle is invisible in filings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CRM relationships scored as a separate, analyst-scored 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Funder-base, landscape and network metrics cover DMV funders' filings only; DAF Schedule I kept for DC/MD/VA recipients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comparators' funders taken from web lists and press; DWC/SheWorks shown as reference rows, not benchmarks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 of DC/MD/VA named-recipient grant dollars have no recipient EIN (government units, schools, churches)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method and score kept on every row; unmatched mass reported in data_quality.md §7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universe includes DC-based national and research organizations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and TCP excluded via landscape_exclusions.csv; a few research recipients remain and are noted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are provisional; benchmarks, gap list, network and pipeline move with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Labeled provisional everywhere; swap is a config edit plus rerun (§3.2)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filing "gap" may be a gift routed through a DAF, corporate match or fiscal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the CRM before outreach; CRM status feeds the relationship 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are undated and amount-less, and only six peers publish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gap category G5 and as supporting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Several high-count gap funders are in-kind or workplace-giving channels (Gifts for the Homeless, Capital Area Food Bank, America's…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 in-kind penalty; penalized, not removed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Interlocks depend on name matching; a medium match may be two different people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High-confidence only in leadership materials; medium labeled "unconfirmed"; treated as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 (continued, 3 of 3)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weights, pipeline weights, government and corporate scores, durability and distance ratings are analyst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weights in YAML; government rows marked basis = inferred; sensitivity script 13; readouts state "judgment"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scores rank evidence, not fit with funder guidelines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 web pull on Tier 1–2 guidelines; notes merged into the pipeline and 90-day plan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Web-pull top hits were sometimes third-party or unrelated pages, and one registry-extension row (web_guidelines_526037034) has a truncated…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hit hand-reviewed; basis column separates first-party (13), third-party (7) and no usable hit 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Expansion-scan tagged dollars understate what funders would give (general operating excluded); federal notices are a snapshot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as relative pool sizes; distance ratings stated as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data: ward-level ACS has wide margins of error; HIC counts beds, not people, and Calvary's projects were re-labelled in 2024; HUD's…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MOEs kept, no tract figures; bed shares only, re-labelling noted in M9; CoC's 2024 subpopulation table used (2,167 women among 5,616…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comparators: DWC's fiscal year is the calendar year; the CBWC Institute has three filings and SheWorks starts after 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fiscal_year + fye_month shown; medium confidence on the SheWorks parent; SheWorks budget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FAC's "audit year 2023" record for Calvary repeats FY22 amounts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kept and flagged; FY23 audit PDF ($937,999)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 sector orgs have no return since TY2020; paper filers have no XML; national universes fall below 15 filers after FY2022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by rule DCS2; SOI/ProPublica where present; FY2022 benchmark year nationally, FY2023 for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 feed is mostly irrelevant to Calvary (NIH, NSF, embassies)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Filtered by agency and topic; federal notices Tier 3 by 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supplied 40%-61% of Calvary's revenue in every year FY15-FY25 on the audit basis (line 1e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m1_02_revenue_mix, m1_03_gov_share_two_me…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ran a $607K deficit with contributions down $0.8M and the cash cushion at 4.4 months, versus 7.5 months…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m1_04_surplus_deficit, m1_05_months_of_ca…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(FY25), the largest single private-revenue swing.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m1_06_event_income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institutional grants to Calvary have stayed near $1M a year from 26-29 funders, and one funder (GWCF…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m1_07_funder_concentration…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FY22 revenue spike ($8.87M) was a one-time $3.68M SLFRF award for the New Foundations building,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m1_01_revenue_expenses, m1_04_surplus_def…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grew from $6.31M (FY2014) to $34.40M (FY2024) while its government share rose from 24% to 57%; its federal…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SheWorks parent (CBWC Empowerment Institute, founded 2022) is 70% government at $1.84M revenue, down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recurring government awards rose from $0.9M (2019) to about $4.1M (2024) across three channels…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m2_01_stream_map, 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FY24-FY25 Calvary recognized only about 73%-67% of its known award ceilings as revenue.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m2_02_ceilings_vs_recognized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budgets behind Calvary's local streams stayed flat to rising through FY2027, but the Mayor proposed cuts…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m2_04_dc_budget_context, m2_06_policy_tim…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receives about 5% of DC's CoC awards and about 1% of OVSJG's awards.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m2_05_pool_shares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non-renewed DHS/TCP contract would remove about $0.96M (19% of revenue); the combined worst case removes…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m2_07_scenarios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 (continued, 2 of 3)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 EHV-paired PSH beds in the HIC; DHS contract capacity 25; $593K in FY2024) disappeared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government share (53%, FY2022-24 mean) ranks 11 of 19 DC-area organizations: below every DC DV…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m3_01_gov_share_ranked, m3_02_size_vs_gov…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Against the broader sector Calvary is typical: its government share is near the median of DC human-services…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m3_07_sector_distributions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real revenue growth FY19-FY24 (+13.8%/yr) trails only My Sister's Place, DWC and DC SAFE;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m3_03_real_growth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liquidity (5.2 months FY2024, 4.4 in FY2025) is mid-pack; government-anchored DV providers run 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m3_04_months_of_cash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already works institutional funders harder than most peers: 42 institutional funders TY2020-24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m3_06_institutional_base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replicable paths among peers: Samaritan Inns replaced government (72% -&gt; 11%) with program and private…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m3_08_case_studies_mix, m3_05_gov_share_t…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funders put about $132.10M a year into DC-sector organizations TY2020-24 ($660.49M total): 58% through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m4_01_dc_sector_by_year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institutional pool is concentrated: the top 10 funders give 55% of institutional dollars to the DC sector…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m4_03_top_institutional_funders…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typical institutional grant to a DC-sector organization is small (median $10K); six-figure grants are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m4_05_grant_size_by_type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Charitable moved $179.22M into DC-sector organizations in five years, more than any foundation;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m4_06_daf_sponsors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institutional money to the DC sector is general operating or untagged; grants whose purpose names…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m4_07_purpose_tags, m4_08_mission_tagged_…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 (continued, 3 of 3)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institutional funders give to three or more of Calvary's 18 peers and have no filed grant to Calvary; 75…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m5_01_peer_funders_not_calvary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former institutional funders filed itemized grant lists since TY2023 with nothing for Calvary; they once…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m5_02_lapsed_funders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of Calvary's current institutional funders have written larger single grants to a core peer than to Calvary.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m5_03_current_funder_headroom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44% of the CRM's $10.6M in 2023-26 institutional giving is verifiable in funders' own filings; corporate…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m5_06_crm_reconciliation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funder web around Calvary and its peers has 330 funders; the most connected institutional funders (GWCF 18…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m6_03_network, m6_01_central_funders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shares the most institutional funders with Miriam's Kitchen (17), DASH (14) and House of Ruth DC (14)…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m6_02_cofunding_overlap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interlocks are a thin channel: Calvary has 8 shared-board links in filings, 1 at high confidence (none…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m6_04_board_interlocks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scored pipeline has 182 rows: 11 Tier 1 (pursue now), 40 Tier 2, 131 Tier 3. Tier 1 institutional targets…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m7_02_pipeline_scores, m7_03_tier1_score_…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adjacent areas Calvary already touches (DV, behavioral health, workforce, education) carry about $149.22M…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Grants.gov feed yields only 36 relevant federal notices across all areas after filtering; the federal path…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service area carries the city's deepest need: Ward 8 poverty 31% and Ward 7 23% against 15% for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m9_01_ward_indicators, m9_05_ward_map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homeless count fell from 8,350 (2016) to 5,138 (2025) while Calvary's inventory grew to 124 beds and 7%…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m9_02_dc_pit, m9_03_calvary_hic_share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discoveries log records every flag and its resolution: three flags, all approved as proposed at CP2.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00400"/>
                <a:gridCol w="3200400"/>
                <a:gridCol w="2743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recognized only ~67-73% of its known government award ceilings as revenue in FY24-FY25 (ceilings $3.6M / $4.3M vs 990 line 1e $2.62M / $2.89M). Line 1e matched the audited figure exactly in FY22-23, so the 990 number is credible.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$0.9-1.4M/yr of awarded money may be undrawn (utilization, timing, cost-reimbursement limits) or the DHS carry-forward overstates FY25. Undrawn awards are the cheapest revenue to recover and change the verdict from "needs new money" to "needs new money and…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the finding at medium confidence, label it "ceilings vs recognized", and put "FY24/FY25 audits and TCP subgrant agreements" at the top of the questions for Calvary. No scope change.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(24-unit PSH paired with Emergency Housing Vouchers; $593K DHS/TCP contract in FY2024) is absent from the 2025 Housing Inventory Count.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EHV program ended in FY25, part of the FY25 revenue drop is already a lost government stream, and the scenario baseline should exclude it.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the DHS stream as "at risk" in M2 durability; ask Calvary; keep the FY2024 value in the baseline until confirmed.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 while net special-event income turned positive (+$219K).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$0.8M FY25 contribution drop; it is a reporting or scheduling change (gala moved or re-booked) rather than donor flight, which changes the private-revenue story.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it as the largest single swing; ask Calvary whether the FY25 gala moved across the fiscal-year line.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calvary_analysis/discoveries_log.md (evidence column cites chart_data/m2_02, supp_hic_projects, 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entry per flag: date, finding, evidence, why it matters, proposed action,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669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00_env_check.py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Loads clean tables, checks row counts and reviewer-guide self-checks, confirms packages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01_m1_trajectory.py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 Calvary trajectory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02_m2_exposure.py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 streams, ceilings, DC budget, scenarios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03_m3_peers.py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peer benchmarking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(via dim_universe_membership)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04_m4_landscape.py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funder 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05_m5_gaps.py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 gap categories, candidate base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06_m6_network.py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network, interlocks, path scores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07_m7_pipeline.py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 scoring, tiers, 90-day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08_m8_expansion.py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 expansion scan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expansion_areas.yaml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09_m9_need_capacity.py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 need and 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10_m10_profiles.py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 comparator profiles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11_web_tier1_guidelines.py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 guideline pull (network; needs TAVILY_API_KEY)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12_merge_guidelines.py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 hand-reviewed guideline notes into the pipeline and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guideline_notes.csv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13_m7_sensitivity.py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and cutoff sensitivity for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lib/trace.py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Trace test (§6)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png_data_map.csv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§6–§7; calvary_analysis/requirements.txt;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run 00, then 01–10, 12, 13 and lib/trace.py with calvary_funding_data/.venv/bin/python; skip 11 (network pull) on a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 (what to edit)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507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 rerun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calvary_funding_data/config/core_peers.csv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calvary_funding_data/scripts/20_build_universes.py, then analysis 03–07,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calvary_analysis/config/scenarios.yaml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 weights or tiers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calvary_analysis/config/scoring_weights.yaml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 exclusions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calvary_analysis/config/landscape_exclusions.csv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 areas or distances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calvary_analysis/config/expansion_areas.yaml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 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calvary_analysis/config/guideline_notes.csv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Environment and trace test"/>
          <p:cNvSpPr/>
          <p:nvPr/>
        </p:nvSpPr>
        <p:spPr>
          <a:xfrm>
            <a:off x="548640" y="384048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9776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Environment and trace test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48056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Python 3.12 in calvary_funding_data/.venv; analysis packages pinned in calvary_analysis/requirements.txt (pandas, matplotlib, networkx, python-pptx, pyyaml, shapely, markitdown, tavily-python).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 read only calvary_funding_data/clean/ (and raw/geo for the ward map) and resolve paths from their own location.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scripts/lib/trace.py checks chart ID → chart_data CSV → clean table → source registry and prints TRACE OK or the problems.</a:t>
            </a:r>
            <a:endParaRPr lang="en-US" sz="10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§7; calvary_funding_data/README.md (Rebuild)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script appends to analysis_log.md and rewrites its chart data, manifest rows and insight rows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D: Data and methods</dc:title>
  <dc:subject>Appendix D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2026-10-11T20:39:19Z</dcterms:created>
  <dcterms:modified xsi:type="dcterms:W3CDTF">2026-10-11T20:39:19Z</dcterms:modified>
</cp:coreProperties>
</file>