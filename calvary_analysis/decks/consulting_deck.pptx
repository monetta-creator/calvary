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9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0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3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4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5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16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7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8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19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20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21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22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23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24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charts/chart25.xml" ContentType="application/vnd.openxmlformats-officedocument.drawingml.chart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charts/chart26.xml" ContentType="application/vnd.openxmlformats-officedocument.drawingml.chart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charts/chart27.xml" ContentType="application/vnd.openxmlformats-officedocument.drawingml.chart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notesMasterIdLst>
    <p:notesMasterId r:id="rId6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Scope and method" id="{ec2aa4bc-90b6-d671-1492-3bf8336f704e}">
          <p14:sldIdLst>
            <p14:sldId id="256"/>
            <p14:sldId id="257"/>
            <p14:sldId id="258"/>
            <p14:sldId id="259"/>
            <p14:sldId id="260"/>
          </p14:sldIdLst>
        </p14:section>
        <p14:section name="2. Calvary's trajectory" id="{2e79aa74-420f-549e-9419-75fed4e01fc7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3. Government funding" id="{e3cd6884-1e95-9fbe-ce4b-96b8094ce7a2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4. Peer benchmarking" id="{990f928d-1c9d-20f5-710e-ac8410550f56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5. Funder landscape and gaps" id="{a18f48f1-025e-c185-2464-23491ae3d13b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6. Network" id="{6ec8f1d3-24d3-86a3-ad42-6a785f3990a0}">
          <p14:sldIdLst>
            <p14:sldId id="296"/>
            <p14:sldId id="297"/>
            <p14:sldId id="298"/>
            <p14:sldId id="299"/>
            <p14:sldId id="300"/>
          </p14:sldIdLst>
        </p14:section>
        <p14:section name="7. Pipeline and scoring" id="{a49ff8b6-5adb-6098-900b-9b63c5d4aca3}">
          <p14:sldIdLst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8. Mission expansion" id="{211f53e2-bfc2-e4af-cefb-6ba2d4c83a6e}">
          <p14:sldIdLst>
            <p14:sldId id="307"/>
            <p14:sldId id="308"/>
            <p14:sldId id="309"/>
            <p14:sldId id="310"/>
          </p14:sldIdLst>
        </p14:section>
        <p14:section name="9. Need and capacity" id="{edce2d45-8e93-40cc-05e0-cb93cc5d7d76}">
          <p14:sldIdLst>
            <p14:sldId id="311"/>
            <p14:sldId id="312"/>
            <p14:sldId id="313"/>
          </p14:sldIdLst>
        </p14:section>
        <p14:section name="10. Named comparators" id="{0769fb8e-a803-e580-6afe-a1670404e749}">
          <p14:sldIdLst>
            <p14:sldId id="314"/>
            <p14:sldId id="315"/>
            <p14:sldId id="316"/>
          </p14:sldIdLst>
        </p14:section>
        <p14:section name="11. Verdict, recommendations and open items" id="{01ac4774-9fe8-6cfd-e538-dc1892904c77}">
          <p14:sldIdLst>
            <p14:sldId id="317"/>
            <p14:sldId id="318"/>
            <p14:sldId id="319"/>
            <p14:sldId id="320"/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Audit basis</c:v>
                </c:pt>
              </c:strCache>
            </c:strRef>
          </c:tx>
          <c:spPr>
            <a:solidFill>
              <a:srgbClr val="A03F7E"/>
            </a:solidFill>
            <a:ln w="25400" cap="flat">
              <a:solidFill>
                <a:srgbClr val="A03F7E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03F7E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FY13</c:v>
                  </c:pt>
                  <c:pt idx="1">
                    <c:v>FY14</c:v>
                  </c:pt>
                  <c:pt idx="2">
                    <c:v>FY15</c:v>
                  </c:pt>
                  <c:pt idx="3">
                    <c:v>FY16</c:v>
                  </c:pt>
                  <c:pt idx="4">
                    <c:v>FY17</c:v>
                  </c:pt>
                  <c:pt idx="5">
                    <c:v>FY18</c:v>
                  </c:pt>
                  <c:pt idx="6">
                    <c:v>FY19</c:v>
                  </c:pt>
                  <c:pt idx="7">
                    <c:v>FY20</c:v>
                  </c:pt>
                  <c:pt idx="8">
                    <c:v>FY21</c:v>
                  </c:pt>
                  <c:pt idx="9">
                    <c:v>FY22</c:v>
                  </c:pt>
                  <c:pt idx="10">
                    <c:v>FY23</c:v>
                  </c:pt>
                  <c:pt idx="11">
                    <c:v>FY24</c:v>
                  </c:pt>
                  <c:pt idx="12">
                    <c:v>FY25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0.3953681290948752</c:v>
                </c:pt>
                <c:pt idx="1">
                  <c:v>0.37404395636111754</c:v>
                </c:pt>
                <c:pt idx="2">
                  <c:v>0.4086001078198856</c:v>
                </c:pt>
                <c:pt idx="3">
                  <c:v>0.43783683312790483</c:v>
                </c:pt>
                <c:pt idx="4">
                  <c:v>0.39695525173852003</c:v>
                </c:pt>
                <c:pt idx="5">
                  <c:v>0.416317316583235</c:v>
                </c:pt>
                <c:pt idx="6">
                  <c:v>0.4860197479789837</c:v>
                </c:pt>
                <c:pt idx="7">
                  <c:v>0.5541596014772684</c:v>
                </c:pt>
                <c:pt idx="8">
                  <c:v>0.5042917313313314</c:v>
                </c:pt>
                <c:pt idx="9">
                  <c:v>0.6137111314308068</c:v>
                </c:pt>
                <c:pt idx="10">
                  <c:v>0.5118716128166702</c:v>
                </c:pt>
                <c:pt idx="11">
                  <c:v/>
                </c:pt>
                <c:pt idx="12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990 line 1e</c:v>
                </c:pt>
              </c:strCache>
            </c:strRef>
          </c:tx>
          <c:spPr>
            <a:solidFill>
              <a:srgbClr val="B9B2B6"/>
            </a:solidFill>
            <a:ln w="25400" cap="flat">
              <a:solidFill>
                <a:srgbClr val="B9B2B6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9B2B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FY13</c:v>
                  </c:pt>
                  <c:pt idx="1">
                    <c:v>FY14</c:v>
                  </c:pt>
                  <c:pt idx="2">
                    <c:v>FY15</c:v>
                  </c:pt>
                  <c:pt idx="3">
                    <c:v>FY16</c:v>
                  </c:pt>
                  <c:pt idx="4">
                    <c:v>FY17</c:v>
                  </c:pt>
                  <c:pt idx="5">
                    <c:v>FY18</c:v>
                  </c:pt>
                  <c:pt idx="6">
                    <c:v>FY19</c:v>
                  </c:pt>
                  <c:pt idx="7">
                    <c:v>FY20</c:v>
                  </c:pt>
                  <c:pt idx="8">
                    <c:v>FY21</c:v>
                  </c:pt>
                  <c:pt idx="9">
                    <c:v>FY22</c:v>
                  </c:pt>
                  <c:pt idx="10">
                    <c:v>FY23</c:v>
                  </c:pt>
                  <c:pt idx="11">
                    <c:v>FY24</c:v>
                  </c:pt>
                  <c:pt idx="12">
                    <c:v>FY25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>0.44224562269958045</c:v>
                </c:pt>
                <c:pt idx="3">
                  <c:v>0.46864642695118625</c:v>
                </c:pt>
                <c:pt idx="4">
                  <c:v>0.42738926609114736</c:v>
                </c:pt>
                <c:pt idx="5">
                  <c:v>0.4546508448167718</c:v>
                </c:pt>
                <c:pt idx="6">
                  <c:v>0.505132550334221</c:v>
                </c:pt>
                <c:pt idx="7">
                  <c:v>0.5559788051783783</c:v>
                </c:pt>
                <c:pt idx="8">
                  <c:v>0.1306396911305966</c:v>
                </c:pt>
                <c:pt idx="9">
                  <c:v>0.6411800727395754</c:v>
                </c:pt>
                <c:pt idx="10">
                  <c:v>0.5521650667943513</c:v>
                </c:pt>
                <c:pt idx="11">
                  <c:v>0.4505978597485683</c:v>
                </c:pt>
                <c:pt idx="12">
                  <c:v>0.5822465602320454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(2024 $)</c:v>
                </c:pt>
              </c:strCache>
            </c:strRef>
          </c:tx>
          <c:spPr>
            <a:solidFill>
              <a:srgbClr val="A03F7E"/>
            </a:solidFill>
            <a:ln w="25400" cap="flat">
              <a:solidFill>
                <a:srgbClr val="A03F7E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03F7E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FY11</c:v>
                  </c:pt>
                  <c:pt idx="1">
                    <c:v>FY12</c:v>
                  </c:pt>
                  <c:pt idx="2">
                    <c:v>FY13</c:v>
                  </c:pt>
                  <c:pt idx="3">
                    <c:v>FY14</c:v>
                  </c:pt>
                  <c:pt idx="4">
                    <c:v>FY15</c:v>
                  </c:pt>
                  <c:pt idx="5">
                    <c:v>FY16</c:v>
                  </c:pt>
                  <c:pt idx="6">
                    <c:v>FY17</c:v>
                  </c:pt>
                  <c:pt idx="7">
                    <c:v>FY18</c:v>
                  </c:pt>
                  <c:pt idx="8">
                    <c:v>FY19</c:v>
                  </c:pt>
                  <c:pt idx="9">
                    <c:v>FY20</c:v>
                  </c:pt>
                  <c:pt idx="10">
                    <c:v>FY21</c:v>
                  </c:pt>
                  <c:pt idx="11">
                    <c:v>FY22</c:v>
                  </c:pt>
                  <c:pt idx="12">
                    <c:v>FY23</c:v>
                  </c:pt>
                  <c:pt idx="13">
                    <c:v>FY24</c:v>
                  </c:pt>
                  <c:pt idx="14">
                    <c:v>FY25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2015275.4119570001</c:v>
                </c:pt>
                <c:pt idx="1">
                  <c:v>2761282.706479</c:v>
                </c:pt>
                <c:pt idx="2">
                  <c:v>2540515.960593</c:v>
                </c:pt>
                <c:pt idx="3">
                  <c:v>2746361.58783</c:v>
                </c:pt>
                <c:pt idx="4">
                  <c:v>2658357.311687</c:v>
                </c:pt>
                <c:pt idx="5">
                  <c:v>2601507.010557</c:v>
                </c:pt>
                <c:pt idx="6">
                  <c:v>2891150.137272</c:v>
                </c:pt>
                <c:pt idx="7">
                  <c:v>2690702.3243759996</c:v>
                </c:pt>
                <c:pt idx="8">
                  <c:v>3051134.0125760003</c:v>
                </c:pt>
                <c:pt idx="9">
                  <c:v>4722159.697794001</c:v>
                </c:pt>
                <c:pt idx="10">
                  <c:v>4459256.981567999</c:v>
                </c:pt>
                <c:pt idx="11">
                  <c:v>9504565.85925</c:v>
                </c:pt>
                <c:pt idx="12">
                  <c:v>4588263.272116</c:v>
                </c:pt>
                <c:pt idx="13">
                  <c:v>5817167</c:v>
                </c:pt>
                <c:pt idx="14">
                  <c:v>4840625.54419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(nominal)</c:v>
                </c:pt>
              </c:strCache>
            </c:strRef>
          </c:tx>
          <c:spPr>
            <a:solidFill>
              <a:srgbClr val="B9B2B6"/>
            </a:solidFill>
            <a:ln w="25400" cap="flat">
              <a:solidFill>
                <a:srgbClr val="B9B2B6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9B2B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FY11</c:v>
                  </c:pt>
                  <c:pt idx="1">
                    <c:v>FY12</c:v>
                  </c:pt>
                  <c:pt idx="2">
                    <c:v>FY13</c:v>
                  </c:pt>
                  <c:pt idx="3">
                    <c:v>FY14</c:v>
                  </c:pt>
                  <c:pt idx="4">
                    <c:v>FY15</c:v>
                  </c:pt>
                  <c:pt idx="5">
                    <c:v>FY16</c:v>
                  </c:pt>
                  <c:pt idx="6">
                    <c:v>FY17</c:v>
                  </c:pt>
                  <c:pt idx="7">
                    <c:v>FY18</c:v>
                  </c:pt>
                  <c:pt idx="8">
                    <c:v>FY19</c:v>
                  </c:pt>
                  <c:pt idx="9">
                    <c:v>FY20</c:v>
                  </c:pt>
                  <c:pt idx="10">
                    <c:v>FY21</c:v>
                  </c:pt>
                  <c:pt idx="11">
                    <c:v>FY22</c:v>
                  </c:pt>
                  <c:pt idx="12">
                    <c:v>FY23</c:v>
                  </c:pt>
                  <c:pt idx="13">
                    <c:v>FY24</c:v>
                  </c:pt>
                  <c:pt idx="14">
                    <c:v>FY25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1445107</c:v>
                </c:pt>
                <c:pt idx="1">
                  <c:v>2021027</c:v>
                </c:pt>
                <c:pt idx="2">
                  <c:v>1886681</c:v>
                </c:pt>
                <c:pt idx="3">
                  <c:v>2072635</c:v>
                </c:pt>
                <c:pt idx="4">
                  <c:v>2008601</c:v>
                </c:pt>
                <c:pt idx="5">
                  <c:v>1990443</c:v>
                </c:pt>
                <c:pt idx="6">
                  <c:v>2259177</c:v>
                </c:pt>
                <c:pt idx="7">
                  <c:v>2153899</c:v>
                </c:pt>
                <c:pt idx="8">
                  <c:v>2486678</c:v>
                </c:pt>
                <c:pt idx="9">
                  <c:v>3896046</c:v>
                </c:pt>
                <c:pt idx="10">
                  <c:v>3851984</c:v>
                </c:pt>
                <c:pt idx="11">
                  <c:v>8867250</c:v>
                </c:pt>
                <c:pt idx="12">
                  <c:v>4456814</c:v>
                </c:pt>
                <c:pt idx="13">
                  <c:v>5817167</c:v>
                </c:pt>
                <c:pt idx="14">
                  <c:v>4967995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Expenses (2024 $)</c:v>
                </c:pt>
              </c:strCache>
            </c:strRef>
          </c:tx>
          <c:spPr>
            <a:solidFill>
              <a:srgbClr val="CF5A2C"/>
            </a:solidFill>
            <a:ln w="25400" cap="flat">
              <a:solidFill>
                <a:srgbClr val="CF5A2C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F5A2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FY11</c:v>
                  </c:pt>
                  <c:pt idx="1">
                    <c:v>FY12</c:v>
                  </c:pt>
                  <c:pt idx="2">
                    <c:v>FY13</c:v>
                  </c:pt>
                  <c:pt idx="3">
                    <c:v>FY14</c:v>
                  </c:pt>
                  <c:pt idx="4">
                    <c:v>FY15</c:v>
                  </c:pt>
                  <c:pt idx="5">
                    <c:v>FY16</c:v>
                  </c:pt>
                  <c:pt idx="6">
                    <c:v>FY17</c:v>
                  </c:pt>
                  <c:pt idx="7">
                    <c:v>FY18</c:v>
                  </c:pt>
                  <c:pt idx="8">
                    <c:v>FY19</c:v>
                  </c:pt>
                  <c:pt idx="9">
                    <c:v>FY20</c:v>
                  </c:pt>
                  <c:pt idx="10">
                    <c:v>FY21</c:v>
                  </c:pt>
                  <c:pt idx="11">
                    <c:v>FY22</c:v>
                  </c:pt>
                  <c:pt idx="12">
                    <c:v>FY23</c:v>
                  </c:pt>
                  <c:pt idx="13">
                    <c:v>FY24</c:v>
                  </c:pt>
                  <c:pt idx="14">
                    <c:v>FY25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1486262.251964</c:v>
                </c:pt>
                <c:pt idx="1">
                  <c:v>1563160.248254</c:v>
                </c:pt>
                <c:pt idx="2">
                  <c:v>1972216.7324730002</c:v>
                </c:pt>
                <c:pt idx="3">
                  <c:v>2259980.498118</c:v>
                </c:pt>
                <c:pt idx="4">
                  <c:v>2486840.0139220003</c:v>
                </c:pt>
                <c:pt idx="5">
                  <c:v>2599881.103801</c:v>
                </c:pt>
                <c:pt idx="6">
                  <c:v>2657278.383272</c:v>
                </c:pt>
                <c:pt idx="7">
                  <c:v>2688654.84624</c:v>
                </c:pt>
                <c:pt idx="8">
                  <c:v>2949660.5471840003</c:v>
                </c:pt>
                <c:pt idx="9">
                  <c:v>3897587.7493920005</c:v>
                </c:pt>
                <c:pt idx="10">
                  <c:v>3860731.2174839997</c:v>
                </c:pt>
                <c:pt idx="11">
                  <c:v>4877241.8839650005</c:v>
                </c:pt>
                <c:pt idx="12">
                  <c:v>5282296.652216</c:v>
                </c:pt>
                <c:pt idx="13">
                  <c:v>5310627</c:v>
                </c:pt>
                <c:pt idx="14">
                  <c:v>5432380.920202</c:v>
                </c:pt>
              </c:numCache>
            </c:numRef>
          </c:val>
          <c:smooth val="0"/>
        </c:ser>
        <c:dLbls>
          <c:numFmt formatCode="$#,##0.0,,&quot;M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$#,##0.0,,&quot;M&quot;" sourceLinked="0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Government</c:v>
                </c:pt>
              </c:strCache>
            </c:strRef>
          </c:tx>
          <c:spPr>
            <a:solidFill>
              <a:srgbClr val="A03F7E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FY15</c:v>
                  </c:pt>
                  <c:pt idx="1">
                    <c:v>FY16</c:v>
                  </c:pt>
                  <c:pt idx="2">
                    <c:v>FY17</c:v>
                  </c:pt>
                  <c:pt idx="3">
                    <c:v>FY18</c:v>
                  </c:pt>
                  <c:pt idx="4">
                    <c:v>FY19</c:v>
                  </c:pt>
                  <c:pt idx="5">
                    <c:v>FY20</c:v>
                  </c:pt>
                  <c:pt idx="6">
                    <c:v>FY21</c:v>
                  </c:pt>
                  <c:pt idx="7">
                    <c:v>FY22</c:v>
                  </c:pt>
                  <c:pt idx="8">
                    <c:v>FY23</c:v>
                  </c:pt>
                  <c:pt idx="9">
                    <c:v>FY24</c:v>
                  </c:pt>
                  <c:pt idx="10">
                    <c:v>FY25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888295</c:v>
                </c:pt>
                <c:pt idx="1">
                  <c:v>932814</c:v>
                </c:pt>
                <c:pt idx="2">
                  <c:v>965548</c:v>
                </c:pt>
                <c:pt idx="3">
                  <c:v>979272</c:v>
                </c:pt>
                <c:pt idx="4">
                  <c:v>1256102</c:v>
                </c:pt>
                <c:pt idx="5">
                  <c:v>2166119</c:v>
                </c:pt>
                <c:pt idx="6">
                  <c:v>1981161</c:v>
                </c:pt>
                <c:pt idx="7">
                  <c:v>5685504</c:v>
                </c:pt>
                <c:pt idx="8">
                  <c:v>2460897</c:v>
                </c:pt>
                <c:pt idx="9">
                  <c:v>2621203</c:v>
                </c:pt>
                <c:pt idx="10">
                  <c:v>2892598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contributions ex events</c:v>
                </c:pt>
              </c:strCache>
            </c:strRef>
          </c:tx>
          <c:spPr>
            <a:solidFill>
              <a:srgbClr val="B8810C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FY15</c:v>
                  </c:pt>
                  <c:pt idx="1">
                    <c:v>FY16</c:v>
                  </c:pt>
                  <c:pt idx="2">
                    <c:v>FY17</c:v>
                  </c:pt>
                  <c:pt idx="3">
                    <c:v>FY18</c:v>
                  </c:pt>
                  <c:pt idx="4">
                    <c:v>FY19</c:v>
                  </c:pt>
                  <c:pt idx="5">
                    <c:v>FY20</c:v>
                  </c:pt>
                  <c:pt idx="6">
                    <c:v>FY21</c:v>
                  </c:pt>
                  <c:pt idx="7">
                    <c:v>FY22</c:v>
                  </c:pt>
                  <c:pt idx="8">
                    <c:v>FY23</c:v>
                  </c:pt>
                  <c:pt idx="9">
                    <c:v>FY24</c:v>
                  </c:pt>
                  <c:pt idx="10">
                    <c:v>FY25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907544</c:v>
                </c:pt>
                <c:pt idx="1">
                  <c:v>836710</c:v>
                </c:pt>
                <c:pt idx="2">
                  <c:v>1071475</c:v>
                </c:pt>
                <c:pt idx="3">
                  <c:v>992376</c:v>
                </c:pt>
                <c:pt idx="4">
                  <c:v>973806</c:v>
                </c:pt>
                <c:pt idx="5">
                  <c:v>1582461</c:v>
                </c:pt>
                <c:pt idx="6">
                  <c:v>1601560</c:v>
                </c:pt>
                <c:pt idx="7">
                  <c:v>2885189</c:v>
                </c:pt>
                <c:pt idx="8">
                  <c:v>1684754</c:v>
                </c:pt>
                <c:pt idx="9">
                  <c:v>2392856</c:v>
                </c:pt>
                <c:pt idx="10">
                  <c:v>1799806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Event contributions</c:v>
                </c:pt>
              </c:strCache>
            </c:strRef>
          </c:tx>
          <c:spPr>
            <a:solidFill>
              <a:srgbClr val="CF5A2C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FY15</c:v>
                  </c:pt>
                  <c:pt idx="1">
                    <c:v>FY16</c:v>
                  </c:pt>
                  <c:pt idx="2">
                    <c:v>FY17</c:v>
                  </c:pt>
                  <c:pt idx="3">
                    <c:v>FY18</c:v>
                  </c:pt>
                  <c:pt idx="4">
                    <c:v>FY19</c:v>
                  </c:pt>
                  <c:pt idx="5">
                    <c:v>FY20</c:v>
                  </c:pt>
                  <c:pt idx="6">
                    <c:v>FY21</c:v>
                  </c:pt>
                  <c:pt idx="7">
                    <c:v>FY22</c:v>
                  </c:pt>
                  <c:pt idx="8">
                    <c:v>FY23</c:v>
                  </c:pt>
                  <c:pt idx="9">
                    <c:v>FY24</c:v>
                  </c:pt>
                  <c:pt idx="10">
                    <c:v>FY25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287580</c:v>
                </c:pt>
                <c:pt idx="1">
                  <c:v>301790</c:v>
                </c:pt>
                <c:pt idx="2">
                  <c:v>301899</c:v>
                </c:pt>
                <c:pt idx="3">
                  <c:v>279265</c:v>
                </c:pt>
                <c:pt idx="4">
                  <c:v>331837</c:v>
                </c:pt>
                <c:pt idx="5">
                  <c:v>165497</c:v>
                </c:pt>
                <c:pt idx="6">
                  <c:v>287145</c:v>
                </c:pt>
                <c:pt idx="7">
                  <c:v>383731</c:v>
                </c:pt>
                <c:pt idx="8">
                  <c:v>457758</c:v>
                </c:pt>
                <c:pt idx="9">
                  <c:v>538070</c:v>
                </c:pt>
                <c:pt idx="10">
                  <c:v>54730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revenue</c:v>
                </c:pt>
              </c:strCache>
            </c:strRef>
          </c:tx>
          <c:spPr>
            <a:solidFill>
              <a:srgbClr val="3B6FD8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FY15</c:v>
                  </c:pt>
                  <c:pt idx="1">
                    <c:v>FY16</c:v>
                  </c:pt>
                  <c:pt idx="2">
                    <c:v>FY17</c:v>
                  </c:pt>
                  <c:pt idx="3">
                    <c:v>FY18</c:v>
                  </c:pt>
                  <c:pt idx="4">
                    <c:v>FY19</c:v>
                  </c:pt>
                  <c:pt idx="5">
                    <c:v>FY20</c:v>
                  </c:pt>
                  <c:pt idx="6">
                    <c:v>FY21</c:v>
                  </c:pt>
                  <c:pt idx="7">
                    <c:v>FY22</c:v>
                  </c:pt>
                  <c:pt idx="8">
                    <c:v>FY23</c:v>
                  </c:pt>
                  <c:pt idx="9">
                    <c:v>FY24</c:v>
                  </c:pt>
                  <c:pt idx="10">
                    <c:v>FY25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265038</c:v>
                </c:pt>
                <c:pt idx="10">
                  <c:v>220861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$#,##0.0,,&quot;M&quot;" sourceLinked="0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Audit basis</c:v>
                </c:pt>
              </c:strCache>
            </c:strRef>
          </c:tx>
          <c:spPr>
            <a:solidFill>
              <a:srgbClr val="A03F7E"/>
            </a:solidFill>
            <a:ln w="25400" cap="flat">
              <a:solidFill>
                <a:srgbClr val="A03F7E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03F7E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FY13</c:v>
                  </c:pt>
                  <c:pt idx="1">
                    <c:v>FY14</c:v>
                  </c:pt>
                  <c:pt idx="2">
                    <c:v>FY15</c:v>
                  </c:pt>
                  <c:pt idx="3">
                    <c:v>FY16</c:v>
                  </c:pt>
                  <c:pt idx="4">
                    <c:v>FY17</c:v>
                  </c:pt>
                  <c:pt idx="5">
                    <c:v>FY18</c:v>
                  </c:pt>
                  <c:pt idx="6">
                    <c:v>FY19</c:v>
                  </c:pt>
                  <c:pt idx="7">
                    <c:v>FY20</c:v>
                  </c:pt>
                  <c:pt idx="8">
                    <c:v>FY21</c:v>
                  </c:pt>
                  <c:pt idx="9">
                    <c:v>FY22</c:v>
                  </c:pt>
                  <c:pt idx="10">
                    <c:v>FY23</c:v>
                  </c:pt>
                  <c:pt idx="11">
                    <c:v>FY24</c:v>
                  </c:pt>
                  <c:pt idx="12">
                    <c:v>FY25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0.3953681290948752</c:v>
                </c:pt>
                <c:pt idx="1">
                  <c:v>0.37404395636111754</c:v>
                </c:pt>
                <c:pt idx="2">
                  <c:v>0.4086001078198856</c:v>
                </c:pt>
                <c:pt idx="3">
                  <c:v>0.43783683312790483</c:v>
                </c:pt>
                <c:pt idx="4">
                  <c:v>0.39695525173852003</c:v>
                </c:pt>
                <c:pt idx="5">
                  <c:v>0.416317316583235</c:v>
                </c:pt>
                <c:pt idx="6">
                  <c:v>0.4860197479789837</c:v>
                </c:pt>
                <c:pt idx="7">
                  <c:v>0.5541596014772684</c:v>
                </c:pt>
                <c:pt idx="8">
                  <c:v>0.5042917313313314</c:v>
                </c:pt>
                <c:pt idx="9">
                  <c:v>0.6137111314308068</c:v>
                </c:pt>
                <c:pt idx="10">
                  <c:v>0.5118716128166702</c:v>
                </c:pt>
                <c:pt idx="11">
                  <c:v/>
                </c:pt>
                <c:pt idx="12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990 line 1e</c:v>
                </c:pt>
              </c:strCache>
            </c:strRef>
          </c:tx>
          <c:spPr>
            <a:solidFill>
              <a:srgbClr val="B9B2B6"/>
            </a:solidFill>
            <a:ln w="25400" cap="flat">
              <a:solidFill>
                <a:srgbClr val="B9B2B6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9B2B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FY13</c:v>
                  </c:pt>
                  <c:pt idx="1">
                    <c:v>FY14</c:v>
                  </c:pt>
                  <c:pt idx="2">
                    <c:v>FY15</c:v>
                  </c:pt>
                  <c:pt idx="3">
                    <c:v>FY16</c:v>
                  </c:pt>
                  <c:pt idx="4">
                    <c:v>FY17</c:v>
                  </c:pt>
                  <c:pt idx="5">
                    <c:v>FY18</c:v>
                  </c:pt>
                  <c:pt idx="6">
                    <c:v>FY19</c:v>
                  </c:pt>
                  <c:pt idx="7">
                    <c:v>FY20</c:v>
                  </c:pt>
                  <c:pt idx="8">
                    <c:v>FY21</c:v>
                  </c:pt>
                  <c:pt idx="9">
                    <c:v>FY22</c:v>
                  </c:pt>
                  <c:pt idx="10">
                    <c:v>FY23</c:v>
                  </c:pt>
                  <c:pt idx="11">
                    <c:v>FY24</c:v>
                  </c:pt>
                  <c:pt idx="12">
                    <c:v>FY25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/>
                </c:pt>
                <c:pt idx="1">
                  <c:v/>
                </c:pt>
                <c:pt idx="2">
                  <c:v>0.44224562269958045</c:v>
                </c:pt>
                <c:pt idx="3">
                  <c:v>0.46864642695118625</c:v>
                </c:pt>
                <c:pt idx="4">
                  <c:v>0.42738926609114736</c:v>
                </c:pt>
                <c:pt idx="5">
                  <c:v>0.4546508448167718</c:v>
                </c:pt>
                <c:pt idx="6">
                  <c:v>0.505132550334221</c:v>
                </c:pt>
                <c:pt idx="7">
                  <c:v>0.5559788051783783</c:v>
                </c:pt>
                <c:pt idx="8">
                  <c:v>0.1306396911305966</c:v>
                </c:pt>
                <c:pt idx="9">
                  <c:v>0.6411800727395754</c:v>
                </c:pt>
                <c:pt idx="10">
                  <c:v>0.5521650667943513</c:v>
                </c:pt>
                <c:pt idx="11">
                  <c:v>0.4505978597485683</c:v>
                </c:pt>
                <c:pt idx="12">
                  <c:v>0.5822465602320454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Surplus / deficit</c:v>
                </c:pt>
              </c:strCache>
            </c:strRef>
          </c:tx>
          <c:spPr>
            <a:solidFill>
              <a:srgbClr val="A03F7E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FY11</c:v>
                  </c:pt>
                  <c:pt idx="1">
                    <c:v>FY12</c:v>
                  </c:pt>
                  <c:pt idx="2">
                    <c:v>FY13</c:v>
                  </c:pt>
                  <c:pt idx="3">
                    <c:v>FY14</c:v>
                  </c:pt>
                  <c:pt idx="4">
                    <c:v>FY15</c:v>
                  </c:pt>
                  <c:pt idx="5">
                    <c:v>FY16</c:v>
                  </c:pt>
                  <c:pt idx="6">
                    <c:v>FY17</c:v>
                  </c:pt>
                  <c:pt idx="7">
                    <c:v>FY18</c:v>
                  </c:pt>
                  <c:pt idx="8">
                    <c:v>FY19</c:v>
                  </c:pt>
                  <c:pt idx="9">
                    <c:v>FY20</c:v>
                  </c:pt>
                  <c:pt idx="10">
                    <c:v>FY21</c:v>
                  </c:pt>
                  <c:pt idx="11">
                    <c:v>FY22</c:v>
                  </c:pt>
                  <c:pt idx="12">
                    <c:v>FY23</c:v>
                  </c:pt>
                  <c:pt idx="13">
                    <c:v>FY24</c:v>
                  </c:pt>
                  <c:pt idx="14">
                    <c:v>FY25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379343</c:v>
                </c:pt>
                <c:pt idx="1">
                  <c:v>876925</c:v>
                </c:pt>
                <c:pt idx="2">
                  <c:v>422040</c:v>
                </c:pt>
                <c:pt idx="3">
                  <c:v>367064</c:v>
                </c:pt>
                <c:pt idx="4">
                  <c:v>129595</c:v>
                </c:pt>
                <c:pt idx="5">
                  <c:v>1244</c:v>
                </c:pt>
                <c:pt idx="6">
                  <c:v>182750</c:v>
                </c:pt>
                <c:pt idx="7">
                  <c:v>1639</c:v>
                </c:pt>
                <c:pt idx="8">
                  <c:v>82701</c:v>
                </c:pt>
                <c:pt idx="9">
                  <c:v>680318</c:v>
                </c:pt>
                <c:pt idx="10">
                  <c:v>517017</c:v>
                </c:pt>
                <c:pt idx="11">
                  <c:v>4317045</c:v>
                </c:pt>
                <c:pt idx="12">
                  <c:v>-674150</c:v>
                </c:pt>
                <c:pt idx="13">
                  <c:v>506540</c:v>
                </c:pt>
                <c:pt idx="14">
                  <c:v>-607326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1000000"/>
        </c:scaling>
        <c:delete val="0"/>
        <c:axPos val="l"/>
        <c:numFmt formatCode="$#,##0.0,,&quot;M&quot;" sourceLinked="0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 contributions (line 1c)</c:v>
                </c:pt>
              </c:strCache>
            </c:strRef>
          </c:tx>
          <c:spPr>
            <a:solidFill>
              <a:srgbClr val="CF5A2C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FY15</c:v>
                  </c:pt>
                  <c:pt idx="1">
                    <c:v>FY16</c:v>
                  </c:pt>
                  <c:pt idx="2">
                    <c:v>FY17</c:v>
                  </c:pt>
                  <c:pt idx="3">
                    <c:v>FY18</c:v>
                  </c:pt>
                  <c:pt idx="4">
                    <c:v>FY19</c:v>
                  </c:pt>
                  <c:pt idx="5">
                    <c:v>FY20</c:v>
                  </c:pt>
                  <c:pt idx="6">
                    <c:v>FY21</c:v>
                  </c:pt>
                  <c:pt idx="7">
                    <c:v>FY22</c:v>
                  </c:pt>
                  <c:pt idx="8">
                    <c:v>FY23</c:v>
                  </c:pt>
                  <c:pt idx="9">
                    <c:v>FY24</c:v>
                  </c:pt>
                  <c:pt idx="10">
                    <c:v>FY25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287580</c:v>
                </c:pt>
                <c:pt idx="1">
                  <c:v>301790</c:v>
                </c:pt>
                <c:pt idx="2">
                  <c:v>301899</c:v>
                </c:pt>
                <c:pt idx="3">
                  <c:v>279265</c:v>
                </c:pt>
                <c:pt idx="4">
                  <c:v>331837</c:v>
                </c:pt>
                <c:pt idx="5">
                  <c:v>165497</c:v>
                </c:pt>
                <c:pt idx="6">
                  <c:v>287145</c:v>
                </c:pt>
                <c:pt idx="7">
                  <c:v>383731</c:v>
                </c:pt>
                <c:pt idx="8">
                  <c:v>457758</c:v>
                </c:pt>
                <c:pt idx="9">
                  <c:v>538070</c:v>
                </c:pt>
                <c:pt idx="10">
                  <c:v>54730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fundraising-event income (line 8a)</c:v>
                </c:pt>
              </c:strCache>
            </c:strRef>
          </c:tx>
          <c:spPr>
            <a:solidFill>
              <a:srgbClr val="B9B2B6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FY15</c:v>
                  </c:pt>
                  <c:pt idx="1">
                    <c:v>FY16</c:v>
                  </c:pt>
                  <c:pt idx="2">
                    <c:v>FY17</c:v>
                  </c:pt>
                  <c:pt idx="3">
                    <c:v>FY18</c:v>
                  </c:pt>
                  <c:pt idx="4">
                    <c:v>FY19</c:v>
                  </c:pt>
                  <c:pt idx="5">
                    <c:v>FY20</c:v>
                  </c:pt>
                  <c:pt idx="6">
                    <c:v>FY21</c:v>
                  </c:pt>
                  <c:pt idx="7">
                    <c:v>FY22</c:v>
                  </c:pt>
                  <c:pt idx="8">
                    <c:v>FY23</c:v>
                  </c:pt>
                  <c:pt idx="9">
                    <c:v>FY24</c:v>
                  </c:pt>
                  <c:pt idx="10">
                    <c:v>FY25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28100</c:v>
                </c:pt>
                <c:pt idx="1">
                  <c:v>25000</c:v>
                </c:pt>
                <c:pt idx="2">
                  <c:v>28100</c:v>
                </c:pt>
                <c:pt idx="3">
                  <c:v>23600</c:v>
                </c:pt>
                <c:pt idx="4">
                  <c:v>21500</c:v>
                </c:pt>
                <c:pt idx="5">
                  <c:v>0</c:v>
                </c:pt>
                <c:pt idx="6">
                  <c:v>0</c:v>
                </c:pt>
                <c:pt idx="7">
                  <c:v>34400</c:v>
                </c:pt>
                <c:pt idx="8">
                  <c:v>61170</c:v>
                </c:pt>
                <c:pt idx="9">
                  <c:v>57780</c:v>
                </c:pt>
                <c:pt idx="10">
                  <c:v>477959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Filed grants TY2020–24</c:v>
                </c:pt>
              </c:strCache>
            </c:strRef>
          </c:tx>
          <c:spPr>
            <a:solidFill>
              <a:srgbClr val="B8810C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John Edward Fowler Memorial Foundation</c:v>
                  </c:pt>
                  <c:pt idx="1">
                    <c:v>Carol And Gene Ludwig Family Foundation</c:v>
                  </c:pt>
                  <c:pt idx="2">
                    <c:v>United Way Of The National Capital Area</c:v>
                  </c:pt>
                  <c:pt idx="3">
                    <c:v>Association Of American Medical Colleges</c:v>
                  </c:pt>
                  <c:pt idx="4">
                    <c:v>World Bank Community Connections Fund</c:v>
                  </c:pt>
                  <c:pt idx="5">
                    <c:v>Donor Advised Charitable Giving</c:v>
                  </c:pt>
                  <c:pt idx="6">
                    <c:v>William S Abell Foundation</c:v>
                  </c:pt>
                  <c:pt idx="7">
                    <c:v>Fidelity Investments Charitable Gift Fund</c:v>
                  </c:pt>
                  <c:pt idx="8">
                    <c:v>Leafglen Foundation</c:v>
                  </c:pt>
                  <c:pt idx="9">
                    <c:v>Morris And Gwendolyn Cafritz Foundation</c:v>
                  </c:pt>
                  <c:pt idx="10">
                    <c:v>American Online Giving Foundation</c:v>
                  </c:pt>
                  <c:pt idx="11">
                    <c:v>Greater Washington Community Foundation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80000</c:v>
                </c:pt>
                <c:pt idx="1">
                  <c:v>82500</c:v>
                </c:pt>
                <c:pt idx="2">
                  <c:v>89549</c:v>
                </c:pt>
                <c:pt idx="3">
                  <c:v>91500</c:v>
                </c:pt>
                <c:pt idx="4">
                  <c:v>100000</c:v>
                </c:pt>
                <c:pt idx="5">
                  <c:v>128155</c:v>
                </c:pt>
                <c:pt idx="6">
                  <c:v>295000</c:v>
                </c:pt>
                <c:pt idx="7">
                  <c:v>314317</c:v>
                </c:pt>
                <c:pt idx="8">
                  <c:v>330000</c:v>
                </c:pt>
                <c:pt idx="9">
                  <c:v>450000</c:v>
                </c:pt>
                <c:pt idx="10">
                  <c:v>511616</c:v>
                </c:pt>
                <c:pt idx="11">
                  <c:v>1206500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8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0"/>
        <c:axPos val="b"/>
        <c:numFmt formatCode="$#,##0,&quot;K&quot;" sourceLinked="0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OVSJG (DC local)</c:v>
                </c:pt>
              </c:strCache>
            </c:strRef>
          </c:tx>
          <c:spPr>
            <a:solidFill>
              <a:srgbClr val="A03F7E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660935</c:v>
                </c:pt>
                <c:pt idx="1">
                  <c:v>368935</c:v>
                </c:pt>
                <c:pt idx="2">
                  <c:v>368935</c:v>
                </c:pt>
                <c:pt idx="3">
                  <c:v>468435</c:v>
                </c:pt>
                <c:pt idx="4">
                  <c:v>841040</c:v>
                </c:pt>
                <c:pt idx="5">
                  <c:v>913401</c:v>
                </c:pt>
                <c:pt idx="6">
                  <c:v>998278</c:v>
                </c:pt>
                <c:pt idx="7">
                  <c:v>1050651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HUD CoC via TCP (federal)</c:v>
                </c:pt>
              </c:strCache>
            </c:strRef>
          </c:tx>
          <c:spPr>
            <a:solidFill>
              <a:srgbClr val="0F9ACB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239659</c:v>
                </c:pt>
                <c:pt idx="1">
                  <c:v>248131</c:v>
                </c:pt>
                <c:pt idx="2">
                  <c:v>1472398</c:v>
                </c:pt>
                <c:pt idx="3">
                  <c:v>672065</c:v>
                </c:pt>
                <c:pt idx="4">
                  <c:v>1151540</c:v>
                </c:pt>
                <c:pt idx="5">
                  <c:v>1761352</c:v>
                </c:pt>
                <c:pt idx="6">
                  <c:v>1766814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DHS via TCP (DC local)</c:v>
                </c:pt>
              </c:strCache>
            </c:strRef>
          </c:tx>
          <c:spPr>
            <a:solidFill>
              <a:srgbClr val="B8810C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1423664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federal pass-through</c:v>
                </c:pt>
              </c:strCache>
            </c:strRef>
          </c:tx>
          <c:spPr>
            <a:solidFill>
              <a:srgbClr val="3B6FD8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68003</c:v>
                </c:pt>
                <c:pt idx="4">
                  <c:v>106673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$#,##0.0,,&quot;M&quot;" sourceLinked="0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OVSJG awards</c:v>
                </c:pt>
              </c:strCache>
            </c:strRef>
          </c:tx>
          <c:spPr>
            <a:solidFill>
              <a:srgbClr val="A03F7E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FY24</c:v>
                  </c:pt>
                  <c:pt idx="1">
                    <c:v>FY25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913401</c:v>
                </c:pt>
                <c:pt idx="1">
                  <c:v>998278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HUD CoC (lagged)</c:v>
                </c:pt>
              </c:strCache>
            </c:strRef>
          </c:tx>
          <c:spPr>
            <a:solidFill>
              <a:srgbClr val="0F9ACB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FY24</c:v>
                  </c:pt>
                  <c:pt idx="1">
                    <c:v>FY25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1151540</c:v>
                </c:pt>
                <c:pt idx="1">
                  <c:v>1761352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DHS/TCP (FY24 carried)</c:v>
                </c:pt>
              </c:strCache>
            </c:strRef>
          </c:tx>
          <c:spPr>
            <a:solidFill>
              <a:srgbClr val="B8810C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FY24</c:v>
                  </c:pt>
                  <c:pt idx="1">
                    <c:v>FY25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1423664</c:v>
                </c:pt>
                <c:pt idx="1">
                  <c:v>1423664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federal</c:v>
                </c:pt>
              </c:strCache>
            </c:strRef>
          </c:tx>
          <c:spPr>
            <a:solidFill>
              <a:srgbClr val="3B6FD8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FY24</c:v>
                  </c:pt>
                  <c:pt idx="1">
                    <c:v>FY25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106673</c:v>
                </c:pt>
                <c:pt idx="1">
                  <c:v>106673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$#,##0.0,,&quot;M&quot;" sourceLinked="0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A03F7E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2026-06 revised: One-time enhancement to restore funding for…</c:v>
                  </c:pt>
                  <c:pt idx="1">
                    <c:v>2026-06 revised: 100 TAH-F Vouchers to support exits from the…</c:v>
                  </c:pt>
                  <c:pt idx="2">
                    <c:v>2026-06 revised: Policy decision to redirect operating funds for…</c:v>
                  </c:pt>
                  <c:pt idx="3">
                    <c:v>2026-06 revised: Enhancement to restore funding for CLEAR legal…</c:v>
                  </c:pt>
                  <c:pt idx="4">
                    <c:v>2026-06 revised: 45 PSH-F vouchers to support exits from the…</c:v>
                  </c:pt>
                  <c:pt idx="5">
                    <c:v>2026-06 revised: To restore services for all current DHS vouchers…</c:v>
                  </c:pt>
                  <c:pt idx="6">
                    <c:v>2026-06 enacted: H03003 Homeless Services Continuum - General</c:v>
                  </c:pt>
                  <c:pt idx="7">
                    <c:v>2026-06 enacted: H03010 Permanent Supportive Housing Families</c:v>
                  </c:pt>
                  <c:pt idx="8">
                    <c:v>2026-06 enacted: H03011 Permanent Supportive Housing General</c:v>
                  </c:pt>
                  <c:pt idx="9">
                    <c:v>2026-06 enacted: H03018 Rapid Rehousing - Individuals</c:v>
                  </c:pt>
                  <c:pt idx="10">
                    <c:v>FY2024 proposed: To support Victim Services Sustainability $3.7M…</c:v>
                  </c:pt>
                  <c:pt idx="11">
                    <c:v>FY2024 proposed: To support three one-time initiatives: $1.9m for…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5100000</c:v>
                </c:pt>
                <c:pt idx="1">
                  <c:v>4505710</c:v>
                </c:pt>
                <c:pt idx="2">
                  <c:v>-3400000</c:v>
                </c:pt>
                <c:pt idx="3">
                  <c:v>3500000</c:v>
                </c:pt>
                <c:pt idx="4">
                  <c:v>2468021</c:v>
                </c:pt>
                <c:pt idx="5">
                  <c:v>22537594</c:v>
                </c:pt>
                <c:pt idx="6">
                  <c:v>-13123000</c:v>
                </c:pt>
                <c:pt idx="7">
                  <c:v>25394000</c:v>
                </c:pt>
                <c:pt idx="8">
                  <c:v>-4411000</c:v>
                </c:pt>
                <c:pt idx="9">
                  <c:v>-3148000</c:v>
                </c:pt>
                <c:pt idx="10">
                  <c:v>6750000</c:v>
                </c:pt>
                <c:pt idx="11">
                  <c:v>4097000</c:v>
                </c:pt>
              </c:numCache>
            </c:numRef>
          </c:val>
        </c:ser>
        <c:dLbls>
          <c:numFmt formatCode="$#,##0,,&quot;M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7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-20000000"/>
        </c:scaling>
        <c:delete val="0"/>
        <c:axPos val="b"/>
        <c:numFmt formatCode="$#,##0,,&quot;M&quot;" sourceLinked="0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DC CoC awards</c:v>
                </c:pt>
              </c:strCache>
            </c:strRef>
          </c:tx>
          <c:spPr>
            <a:solidFill>
              <a:srgbClr val="0F9ACB"/>
            </a:solidFill>
            <a:ln w="25400" cap="flat">
              <a:solidFill>
                <a:srgbClr val="0F9ACB"/>
              </a:solidFill>
              <a:prstDash val="solid"/>
              <a:round/>
            </a:ln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F9AC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0.010856522300651907</c:v>
                </c:pt>
                <c:pt idx="1">
                  <c:v>0.010510415808469167</c:v>
                </c:pt>
                <c:pt idx="2">
                  <c:v>0.058748402760667964</c:v>
                </c:pt>
                <c:pt idx="3">
                  <c:v>0.024059416141605183</c:v>
                </c:pt>
                <c:pt idx="4">
                  <c:v>0.03875761178607821</c:v>
                </c:pt>
                <c:pt idx="5">
                  <c:v>0.05232786621859277</c:v>
                </c:pt>
                <c:pt idx="6">
                  <c:v>0.05268093692130965</c:v>
                </c:pt>
                <c:pt idx="7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OVSJG awards</c:v>
                </c:pt>
              </c:strCache>
            </c:strRef>
          </c:tx>
          <c:spPr>
            <a:solidFill>
              <a:srgbClr val="A03F7E"/>
            </a:solidFill>
            <a:ln w="25400" cap="flat">
              <a:solidFill>
                <a:srgbClr val="A03F7E"/>
              </a:solidFill>
              <a:prstDash val="solid"/>
              <a:round/>
            </a:ln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03F7E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0.006832150174885616</c:v>
                </c:pt>
                <c:pt idx="1">
                  <c:v>0.007770579984118264</c:v>
                </c:pt>
                <c:pt idx="2">
                  <c:v>0.006753982920396695</c:v>
                </c:pt>
                <c:pt idx="3">
                  <c:v>0.04565056592218058</c:v>
                </c:pt>
                <c:pt idx="4">
                  <c:v>0.011743444662968556</c:v>
                </c:pt>
                <c:pt idx="5">
                  <c:v>0.014513397182465523</c:v>
                </c:pt>
                <c:pt idx="6">
                  <c:v>0.01077092277898176</c:v>
                </c:pt>
                <c:pt idx="7">
                  <c:v>0.0108702723594249</c:v>
                </c:pt>
              </c:numCache>
            </c:numRef>
          </c:val>
          <c:smooth val="0"/>
        </c:ser>
        <c:dLbls>
          <c:numFmt formatCode="0.0%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7"/>
          <c:min val="0"/>
        </c:scaling>
        <c:delete val="0"/>
        <c:axPos val="l"/>
        <c:numFmt formatCode="0.0%" sourceLinked="0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Government share FY22–24 mean</c:v>
                </c:pt>
              </c:strCache>
            </c:strRef>
          </c:tx>
          <c:spPr>
            <a:solidFill>
              <a:srgbClr val="A03F7E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Sheet1!$A$2:$A$22</c:f>
              <c:multiLvlStrCache>
                <c:ptCount val="21"/>
                <c:lvl>
                  <c:pt idx="0">
                    <c:v>Miriam's Kitchen</c:v>
                  </c:pt>
                  <c:pt idx="1">
                    <c:v>Thrive DC</c:v>
                  </c:pt>
                  <c:pt idx="2">
                    <c:v>Christ House</c:v>
                  </c:pt>
                  <c:pt idx="3">
                    <c:v>Community of Hope</c:v>
                  </c:pt>
                  <c:pt idx="4">
                    <c:v>N Street Village</c:v>
                  </c:pt>
                  <c:pt idx="5">
                    <c:v>Samaritan Inns</c:v>
                  </c:pt>
                  <c:pt idx="6">
                    <c:v>Doorways (VA)</c:v>
                  </c:pt>
                  <c:pt idx="7">
                    <c:v>Covenant House DC</c:v>
                  </c:pt>
                  <c:pt idx="8">
                    <c:v>Calvary</c:v>
                  </c:pt>
                  <c:pt idx="9">
                    <c:v>House of Ruth DC</c:v>
                  </c:pt>
                  <c:pt idx="10">
                    <c:v>New Endeavors by Women</c:v>
                  </c:pt>
                  <c:pt idx="11">
                    <c:v>DWC (Los Angeles)</c:v>
                  </c:pt>
                  <c:pt idx="12">
                    <c:v>House of Ruth MD</c:v>
                  </c:pt>
                  <c:pt idx="13">
                    <c:v>Coalition for the Homeless</c:v>
                  </c:pt>
                  <c:pt idx="14">
                    <c:v>DASH</c:v>
                  </c:pt>
                  <c:pt idx="15">
                    <c:v>Heartly House (MD)</c:v>
                  </c:pt>
                  <c:pt idx="16">
                    <c:v>Everyone Home DC</c:v>
                  </c:pt>
                  <c:pt idx="17">
                    <c:v>My Sister's Place</c:v>
                  </c:pt>
                  <c:pt idx="18">
                    <c:v>Open Arms Housing</c:v>
                  </c:pt>
                  <c:pt idx="19">
                    <c:v>CBWC Inst. / SheWorks (LA)</c:v>
                  </c:pt>
                  <c:pt idx="20">
                    <c:v>DC SAFE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0.0049</c:v>
                </c:pt>
                <c:pt idx="1">
                  <c:v>0.12896666666666667</c:v>
                </c:pt>
                <c:pt idx="2">
                  <c:v>0.2715666666666667</c:v>
                </c:pt>
                <c:pt idx="3">
                  <c:v>0.4039333333333333</c:v>
                </c:pt>
                <c:pt idx="4">
                  <c:v>0.42296666666666666</c:v>
                </c:pt>
                <c:pt idx="5">
                  <c:v>0.43649999999999994</c:v>
                </c:pt>
                <c:pt idx="6">
                  <c:v>0.4433666666666667</c:v>
                </c:pt>
                <c:pt idx="7">
                  <c:v>0.5250666666666667</c:v>
                </c:pt>
                <c:pt idx="8">
                  <c:v>0.5253942480824924</c:v>
                </c:pt>
                <c:pt idx="9">
                  <c:v>0.5258333333333334</c:v>
                </c:pt>
                <c:pt idx="10">
                  <c:v>0.5435666666666666</c:v>
                </c:pt>
                <c:pt idx="11">
                  <c:v>0.5719333333333333</c:v>
                </c:pt>
                <c:pt idx="12">
                  <c:v>0.5973</c:v>
                </c:pt>
                <c:pt idx="13">
                  <c:v>0.6178666666666667</c:v>
                </c:pt>
                <c:pt idx="14">
                  <c:v>0.7011333333333334</c:v>
                </c:pt>
                <c:pt idx="15">
                  <c:v>0.7355333333333333</c:v>
                </c:pt>
                <c:pt idx="16">
                  <c:v>0.7588333333333334</c:v>
                </c:pt>
                <c:pt idx="17">
                  <c:v>0.8328000000000001</c:v>
                </c:pt>
                <c:pt idx="18">
                  <c:v>0.8381</c:v>
                </c:pt>
                <c:pt idx="19">
                  <c:v>0.8612500000000001</c:v>
                </c:pt>
                <c:pt idx="20">
                  <c:v>0.8868999999999999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8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0"/>
        <c:axPos val="b"/>
        <c:numFmt formatCode="0%" sourceLinked="0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CAGR FY2019–24</c:v>
                </c:pt>
              </c:strCache>
            </c:strRef>
          </c:tx>
          <c:spPr>
            <a:solidFill>
              <a:srgbClr val="A03F7E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Thrive DC</c:v>
                  </c:pt>
                  <c:pt idx="1">
                    <c:v>DASH</c:v>
                  </c:pt>
                  <c:pt idx="2">
                    <c:v>Coalition for the Homeless</c:v>
                  </c:pt>
                  <c:pt idx="3">
                    <c:v>New Endeavors by Women</c:v>
                  </c:pt>
                  <c:pt idx="4">
                    <c:v>N Street Village</c:v>
                  </c:pt>
                  <c:pt idx="5">
                    <c:v>Christ House</c:v>
                  </c:pt>
                  <c:pt idx="6">
                    <c:v>Doorways (VA)</c:v>
                  </c:pt>
                  <c:pt idx="7">
                    <c:v>House of Ruth MD</c:v>
                  </c:pt>
                  <c:pt idx="8">
                    <c:v>Covenant House DC</c:v>
                  </c:pt>
                  <c:pt idx="9">
                    <c:v>Community of Hope</c:v>
                  </c:pt>
                  <c:pt idx="10">
                    <c:v>House of Ruth DC</c:v>
                  </c:pt>
                  <c:pt idx="11">
                    <c:v>Heartly House (MD)</c:v>
                  </c:pt>
                  <c:pt idx="12">
                    <c:v>Samaritan Inns</c:v>
                  </c:pt>
                  <c:pt idx="13">
                    <c:v>Everyone Home DC</c:v>
                  </c:pt>
                  <c:pt idx="14">
                    <c:v>Miriam's Kitchen</c:v>
                  </c:pt>
                  <c:pt idx="15">
                    <c:v>Open Arms Housing</c:v>
                  </c:pt>
                  <c:pt idx="16">
                    <c:v>Calvary</c:v>
                  </c:pt>
                  <c:pt idx="17">
                    <c:v>DC SAFE</c:v>
                  </c:pt>
                  <c:pt idx="18">
                    <c:v>DWC (Los Angeles)</c:v>
                  </c:pt>
                  <c:pt idx="19">
                    <c:v>My Sister's Place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-0.0493456419252255</c:v>
                </c:pt>
                <c:pt idx="1">
                  <c:v>-0.027377392439465353</c:v>
                </c:pt>
                <c:pt idx="2">
                  <c:v>-0.025844556405123065</c:v>
                </c:pt>
                <c:pt idx="3">
                  <c:v>-0.025139861865524527</c:v>
                </c:pt>
                <c:pt idx="4">
                  <c:v>-0.016932620980521507</c:v>
                </c:pt>
                <c:pt idx="5">
                  <c:v>-0.00686834317057039</c:v>
                </c:pt>
                <c:pt idx="6">
                  <c:v>0.025424621845004935</c:v>
                </c:pt>
                <c:pt idx="7">
                  <c:v>0.025662643116620254</c:v>
                </c:pt>
                <c:pt idx="8">
                  <c:v>0.02903527848574705</c:v>
                </c:pt>
                <c:pt idx="9">
                  <c:v>0.04183928181251928</c:v>
                </c:pt>
                <c:pt idx="10">
                  <c:v>0.05027406876898799</c:v>
                </c:pt>
                <c:pt idx="11">
                  <c:v>0.06206053390821231</c:v>
                </c:pt>
                <c:pt idx="12">
                  <c:v>0.1006184616082908</c:v>
                </c:pt>
                <c:pt idx="13">
                  <c:v>0.10608485894743813</c:v>
                </c:pt>
                <c:pt idx="14">
                  <c:v>0.12020846434337051</c:v>
                </c:pt>
                <c:pt idx="15">
                  <c:v>0.12460457713712514</c:v>
                </c:pt>
                <c:pt idx="16">
                  <c:v>0.13775839775962817</c:v>
                </c:pt>
                <c:pt idx="17">
                  <c:v>0.1765398968366998</c:v>
                </c:pt>
                <c:pt idx="18">
                  <c:v>0.19042919553637594</c:v>
                </c:pt>
                <c:pt idx="19">
                  <c:v>0.194451649009858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8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-0.1"/>
        </c:scaling>
        <c:delete val="0"/>
        <c:axPos val="b"/>
        <c:numFmt formatCode="0.0%" sourceLinked="0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Months of cash FY2024</c:v>
                </c:pt>
              </c:strCache>
            </c:strRef>
          </c:tx>
          <c:spPr>
            <a:solidFill>
              <a:srgbClr val="A03F7E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Sheet1!$A$2:$A$22</c:f>
              <c:multiLvlStrCache>
                <c:ptCount val="21"/>
                <c:lvl>
                  <c:pt idx="0">
                    <c:v>New Endeavors by Women</c:v>
                  </c:pt>
                  <c:pt idx="1">
                    <c:v>DC SAFE</c:v>
                  </c:pt>
                  <c:pt idx="2">
                    <c:v>Heartly House (MD)</c:v>
                  </c:pt>
                  <c:pt idx="3">
                    <c:v>Covenant House DC</c:v>
                  </c:pt>
                  <c:pt idx="4">
                    <c:v>Open Arms Housing</c:v>
                  </c:pt>
                  <c:pt idx="5">
                    <c:v>DWC (Los Angeles)</c:v>
                  </c:pt>
                  <c:pt idx="6">
                    <c:v>House of Ruth MD</c:v>
                  </c:pt>
                  <c:pt idx="7">
                    <c:v>My Sister's Place</c:v>
                  </c:pt>
                  <c:pt idx="8">
                    <c:v>House of Ruth DC</c:v>
                  </c:pt>
                  <c:pt idx="9">
                    <c:v>DASH</c:v>
                  </c:pt>
                  <c:pt idx="10">
                    <c:v>Miriam's Kitchen</c:v>
                  </c:pt>
                  <c:pt idx="11">
                    <c:v>Coalition for the Homeless</c:v>
                  </c:pt>
                  <c:pt idx="12">
                    <c:v>Thrive DC</c:v>
                  </c:pt>
                  <c:pt idx="13">
                    <c:v>Community of Hope</c:v>
                  </c:pt>
                  <c:pt idx="14">
                    <c:v>Samaritan Inns</c:v>
                  </c:pt>
                  <c:pt idx="15">
                    <c:v>CBWC Inst. / SheWorks (LA)</c:v>
                  </c:pt>
                  <c:pt idx="16">
                    <c:v>Calvary</c:v>
                  </c:pt>
                  <c:pt idx="17">
                    <c:v>Christ House</c:v>
                  </c:pt>
                  <c:pt idx="18">
                    <c:v>N Street Village</c:v>
                  </c:pt>
                  <c:pt idx="19">
                    <c:v>Everyone Home DC</c:v>
                  </c:pt>
                  <c:pt idx="20">
                    <c:v>Doorways (VA)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0.51</c:v>
                </c:pt>
                <c:pt idx="1">
                  <c:v>0.86</c:v>
                </c:pt>
                <c:pt idx="2">
                  <c:v>1.01</c:v>
                </c:pt>
                <c:pt idx="3">
                  <c:v>1.1</c:v>
                </c:pt>
                <c:pt idx="4">
                  <c:v>1.16</c:v>
                </c:pt>
                <c:pt idx="5">
                  <c:v>2.4</c:v>
                </c:pt>
                <c:pt idx="6">
                  <c:v>2.72</c:v>
                </c:pt>
                <c:pt idx="7">
                  <c:v>2.9</c:v>
                </c:pt>
                <c:pt idx="8">
                  <c:v>3.83</c:v>
                </c:pt>
                <c:pt idx="9">
                  <c:v>3.95</c:v>
                </c:pt>
                <c:pt idx="10">
                  <c:v>4.05</c:v>
                </c:pt>
                <c:pt idx="11">
                  <c:v>4.11</c:v>
                </c:pt>
                <c:pt idx="12">
                  <c:v>4.15</c:v>
                </c:pt>
                <c:pt idx="13">
                  <c:v>4.5</c:v>
                </c:pt>
                <c:pt idx="14">
                  <c:v>4.51</c:v>
                </c:pt>
                <c:pt idx="15">
                  <c:v>4.84</c:v>
                </c:pt>
                <c:pt idx="16">
                  <c:v>5.23</c:v>
                </c:pt>
                <c:pt idx="17">
                  <c:v>6.27</c:v>
                </c:pt>
                <c:pt idx="18">
                  <c:v>7.96</c:v>
                </c:pt>
                <c:pt idx="19">
                  <c:v>9.92</c:v>
                </c:pt>
                <c:pt idx="20">
                  <c:v>12.13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8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0"/>
        <c:axPos val="b"/>
        <c:numFmt formatCode="0.0" sourceLinked="0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Institutional grants ÷ revenue 2020–24</c:v>
                </c:pt>
              </c:strCache>
            </c:strRef>
          </c:tx>
          <c:spPr>
            <a:solidFill>
              <a:srgbClr val="B8810C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DWC (Los Angeles) (7 funders)</c:v>
                  </c:pt>
                  <c:pt idx="1">
                    <c:v>Coalition for the Homeless (4 funders)</c:v>
                  </c:pt>
                  <c:pt idx="2">
                    <c:v>Community of Hope (43 funders)</c:v>
                  </c:pt>
                  <c:pt idx="3">
                    <c:v>Everyone Home DC (10 funders)</c:v>
                  </c:pt>
                  <c:pt idx="4">
                    <c:v>Open Arms Housing (2 funders)</c:v>
                  </c:pt>
                  <c:pt idx="5">
                    <c:v>Covenant House DC (23 funders)</c:v>
                  </c:pt>
                  <c:pt idx="6">
                    <c:v>DC SAFE (7 funders)</c:v>
                  </c:pt>
                  <c:pt idx="7">
                    <c:v>DASH (23 funders)</c:v>
                  </c:pt>
                  <c:pt idx="8">
                    <c:v>Thrive DC (8 funders)</c:v>
                  </c:pt>
                  <c:pt idx="9">
                    <c:v>Christ House (22 funders)</c:v>
                  </c:pt>
                  <c:pt idx="10">
                    <c:v>New Endeavors by Women (20 funders)</c:v>
                  </c:pt>
                  <c:pt idx="11">
                    <c:v>N Street Village (54 funders)</c:v>
                  </c:pt>
                  <c:pt idx="12">
                    <c:v>My Sister's Place (23 funders)</c:v>
                  </c:pt>
                  <c:pt idx="13">
                    <c:v>Doorways (VA) (36 funders)</c:v>
                  </c:pt>
                  <c:pt idx="14">
                    <c:v>House of Ruth DC (83 funders)</c:v>
                  </c:pt>
                  <c:pt idx="15">
                    <c:v>House of Ruth MD (86 funders)</c:v>
                  </c:pt>
                  <c:pt idx="16">
                    <c:v>Heartly House (MD) (18 funders)</c:v>
                  </c:pt>
                  <c:pt idx="17">
                    <c:v>Miriam's Kitchen (66 funders)</c:v>
                  </c:pt>
                  <c:pt idx="18">
                    <c:v>Calvary (42 funders)</c:v>
                  </c:pt>
                  <c:pt idx="19">
                    <c:v>Samaritan Inns (14 funders)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0.0017034453788240906</c:v>
                </c:pt>
                <c:pt idx="1">
                  <c:v>0.0064254365506672545</c:v>
                </c:pt>
                <c:pt idx="2">
                  <c:v>0.013933281317835661</c:v>
                </c:pt>
                <c:pt idx="3">
                  <c:v>0.01786944629682721</c:v>
                </c:pt>
                <c:pt idx="4">
                  <c:v>0.025359914564161676</c:v>
                </c:pt>
                <c:pt idx="5">
                  <c:v>0.026667280639444</c:v>
                </c:pt>
                <c:pt idx="6">
                  <c:v>0.028556583884120783</c:v>
                </c:pt>
                <c:pt idx="7">
                  <c:v>0.046727753966249536</c:v>
                </c:pt>
                <c:pt idx="8">
                  <c:v>0.05053573048820192</c:v>
                </c:pt>
                <c:pt idx="9">
                  <c:v>0.0510634042063527</c:v>
                </c:pt>
                <c:pt idx="10">
                  <c:v>0.0610725705017268</c:v>
                </c:pt>
                <c:pt idx="11">
                  <c:v>0.06448252267815789</c:v>
                </c:pt>
                <c:pt idx="12">
                  <c:v>0.071595459638032</c:v>
                </c:pt>
                <c:pt idx="13">
                  <c:v>0.07162907637971937</c:v>
                </c:pt>
                <c:pt idx="14">
                  <c:v>0.07707970031580223</c:v>
                </c:pt>
                <c:pt idx="15">
                  <c:v>0.08374297860012937</c:v>
                </c:pt>
                <c:pt idx="16">
                  <c:v>0.10308188164280643</c:v>
                </c:pt>
                <c:pt idx="17">
                  <c:v>0.11337780144175104</c:v>
                </c:pt>
                <c:pt idx="18">
                  <c:v>0.12421378928933748</c:v>
                </c:pt>
                <c:pt idx="19">
                  <c:v>0.2655745348038456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8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0"/>
        <c:axPos val="b"/>
        <c:numFmt formatCode="0%" sourceLinked="0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OVSJG awards DC FY2026</c:v>
                </c:pt>
              </c:strCache>
            </c:strRef>
          </c:tx>
          <c:spPr>
            <a:solidFill>
              <a:srgbClr val="A03F7E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N Street Village</c:v>
                  </c:pt>
                  <c:pt idx="1">
                    <c:v>Christ House</c:v>
                  </c:pt>
                  <c:pt idx="2">
                    <c:v>Community of Hope</c:v>
                  </c:pt>
                  <c:pt idx="3">
                    <c:v>New Endeavors by Women</c:v>
                  </c:pt>
                  <c:pt idx="4">
                    <c:v>Calvary</c:v>
                  </c:pt>
                  <c:pt idx="5">
                    <c:v>House of Ruth DC</c:v>
                  </c:pt>
                  <c:pt idx="6">
                    <c:v>My Sister's Place</c:v>
                  </c:pt>
                  <c:pt idx="7">
                    <c:v>DC SAFE</c:v>
                  </c:pt>
                  <c:pt idx="8">
                    <c:v>DASH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136878</c:v>
                </c:pt>
                <c:pt idx="4">
                  <c:v>1050651</c:v>
                </c:pt>
                <c:pt idx="5">
                  <c:v>3173814</c:v>
                </c:pt>
                <c:pt idx="6">
                  <c:v>3805746</c:v>
                </c:pt>
                <c:pt idx="7">
                  <c:v>4610998</c:v>
                </c:pt>
                <c:pt idx="8">
                  <c:v>5277675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HUD CoC awards FY2025</c:v>
                </c:pt>
              </c:strCache>
            </c:strRef>
          </c:tx>
          <c:spPr>
            <a:solidFill>
              <a:srgbClr val="0F9ACB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N Street Village</c:v>
                  </c:pt>
                  <c:pt idx="1">
                    <c:v>Christ House</c:v>
                  </c:pt>
                  <c:pt idx="2">
                    <c:v>Community of Hope</c:v>
                  </c:pt>
                  <c:pt idx="3">
                    <c:v>New Endeavors by Women</c:v>
                  </c:pt>
                  <c:pt idx="4">
                    <c:v>Calvary</c:v>
                  </c:pt>
                  <c:pt idx="5">
                    <c:v>House of Ruth DC</c:v>
                  </c:pt>
                  <c:pt idx="6">
                    <c:v>My Sister's Place</c:v>
                  </c:pt>
                  <c:pt idx="7">
                    <c:v>DC SAFE</c:v>
                  </c:pt>
                  <c:pt idx="8">
                    <c:v>DASH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157690</c:v>
                </c:pt>
                <c:pt idx="1">
                  <c:v>2978155</c:v>
                </c:pt>
                <c:pt idx="2">
                  <c:v>866902</c:v>
                </c:pt>
                <c:pt idx="3">
                  <c:v>1143319</c:v>
                </c:pt>
                <c:pt idx="4">
                  <c:v>1766814</c:v>
                </c:pt>
                <c:pt idx="5">
                  <c:v>1380385</c:v>
                </c:pt>
                <c:pt idx="6">
                  <c:v>2062174</c:v>
                </c:pt>
                <c:pt idx="7">
                  <c:v>0</c:v>
                </c:pt>
                <c:pt idx="8">
                  <c:v>1380480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8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0"/>
        <c:axPos val="b"/>
        <c:numFmt formatCode="$#,##0.0,,&quot;M&quot;" sourceLinked="0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Institutional funders</c:v>
                </c:pt>
              </c:strCache>
            </c:strRef>
          </c:tx>
          <c:spPr>
            <a:solidFill>
              <a:srgbClr val="B8810C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TY2020</c:v>
                  </c:pt>
                  <c:pt idx="1">
                    <c:v>TY2021</c:v>
                  </c:pt>
                  <c:pt idx="2">
                    <c:v>TY2022</c:v>
                  </c:pt>
                  <c:pt idx="3">
                    <c:v>TY2023</c:v>
                  </c:pt>
                  <c:pt idx="4">
                    <c:v>TY2024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49893328</c:v>
                </c:pt>
                <c:pt idx="1">
                  <c:v>51110799</c:v>
                </c:pt>
                <c:pt idx="2">
                  <c:v>52468996</c:v>
                </c:pt>
                <c:pt idx="3">
                  <c:v>51093189</c:v>
                </c:pt>
                <c:pt idx="4">
                  <c:v>71768363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DAF sponsors</c:v>
                </c:pt>
              </c:strCache>
            </c:strRef>
          </c:tx>
          <c:spPr>
            <a:solidFill>
              <a:srgbClr val="0F9ACB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TY2020</c:v>
                  </c:pt>
                  <c:pt idx="1">
                    <c:v>TY2021</c:v>
                  </c:pt>
                  <c:pt idx="2">
                    <c:v>TY2022</c:v>
                  </c:pt>
                  <c:pt idx="3">
                    <c:v>TY2023</c:v>
                  </c:pt>
                  <c:pt idx="4">
                    <c:v>TY2024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67301087</c:v>
                </c:pt>
                <c:pt idx="1">
                  <c:v>81924312</c:v>
                </c:pt>
                <c:pt idx="2">
                  <c:v>53717138</c:v>
                </c:pt>
                <c:pt idx="3">
                  <c:v>94582122</c:v>
                </c:pt>
                <c:pt idx="4">
                  <c:v>86628191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$#,##0.0,,&quot;M&quot;" sourceLinked="0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Dollars to DC sector TY2020–24</c:v>
                </c:pt>
              </c:strCache>
            </c:strRef>
          </c:tx>
          <c:spPr>
            <a:solidFill>
              <a:srgbClr val="B8810C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William S Abell Foundation</c:v>
                  </c:pt>
                  <c:pt idx="1">
                    <c:v>The Washington Home</c:v>
                  </c:pt>
                  <c:pt idx="2">
                    <c:v>Pepsico Foundation</c:v>
                  </c:pt>
                  <c:pt idx="3">
                    <c:v>Diane &amp; Norman Bernstein Foundation</c:v>
                  </c:pt>
                  <c:pt idx="4">
                    <c:v>Jane Bancroft Robinson Foundation</c:v>
                  </c:pt>
                  <c:pt idx="5">
                    <c:v>Wells Fargo Foundation</c:v>
                  </c:pt>
                  <c:pt idx="6">
                    <c:v>Capital Area Food Bank</c:v>
                  </c:pt>
                  <c:pt idx="7">
                    <c:v>Eugene &amp; Agnes E Meyer Foundation</c:v>
                  </c:pt>
                  <c:pt idx="8">
                    <c:v>Rast Foundation</c:v>
                  </c:pt>
                  <c:pt idx="9">
                    <c:v>Diana Davis Spencer Foundation</c:v>
                  </c:pt>
                  <c:pt idx="10">
                    <c:v>The Morningstar Philanthropic Foundation</c:v>
                  </c:pt>
                  <c:pt idx="11">
                    <c:v>United Way Of The National Capital Area</c:v>
                  </c:pt>
                  <c:pt idx="12">
                    <c:v>The Harry &amp; Jeanette Weinberg Foundation</c:v>
                  </c:pt>
                  <c:pt idx="13">
                    <c:v>Annie E Casey Foundation</c:v>
                  </c:pt>
                  <c:pt idx="14">
                    <c:v>Wal-Mart Foundation</c:v>
                  </c:pt>
                  <c:pt idx="15">
                    <c:v>Bank Of America Charitable Foundation</c:v>
                  </c:pt>
                  <c:pt idx="16">
                    <c:v>Morris And Gwendolyn Cafritz Foundation</c:v>
                  </c:pt>
                  <c:pt idx="17">
                    <c:v>Jpmorgan Chase Foundation</c:v>
                  </c:pt>
                  <c:pt idx="18">
                    <c:v>Clark Charitable Foundation</c:v>
                  </c:pt>
                  <c:pt idx="19">
                    <c:v>Greater Washington Community Foundation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2729300</c:v>
                </c:pt>
                <c:pt idx="1">
                  <c:v>2947537</c:v>
                </c:pt>
                <c:pt idx="2">
                  <c:v>3000000</c:v>
                </c:pt>
                <c:pt idx="3">
                  <c:v>3072334</c:v>
                </c:pt>
                <c:pt idx="4">
                  <c:v>3098483</c:v>
                </c:pt>
                <c:pt idx="5">
                  <c:v>3647500</c:v>
                </c:pt>
                <c:pt idx="6">
                  <c:v>3846603</c:v>
                </c:pt>
                <c:pt idx="7">
                  <c:v>4042150</c:v>
                </c:pt>
                <c:pt idx="8">
                  <c:v>4217587</c:v>
                </c:pt>
                <c:pt idx="9">
                  <c:v>4630000</c:v>
                </c:pt>
                <c:pt idx="10">
                  <c:v>5636500</c:v>
                </c:pt>
                <c:pt idx="11">
                  <c:v>5762318</c:v>
                </c:pt>
                <c:pt idx="12">
                  <c:v>6508000</c:v>
                </c:pt>
                <c:pt idx="13">
                  <c:v>7953331</c:v>
                </c:pt>
                <c:pt idx="14">
                  <c:v>8558869</c:v>
                </c:pt>
                <c:pt idx="15">
                  <c:v>11511683</c:v>
                </c:pt>
                <c:pt idx="16">
                  <c:v>12582466</c:v>
                </c:pt>
                <c:pt idx="17">
                  <c:v>17990037</c:v>
                </c:pt>
                <c:pt idx="18">
                  <c:v>32767000</c:v>
                </c:pt>
                <c:pt idx="19">
                  <c:v>43178620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75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0"/>
        <c:axPos val="b"/>
        <c:numFmt formatCode="$#,##0.0,,&quot;M&quot;" sourceLinked="0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Grants to DC sector TY2020–24</c:v>
                </c:pt>
              </c:strCache>
            </c:strRef>
          </c:tx>
          <c:spPr>
            <a:solidFill>
              <a:srgbClr val="0F9ACB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Fidelity Investments Charitable Gift Fund</c:v>
                  </c:pt>
                  <c:pt idx="1">
                    <c:v>National Philanthropic Tr</c:v>
                  </c:pt>
                  <c:pt idx="2">
                    <c:v>American Online Giving Foundation</c:v>
                  </c:pt>
                  <c:pt idx="3">
                    <c:v>Donor Advised Charitable Giving</c:v>
                  </c:pt>
                  <c:pt idx="4">
                    <c:v>Vanguard Charitable Endowment Program</c:v>
                  </c:pt>
                  <c:pt idx="5">
                    <c:v>Charities Aid Foundation America</c:v>
                  </c:pt>
                  <c:pt idx="6">
                    <c:v>American Endowment Foundation</c:v>
                  </c:pt>
                  <c:pt idx="7">
                    <c:v>Paypal Charitable Giving Fund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179219609</c:v>
                </c:pt>
                <c:pt idx="1">
                  <c:v>80015764</c:v>
                </c:pt>
                <c:pt idx="2">
                  <c:v>48639409</c:v>
                </c:pt>
                <c:pt idx="3">
                  <c:v>35660005</c:v>
                </c:pt>
                <c:pt idx="4">
                  <c:v>17534435</c:v>
                </c:pt>
                <c:pt idx="5">
                  <c:v>7740878</c:v>
                </c:pt>
                <c:pt idx="6">
                  <c:v>5922177</c:v>
                </c:pt>
                <c:pt idx="7">
                  <c:v>4362658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8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0"/>
        <c:axPos val="b"/>
        <c:numFmt formatCode="$#,##0,,&quot;M&quot;" sourceLinked="0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Institutional DC-sector dollars by purpose tag</c:v>
                </c:pt>
              </c:strCache>
            </c:strRef>
          </c:tx>
          <c:spPr>
            <a:solidFill>
              <a:srgbClr val="B8810C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reentry</c:v>
                  </c:pt>
                  <c:pt idx="1">
                    <c:v>aging</c:v>
                  </c:pt>
                  <c:pt idx="2">
                    <c:v>education</c:v>
                  </c:pt>
                  <c:pt idx="3">
                    <c:v>veterans</c:v>
                  </c:pt>
                  <c:pt idx="4">
                    <c:v>women</c:v>
                  </c:pt>
                  <c:pt idx="5">
                    <c:v>behavioral health</c:v>
                  </c:pt>
                  <c:pt idx="6">
                    <c:v>workforce</c:v>
                  </c:pt>
                  <c:pt idx="7">
                    <c:v>housing</c:v>
                  </c:pt>
                  <c:pt idx="8">
                    <c:v>health</c:v>
                  </c:pt>
                  <c:pt idx="9">
                    <c:v>general operating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490000</c:v>
                </c:pt>
                <c:pt idx="1">
                  <c:v>1332000</c:v>
                </c:pt>
                <c:pt idx="2">
                  <c:v>2402423</c:v>
                </c:pt>
                <c:pt idx="3">
                  <c:v>2761000</c:v>
                </c:pt>
                <c:pt idx="4">
                  <c:v>5021104</c:v>
                </c:pt>
                <c:pt idx="5">
                  <c:v>6652500</c:v>
                </c:pt>
                <c:pt idx="6">
                  <c:v>8760145</c:v>
                </c:pt>
                <c:pt idx="7">
                  <c:v>16601783</c:v>
                </c:pt>
                <c:pt idx="8">
                  <c:v>17503548</c:v>
                </c:pt>
                <c:pt idx="9">
                  <c:v>103600521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0"/>
        <c:axPos val="b"/>
        <c:numFmt formatCode="$#,##0.0,,&quot;M&quot;" sourceLinked="0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 peers funded</c:v>
                </c:pt>
              </c:strCache>
            </c:strRef>
          </c:tx>
          <c:spPr>
            <a:solidFill>
              <a:srgbClr val="B8810C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Heart Sing *</c:v>
                  </c:pt>
                  <c:pt idx="1">
                    <c:v>Melamed Foundation *</c:v>
                  </c:pt>
                  <c:pt idx="2">
                    <c:v>J V Schiro-Zavela Foundation *</c:v>
                  </c:pt>
                  <c:pt idx="3">
                    <c:v>Adele M Thomas Charitable Foundation *</c:v>
                  </c:pt>
                  <c:pt idx="4">
                    <c:v>Jerome A And Deena L Kaplan Family… *</c:v>
                  </c:pt>
                  <c:pt idx="5">
                    <c:v>Pew Charitable Trusts *</c:v>
                  </c:pt>
                  <c:pt idx="6">
                    <c:v>Alisann And Terry Collins Foundation *</c:v>
                  </c:pt>
                  <c:pt idx="7">
                    <c:v>Jack R Anderson Foundation *</c:v>
                  </c:pt>
                  <c:pt idx="8">
                    <c:v>Ralph S And Frances R Dweck Family… *</c:v>
                  </c:pt>
                  <c:pt idx="9">
                    <c:v>The Washington Home *</c:v>
                  </c:pt>
                  <c:pt idx="10">
                    <c:v>Diane &amp; Norman Bernstein Foundation *</c:v>
                  </c:pt>
                  <c:pt idx="11">
                    <c:v>Naomi And Nehemiah Cohen Foundation… *</c:v>
                  </c:pt>
                  <c:pt idx="12">
                    <c:v>Brendan &amp; Helen Bechtel Foundation</c:v>
                  </c:pt>
                  <c:pt idx="13">
                    <c:v>Bunting Family Foundation</c:v>
                  </c:pt>
                  <c:pt idx="14">
                    <c:v>Robert I Schattner Foundation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4</c:v>
                </c:pt>
                <c:pt idx="13">
                  <c:v>4</c:v>
                </c:pt>
                <c:pt idx="14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8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0"/>
        <c:axPos val="b"/>
        <c:numFmt formatCode="0" sourceLinked="0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 total to Calvary</c:v>
                </c:pt>
              </c:strCache>
            </c:strRef>
          </c:tx>
          <c:spPr>
            <a:solidFill>
              <a:srgbClr val="CF5A2C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Whispering Bells Foundation Charitable… (TY2021–2021)</c:v>
                  </c:pt>
                  <c:pt idx="1">
                    <c:v>Grossman Family Charitable Funds (TY2020–2020)</c:v>
                  </c:pt>
                  <c:pt idx="2">
                    <c:v>Jacquemin Family Foundation (TY2021–2021)</c:v>
                  </c:pt>
                  <c:pt idx="3">
                    <c:v>Spur Local (TY2021–2021)</c:v>
                  </c:pt>
                  <c:pt idx="4">
                    <c:v>Harry And Zoe Poole Foundation (TY2020–2021)</c:v>
                  </c:pt>
                  <c:pt idx="5">
                    <c:v>The Phase Foundation (TY2020–2020)</c:v>
                  </c:pt>
                  <c:pt idx="6">
                    <c:v>Levatus Charitable Trust (TY2021–2021)</c:v>
                  </c:pt>
                  <c:pt idx="7">
                    <c:v>The Junior League Of The City Of… (TY2022–2022)</c:v>
                  </c:pt>
                  <c:pt idx="8">
                    <c:v>Robert M Fisher Memorial Foundation (TY2022–2022)</c:v>
                  </c:pt>
                  <c:pt idx="9">
                    <c:v>Jane Bancroft Robinson Foundation (TY2020–2020)</c:v>
                  </c:pt>
                  <c:pt idx="10">
                    <c:v>Many Hands (TY2020–2020)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400</c:v>
                </c:pt>
                <c:pt idx="1">
                  <c:v>1250</c:v>
                </c:pt>
                <c:pt idx="2">
                  <c:v>5000</c:v>
                </c:pt>
                <c:pt idx="3">
                  <c:v>5000</c:v>
                </c:pt>
                <c:pt idx="4">
                  <c:v>5000</c:v>
                </c:pt>
                <c:pt idx="5">
                  <c:v>9000</c:v>
                </c:pt>
                <c:pt idx="6">
                  <c:v>10000</c:v>
                </c:pt>
                <c:pt idx="7">
                  <c:v>15000</c:v>
                </c:pt>
                <c:pt idx="8">
                  <c:v>25000</c:v>
                </c:pt>
                <c:pt idx="9">
                  <c:v>25000</c:v>
                </c:pt>
                <c:pt idx="10">
                  <c:v>55500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75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0"/>
        <c:axPos val="b"/>
        <c:numFmt formatCode="$#,##0,&quot;K&quot;" sourceLinked="0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Largest grant to Calvary</c:v>
                </c:pt>
              </c:strCache>
            </c:strRef>
          </c:tx>
          <c:spPr>
            <a:solidFill>
              <a:srgbClr val="A03F7E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Jacquemin Family Foundation</c:v>
                  </c:pt>
                  <c:pt idx="1">
                    <c:v>Max &amp; Victoria Dreyfus Foundation</c:v>
                  </c:pt>
                  <c:pt idx="2">
                    <c:v>John Edward Fowler Memorial Foundation</c:v>
                  </c:pt>
                  <c:pt idx="3">
                    <c:v>Alice Shaver Foundation</c:v>
                  </c:pt>
                  <c:pt idx="4">
                    <c:v>Carol And Gene Ludwig Family Foundation</c:v>
                  </c:pt>
                  <c:pt idx="5">
                    <c:v>United Way Of The National Capital Area</c:v>
                  </c:pt>
                  <c:pt idx="6">
                    <c:v>Bank Of America Charitable Foundation</c:v>
                  </c:pt>
                  <c:pt idx="7">
                    <c:v>Greater Washington Community Foundation</c:v>
                  </c:pt>
                  <c:pt idx="8">
                    <c:v>Morris And Gwendolyn Cafritz Foundation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5000</c:v>
                </c:pt>
                <c:pt idx="1">
                  <c:v>5000</c:v>
                </c:pt>
                <c:pt idx="2">
                  <c:v>40000</c:v>
                </c:pt>
                <c:pt idx="3">
                  <c:v>10000</c:v>
                </c:pt>
                <c:pt idx="4">
                  <c:v>25000</c:v>
                </c:pt>
                <c:pt idx="5">
                  <c:v>23191</c:v>
                </c:pt>
                <c:pt idx="6">
                  <c:v>15000</c:v>
                </c:pt>
                <c:pt idx="7">
                  <c:v>458000</c:v>
                </c:pt>
                <c:pt idx="8">
                  <c:v>170000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Largest grant to a core peer</c:v>
                </c:pt>
              </c:strCache>
            </c:strRef>
          </c:tx>
          <c:spPr>
            <a:solidFill>
              <a:srgbClr val="B9B2B6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Jacquemin Family Foundation</c:v>
                  </c:pt>
                  <c:pt idx="1">
                    <c:v>Max &amp; Victoria Dreyfus Foundation</c:v>
                  </c:pt>
                  <c:pt idx="2">
                    <c:v>John Edward Fowler Memorial Foundation</c:v>
                  </c:pt>
                  <c:pt idx="3">
                    <c:v>Alice Shaver Foundation</c:v>
                  </c:pt>
                  <c:pt idx="4">
                    <c:v>Carol And Gene Ludwig Family Foundation</c:v>
                  </c:pt>
                  <c:pt idx="5">
                    <c:v>United Way Of The National Capital Area</c:v>
                  </c:pt>
                  <c:pt idx="6">
                    <c:v>Bank Of America Charitable Foundation</c:v>
                  </c:pt>
                  <c:pt idx="7">
                    <c:v>Greater Washington Community Foundation</c:v>
                  </c:pt>
                  <c:pt idx="8">
                    <c:v>Morris And Gwendolyn Cafritz Foundation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10000</c:v>
                </c:pt>
                <c:pt idx="1">
                  <c:v>15000</c:v>
                </c:pt>
                <c:pt idx="2">
                  <c:v>50000</c:v>
                </c:pt>
                <c:pt idx="3">
                  <c:v>25000</c:v>
                </c:pt>
                <c:pt idx="4">
                  <c:v>50000</c:v>
                </c:pt>
                <c:pt idx="5">
                  <c:v>55747</c:v>
                </c:pt>
                <c:pt idx="6">
                  <c:v>50000</c:v>
                </c:pt>
                <c:pt idx="7">
                  <c:v>526300</c:v>
                </c:pt>
                <c:pt idx="8">
                  <c:v>250000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8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0"/>
        <c:axPos val="b"/>
        <c:numFmt formatCode="$#,##0,&quot;K&quot;" sourceLinked="0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CRM total by verification status</c:v>
                </c:pt>
              </c:strCache>
            </c:strRef>
          </c:tx>
          <c:spPr>
            <a:solidFill>
              <a:srgbClr val="B8810C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not exempt filer</c:v>
                  </c:pt>
                  <c:pt idx="1">
                    <c:v>no filing rows</c:v>
                  </c:pt>
                  <c:pt idx="2">
                    <c:v>confirmed in window</c:v>
                  </c:pt>
                  <c:pt idx="3">
                    <c:v>attachment only list</c:v>
                  </c:pt>
                  <c:pt idx="4">
                    <c:v>confirmed earlier only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2553047</c:v>
                </c:pt>
                <c:pt idx="1">
                  <c:v>1613137</c:v>
                </c:pt>
                <c:pt idx="2">
                  <c:v>4632578</c:v>
                </c:pt>
                <c:pt idx="3">
                  <c:v>1279435</c:v>
                </c:pt>
                <c:pt idx="4">
                  <c:v>477879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0"/>
        <c:axPos val="b"/>
        <c:numFmt formatCode="$#,##0.0,,&quot;M&quot;" sourceLinked="0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Shared institutional funders</c:v>
                </c:pt>
              </c:strCache>
            </c:strRef>
          </c:tx>
          <c:spPr>
            <a:solidFill>
              <a:srgbClr val="B8810C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Heartly House (MD)</c:v>
                  </c:pt>
                  <c:pt idx="1">
                    <c:v>Open Arms Housing</c:v>
                  </c:pt>
                  <c:pt idx="2">
                    <c:v>Thrive DC</c:v>
                  </c:pt>
                  <c:pt idx="3">
                    <c:v>DC SAFE</c:v>
                  </c:pt>
                  <c:pt idx="4">
                    <c:v>Coalition for the Homeless</c:v>
                  </c:pt>
                  <c:pt idx="5">
                    <c:v>Everyone Home DC</c:v>
                  </c:pt>
                  <c:pt idx="6">
                    <c:v>Samaritan Inns</c:v>
                  </c:pt>
                  <c:pt idx="7">
                    <c:v>House of Ruth MD</c:v>
                  </c:pt>
                  <c:pt idx="8">
                    <c:v>Doorways (VA)</c:v>
                  </c:pt>
                  <c:pt idx="9">
                    <c:v>Christ House</c:v>
                  </c:pt>
                  <c:pt idx="10">
                    <c:v>Covenant House DC</c:v>
                  </c:pt>
                  <c:pt idx="11">
                    <c:v>N Street Village</c:v>
                  </c:pt>
                  <c:pt idx="12">
                    <c:v>Community of Hope</c:v>
                  </c:pt>
                  <c:pt idx="13">
                    <c:v>My Sister's Place</c:v>
                  </c:pt>
                  <c:pt idx="14">
                    <c:v>New Endeavors by Women</c:v>
                  </c:pt>
                  <c:pt idx="15">
                    <c:v>House of Ruth DC</c:v>
                  </c:pt>
                  <c:pt idx="16">
                    <c:v>DASH</c:v>
                  </c:pt>
                  <c:pt idx="17">
                    <c:v>Miriam's Kitchen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4</c:v>
                </c:pt>
                <c:pt idx="6">
                  <c:v>5</c:v>
                </c:pt>
                <c:pt idx="7">
                  <c:v>5</c:v>
                </c:pt>
                <c:pt idx="8">
                  <c:v>7</c:v>
                </c:pt>
                <c:pt idx="9">
                  <c:v>7</c:v>
                </c:pt>
                <c:pt idx="10">
                  <c:v>9</c:v>
                </c:pt>
                <c:pt idx="11">
                  <c:v>9</c:v>
                </c:pt>
                <c:pt idx="12">
                  <c:v>10</c:v>
                </c:pt>
                <c:pt idx="13">
                  <c:v>12</c:v>
                </c:pt>
                <c:pt idx="14">
                  <c:v>12</c:v>
                </c:pt>
                <c:pt idx="15">
                  <c:v>14</c:v>
                </c:pt>
                <c:pt idx="16">
                  <c:v>14</c:v>
                </c:pt>
                <c:pt idx="17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Peer's institutional funders not funding Calvary</c:v>
                </c:pt>
              </c:strCache>
            </c:strRef>
          </c:tx>
          <c:spPr>
            <a:solidFill>
              <a:srgbClr val="B9B2B6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Heartly House (MD)</c:v>
                  </c:pt>
                  <c:pt idx="1">
                    <c:v>Open Arms Housing</c:v>
                  </c:pt>
                  <c:pt idx="2">
                    <c:v>Thrive DC</c:v>
                  </c:pt>
                  <c:pt idx="3">
                    <c:v>DC SAFE</c:v>
                  </c:pt>
                  <c:pt idx="4">
                    <c:v>Coalition for the Homeless</c:v>
                  </c:pt>
                  <c:pt idx="5">
                    <c:v>Everyone Home DC</c:v>
                  </c:pt>
                  <c:pt idx="6">
                    <c:v>Samaritan Inns</c:v>
                  </c:pt>
                  <c:pt idx="7">
                    <c:v>House of Ruth MD</c:v>
                  </c:pt>
                  <c:pt idx="8">
                    <c:v>Doorways (VA)</c:v>
                  </c:pt>
                  <c:pt idx="9">
                    <c:v>Christ House</c:v>
                  </c:pt>
                  <c:pt idx="10">
                    <c:v>Covenant House DC</c:v>
                  </c:pt>
                  <c:pt idx="11">
                    <c:v>N Street Village</c:v>
                  </c:pt>
                  <c:pt idx="12">
                    <c:v>Community of Hope</c:v>
                  </c:pt>
                  <c:pt idx="13">
                    <c:v>My Sister's Place</c:v>
                  </c:pt>
                  <c:pt idx="14">
                    <c:v>New Endeavors by Women</c:v>
                  </c:pt>
                  <c:pt idx="15">
                    <c:v>House of Ruth DC</c:v>
                  </c:pt>
                  <c:pt idx="16">
                    <c:v>DASH</c:v>
                  </c:pt>
                  <c:pt idx="17">
                    <c:v>Miriam's Kitchen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18</c:v>
                </c:pt>
                <c:pt idx="1">
                  <c:v>0</c:v>
                </c:pt>
                <c:pt idx="2">
                  <c:v>6</c:v>
                </c:pt>
                <c:pt idx="3">
                  <c:v>5</c:v>
                </c:pt>
                <c:pt idx="4">
                  <c:v>2</c:v>
                </c:pt>
                <c:pt idx="5">
                  <c:v>6</c:v>
                </c:pt>
                <c:pt idx="6">
                  <c:v>9</c:v>
                </c:pt>
                <c:pt idx="7">
                  <c:v>81</c:v>
                </c:pt>
                <c:pt idx="8">
                  <c:v>29</c:v>
                </c:pt>
                <c:pt idx="9">
                  <c:v>15</c:v>
                </c:pt>
                <c:pt idx="10">
                  <c:v>14</c:v>
                </c:pt>
                <c:pt idx="11">
                  <c:v>45</c:v>
                </c:pt>
                <c:pt idx="12">
                  <c:v>33</c:v>
                </c:pt>
                <c:pt idx="13">
                  <c:v>11</c:v>
                </c:pt>
                <c:pt idx="14">
                  <c:v>8</c:v>
                </c:pt>
                <c:pt idx="15">
                  <c:v>69</c:v>
                </c:pt>
                <c:pt idx="16">
                  <c:v>9</c:v>
                </c:pt>
                <c:pt idx="17">
                  <c:v>48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8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0"/>
        <c:axPos val="b"/>
        <c:numFmt formatCode="0" sourceLinked="0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DMV institutional grants naming the area, $/yr</c:v>
                </c:pt>
              </c:strCache>
            </c:strRef>
          </c:tx>
          <c:spPr>
            <a:solidFill>
              <a:srgbClr val="B8810C"/>
            </a:solidFill>
            <a:ln w="6350" cap="flat">
              <a:solidFill>
                <a:srgbClr val="1F1B1D"/>
              </a:solidFill>
              <a:prstDash val="solid"/>
              <a:round/>
            </a:ln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Maternal and family health (far)</c:v>
                  </c:pt>
                  <c:pt idx="1">
                    <c:v>Reentry and justice-involved women (medium)</c:v>
                  </c:pt>
                  <c:pt idx="2">
                    <c:v>Women veterans (medium)</c:v>
                  </c:pt>
                  <c:pt idx="3">
                    <c:v>Aging and older adults (medium)</c:v>
                  </c:pt>
                  <c:pt idx="4">
                    <c:v>Physical health (medium)</c:v>
                  </c:pt>
                  <c:pt idx="5">
                    <c:v>Domestic violence and victim services (near)</c:v>
                  </c:pt>
                  <c:pt idx="6">
                    <c:v>Behavioral health and recovery (near)</c:v>
                  </c:pt>
                  <c:pt idx="7">
                    <c:v>Workforce and employment (near)</c:v>
                  </c:pt>
                  <c:pt idx="8">
                    <c:v>Education and life skills (near)</c:v>
                  </c:pt>
                  <c:pt idx="9">
                    <c:v>Housing and homelessness (core)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4206081.2</c:v>
                </c:pt>
                <c:pt idx="1">
                  <c:v>1021957.6</c:v>
                </c:pt>
                <c:pt idx="2">
                  <c:v>7686391.4</c:v>
                </c:pt>
                <c:pt idx="3">
                  <c:v>9733560.6</c:v>
                </c:pt>
                <c:pt idx="4">
                  <c:v>84151297.2</c:v>
                </c:pt>
                <c:pt idx="5">
                  <c:v>4462098.2</c:v>
                </c:pt>
                <c:pt idx="6">
                  <c:v>20685130.2</c:v>
                </c:pt>
                <c:pt idx="7">
                  <c:v>30396443.2</c:v>
                </c:pt>
                <c:pt idx="8">
                  <c:v>93675991.8</c:v>
                </c:pt>
                <c:pt idx="9">
                  <c:v>32368511.2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8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0"/>
        </c:scaling>
        <c:delete val="0"/>
        <c:axPos val="b"/>
        <c:numFmt formatCode="$#,##0,,&quot;M&quot;" sourceLinked="0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DC point-in-time count</c:v>
                </c:pt>
              </c:strCache>
            </c:strRef>
          </c:tx>
          <c:spPr>
            <a:solidFill>
              <a:srgbClr val="A03F7E"/>
            </a:solidFill>
            <a:ln w="25400" cap="flat">
              <a:solidFill>
                <a:srgbClr val="A03F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F1B1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03F7E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2007</c:v>
                  </c:pt>
                  <c:pt idx="1">
                    <c:v>2008</c:v>
                  </c:pt>
                  <c:pt idx="2">
                    <c:v>2009</c:v>
                  </c:pt>
                  <c:pt idx="3">
                    <c:v>2010</c:v>
                  </c:pt>
                  <c:pt idx="4">
                    <c:v>2011</c:v>
                  </c:pt>
                  <c:pt idx="5">
                    <c:v>2012</c:v>
                  </c:pt>
                  <c:pt idx="6">
                    <c:v>2013</c:v>
                  </c:pt>
                  <c:pt idx="7">
                    <c:v>2014</c:v>
                  </c:pt>
                  <c:pt idx="8">
                    <c:v>2015</c:v>
                  </c:pt>
                  <c:pt idx="9">
                    <c:v>2016</c:v>
                  </c:pt>
                  <c:pt idx="10">
                    <c:v>2017</c:v>
                  </c:pt>
                  <c:pt idx="11">
                    <c:v>2018</c:v>
                  </c:pt>
                  <c:pt idx="12">
                    <c:v>2019</c:v>
                  </c:pt>
                  <c:pt idx="13">
                    <c:v>2020</c:v>
                  </c:pt>
                  <c:pt idx="14">
                    <c:v>2021</c:v>
                  </c:pt>
                  <c:pt idx="15">
                    <c:v>2022</c:v>
                  </c:pt>
                  <c:pt idx="16">
                    <c:v>2023</c:v>
                  </c:pt>
                  <c:pt idx="17">
                    <c:v>2024</c:v>
                  </c:pt>
                  <c:pt idx="18">
                    <c:v>2025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5320</c:v>
                </c:pt>
                <c:pt idx="1">
                  <c:v>6044</c:v>
                </c:pt>
                <c:pt idx="2">
                  <c:v>6228</c:v>
                </c:pt>
                <c:pt idx="3">
                  <c:v>6539</c:v>
                </c:pt>
                <c:pt idx="4">
                  <c:v>6546</c:v>
                </c:pt>
                <c:pt idx="5">
                  <c:v>6954</c:v>
                </c:pt>
                <c:pt idx="6">
                  <c:v>6865</c:v>
                </c:pt>
                <c:pt idx="7">
                  <c:v>7748</c:v>
                </c:pt>
                <c:pt idx="8">
                  <c:v>7298</c:v>
                </c:pt>
                <c:pt idx="9">
                  <c:v>8350</c:v>
                </c:pt>
                <c:pt idx="10">
                  <c:v>7473</c:v>
                </c:pt>
                <c:pt idx="11">
                  <c:v>6904</c:v>
                </c:pt>
                <c:pt idx="12">
                  <c:v>6521</c:v>
                </c:pt>
                <c:pt idx="13">
                  <c:v>6380</c:v>
                </c:pt>
                <c:pt idx="14">
                  <c:v>5111</c:v>
                </c:pt>
                <c:pt idx="15">
                  <c:v>4410</c:v>
                </c:pt>
                <c:pt idx="16">
                  <c:v>4922</c:v>
                </c:pt>
                <c:pt idx="17">
                  <c:v>5616</c:v>
                </c:pt>
                <c:pt idx="18">
                  <c:v>5138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800" u="none">
                  <a:solidFill>
                    <a:srgbClr val="1F1B1D"/>
                  </a:solidFill>
                  <a:latin typeface="+mn-lt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1F1B1D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F1B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41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16833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Title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16833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FFDD7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FFDD7F"/>
                </a:solidFill>
              </a:rPr>
              <a:t>Subtitle</a:t>
            </a:r>
            <a:endParaRPr lang="en-US" sz="1700" dirty="0"/>
          </a:p>
        </p:txBody>
      </p:sp>
      <p:pic>
        <p:nvPicPr>
          <p:cNvPr id="4" name="Image 0" descr="Calvary Women's Servic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4572000"/>
            <a:ext cx="3657600" cy="2286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6126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488"/>
                </a:solidFill>
              </a:rPr>
              <a:t>Prepared with public data as of 2026-10-10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41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FFDD7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Takeaway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41242F"/>
                </a:solidFill>
              </a:defRPr>
            </a:lvl1pPr>
          </a:lstStyle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Headline</a:t>
            </a:r>
            <a:endParaRPr lang="en-US" sz="2100" dirty="0"/>
          </a:p>
        </p:txBody>
      </p:sp>
      <p:pic>
        <p:nvPicPr>
          <p:cNvPr id="3" name="Image 0" descr="Calvary Women's Servic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5989320"/>
            <a:ext cx="1234440" cy="7863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168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Calvary funding analysis: consulting team deck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168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D7F"/>
                </a:solidFill>
              </a:rPr>
              <a:t>This analysis answers two questions for Calvary: how much pressure its government reliance creates, and which other funding fits. Full methods, evidence and the complete pipeline.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analysis rests on 25 public-record tables, with every row carrying a source and a retrieval date.</a:t>
            </a:r>
            <a:endParaRPr lang="en-US" sz="21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146304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sources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fact_org_financials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 × fiscal year × source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150,461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IRS 990 e-file XML (GivingTuesday), NCCS, IRS SOI, ProPublica, Calvary audits and 990 PDFs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fact_grants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 record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928,658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990-PF grants paid, Schedule I (DMV funders, DAF sponsors filtered to DC/MD/VA), CRM export, annual reports, web lists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fact_gov_awards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award / subaward / expenditure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40,300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USAspending, FAC single audits, Calvary SEFA, Treasury SLFRF, DC OVSJG, DC Council oversight, DC PASS, HUD CoC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fact_policy_events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dated budget or policy change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budget books FY2024–FY2027, Council committee reports, Budget Support Act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fact_opportunities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or forecast opportunity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Grants.gov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fact_roles / dim_person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 × org × year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163,473 / 48,563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 Part VII, 990-EZ, 990-PF officers, Calvary annual reports (roles only)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fact_org_relationships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 pair × type × year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544,041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grants, DAF grants, pass-through, Schedule R, shared board members (confidence-rated)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dim_org / dim_funder / dim_universe_membership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 / funder / universe rule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105,189 / 8,928 / 17,210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IRS BMF, e-file index, config rules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dim_geo / dim_period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ward, tract, county / year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 / 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ACS 2020–24, DC MAR, CPI-U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supp_* (7 tables)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various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PIT/HIC, DC budget lines, Calvary program metrics, strategic targets, donor bands, CRM verification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calvary_funding_data/README.md, reports/data_inventory.md, reports/data_quality.md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Prompt 1 data build, QC'd and rebuild-tested; see appendix 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input_map · data as of 2026-10-10 · method note D2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 is compared with 18 provisional DC-area peers, two Los Angeles comparators, and three universes of 163 to 542 organizations.</a:t>
            </a:r>
            <a:endParaRPr lang="en-US" sz="21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51206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Universe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subject organization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modules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core_peers (provisional)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DC-area organizations serving homeless women, DV survivors, recovery; four tiers (DC women/homeless; DC DV; DC homeless/recovery and Ward 7/8; DMV women/DV)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M3, M5, M6, M7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named_comparators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Downtown Women's Center (LA) and the CBWC Empowerment Institute / SheWorks (LA), at the CEO's request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rows everywhere; M10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dc_sector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public charities in homelessness, housing, DV, human services and adjacent NTEE codes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 distributions; M4 landscape lens 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size_matched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shelter / DV / women's-center organizations with revenue 0.5–2× Calvary's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 distributions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national_women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2,878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DV shelters, women's centers, women-named homeless/housing organizations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 distributions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dmv_funders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DC/MD/VA private foundations and grantmaking public charities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M4–M7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daf_sponsors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DAF sponsors, Schedule I kept for DC/MD/VA recipients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 (channel), excluded from the pipeline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dim_universe_membership; config/universes.yaml; config/core_peers.csv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rules in reports/universe_summary.md; peers swapped by editing core_peers.csv and rerunning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universe_summary · data as of 2026-10-10 · method note D2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Government share uses the audit basis where audits exist, because the 990 line understated Calvary's contracts by $1.5M in FY21.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Measure choice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Measure choice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Audits FY13–FY23 report government contracts and grants together; the 990 line 1e reports government grants only.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FY21: audit $1.98M vs line 1e $503K (contracts booked in line 1f).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FY22 and FY23: identical on both measures, so FY24–25 line 1e is treated as audit-equivalent.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Peers are compared on line 1e, the only measure available for them.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 audited financial statements FY13–FY23 and IRS 990 returns,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share = government revenue ÷ total revenue on each basis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m1_03 · data as of 2026-10-10 · method note A1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limitations are known and bounded, from missing FY24–25 audits and one-year DHS values to partial filings and provisional peers.</a:t>
            </a:r>
            <a:endParaRPr lang="en-US" sz="21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public FY24/FY25 audits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 share for the two latest years rests on 990 line 1e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 1e matched audits in FY22–23; ceilings-vs-recognized cross-check (A5); audits requested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DHS/TCP contract values public for FY2024 only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Award base understated in other years; scenario baseline carries FY2024 forward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Flagged in every chart; TCP agreements requested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TY2024 foundation filings partial, TY2025 mostly unfiled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Recent private trends understated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TY2020–23 as the trend window; TY2024 labeled 'arriving'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'See attached' grant lists (667 rows, ~$3.5B DMV-wide)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Some funders' grants have no recipient names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Flagged per funder; accessibility penalty in scoring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 core peers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Ranks move if the set changes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 percentiles reported alongside; swap via config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Interlock name matching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Medium-confidence links may be different people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Leadership materials use high confidence only; medium labeled unconfirmed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giving without a foundation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Invisible in filings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reconciliation; corporate track scored by analyst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reports/data_quality.md; module readouts (Caveats)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each limitation maps to a mitigation used in the analysis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— · data as of 2026-10-10 · method note D3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2. Calvary's trajectory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Calvary grew on public partners, private giving held steady, and FY25 ended in deficit with 4.4 months of cash.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Calvary's revenue grew 59% in real terms from FY19 to FY25, and the FY22 spike was a one-time building award.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Trajectory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Trajectory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$1.45M (FY11) → $4.97M (FY25) nominal; $2.49M (FY19) → $4.97M nominal is +59% after inflation ($3.05M → $4.84M in 2024 dollars).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FY22: $8.87M including the $3.68M SLFRF award that bought the New Foundations building.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Expenses passed revenue in FY23 and FY25.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990 returns FY2011–FY2025 (fact_org_financials), CPI-U (dim_period)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2024 dollars via CPI-U annual average by fiscal-year-end year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m1_01 · data as of 2026-10-10 · method note A1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Government supplied 40–61% of revenue every year since FY15 and most of the growth.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Mix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Mix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Government share by year: FY15 41%, FY16 44%, FY17 40%, FY18 42%, FY19 49%, FY20 55%, FY21 50%, FY22 61%, FY23 51%, FY24 45%, FY25 58%.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Private contributions ex events = contributions total − government − line 1c events (the 990 does not split foundations from individuals).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The FY25 return reported the gala on line 8a, so it sits in other revenue net of direct costs (see the events slide).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 audits FY15–FY23 (government revenue) and IRS 990 returns,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government on the audit basis to FY23, line 1e FY24–25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m1_02 · data as of 2026-10-10 · method note A1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audit basis and the 990 line agree except in FY21, so the FY24–25 figures can be read as audit-equivalent.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Reconciliation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Reconciliation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FY21 audit government revenue $1,981,161; line 1e $503,222; line 1f $3,063,099.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FY22: both $5,685,504. FY23: both $2,460,897.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FY24 line 1e $2,621,203 (45%); FY25 $2,892,598 (58%).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fact_org_financials (audit rows and preferred 990 rows)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see method note A1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m1_03 · data as of 2026-10-10 · method note A1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 ran deficits in two of the last three years, and its cash cushion fell from 7.5 to 4.4 months.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Margin and cash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Margin and cash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FY23 −$674K; FY24 +$507K; FY25 −$607K.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Months of cash: FY20 6.3, FY21 7.5, FY22 6.3, FY23 5.0, FY24 5.2, FY25 4.4.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Net assets $8.1M at FY25, mostly the building.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990 returns,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surplus = total revenue − total expenses; months of cash = cash and savings ÷ monthly expenses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m1_04, m1_05 · data as of 2026-10-10 · method note A1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Event receipts held near $0.5–0.6M in FY23–FY25, because the FY25 return reported the gala on a different line.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Flag D3, closed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Flag D3, closed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Lines 1c + 8a: $519K (FY23), $596K (FY24), $533K (FY25).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FY25: line 1c $55K and line 8a $478K, with $259K of direct costs netted on line 8c (+$219K).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The 2025 gala was held on 23 April 2025, inside FY25, and the 2026 gala raised over $620K.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990 Part VIII lines 1c, 8a and 8c, fact_org_financials; Calvary gala announcements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event receipts = line 1c event contributions + line 8a gross fundraising-event income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m1_06 · data as of 2026-10-10 · method note A1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Filed institutional grants stayed near $1M a year from 26–29 funders, and GWCF supplied 27% of five years' total.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Concentration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Concentration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$4.43M from 50 funders TY2020–24; institutional $3.34M, DAF sponsors $1.09M.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GWCF 27%, top five 63%; HHI 1,168.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By year: TY2020 $637K (27 funders) … TY2024 $1.17M (26), partial.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/ Schedule I rows naming Calvary, fact_grants;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non-cumulative rows, aggregated by funder EIN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m1_07, m1_08 · data as of 2026-10-10 · method note A3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3. Government funding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Three streams, one hub, stable pools with annual threats, and a draw-down question.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Calvary's recurring government awards grew from $0.6M (2020) to $4.1M (2024) across OVSJG, HUD CoC and DHS via TCP.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Streams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Streams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OVSJG recurring: $369K (FY20) → $1.05M (FY26).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HUD CoC: $240K (2019) → $1.77M (FY2025).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DHS/TCP: $1.42M (FY2024 only).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One-time: SLFRF $3.68M, PPP $327K, HUD CPF $200K.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2019 includes two Reach Up records ($292K and $369K) that may be one award recorded twice, so the series is quoted from 2020.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fact_gov_awards: dc_ovsjg, hud_coc, dc_oversight, audit_sefa rows for Calvary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one source per stream; DC FY for OVSJG/DHS, HUD competition year for CoC; TCP carries 78% of the 2024 base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m2_01, m2_01b · data as of 2026-10-10 · method note A2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Seven streams carry different renewal risks, and the DHS contract and Sisters Rise are the least documented and the riskiest.</a:t>
            </a:r>
            <a:endParaRPr lang="en-US" sz="21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2194560"/>
                <a:gridCol w="237744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→ latest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Renewal mechanism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Durability risk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DHS/TCP: Sisters Rise EHV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$593K (2024) → $593K (2024)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local funds via TCP, paired with Emergency Housing Vouchers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provider contract (25 units); the project left the HIC in 2025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High: HUD's 29 September 2026 notice ends the EHV program (vouchers convert by 31 December 2026 and cannot be reissued); the 2025 HIC no longer lists Sisters Rise PSH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DHS/TCP: Transitional Housing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$830K (2024) → $830K (2024)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local funds via TCP (DHS Homeless Services Continuum)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provider contract via TCP (45 beds)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Medium-high: single public data point; TCP's DHS POs fell sharply in FY2025 after DC's financial-system change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CoC: New Foundations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$470K (2023) → $546K (2025)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 HUD CoC 14.267 via TCP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renewal; new in 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Medium: a young project is the first to go in a tight competition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CoC: Reach Up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$1,222K (2021) → $924K (2025)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 HUD CoC 14.267 via TCP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renewal; expanded in 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Medium: TCP reallocation cut it from $1.22M to $0.42M in 2022, then it grew to $0.92M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CoC: Sister Circle PSH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$240K (2019) → $297K (2025)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 HUD CoC 14.267 via TCP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renewal in the DC CoC competition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Medium-low: PSH renewals are usually protected; FY2025 renewals were paid in full after the NOFO was enjoined, and the FY2026 competition (awards about December 2026) is the live question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OVSJG: New Foundations 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$439K (2023) → $543K (2026)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local funds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OVSJG grant; started FY23 after the FY22 building award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Medium: as above; tied to a DV-designated site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OVSJG: Reach Up 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$661K (2019) → $508K (2026)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local funds (FY24-26 lists); SLFRF-funded in FY22-23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OVSJG grant; continuation funding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Medium: annual, Mayor proposed cuts to Victim Services grants in FY26 and FY27, Council restored 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fact_gov_awards, fact_policy_events, supp_hic_projects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risk ratings are analyst judgment (basis = inferred)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m2_03 · data as of 2026-10-10 · method note A2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 recognized 73% (FY24) and 67% (FY25) of its known award ceilings as revenue, a gap the audits would explain.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Ceilings vs recognized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Ceilings vs recognized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FY24 ceilings $3.60M vs recognized $2.62M (73%).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FY25 ceilings $4.29M vs $2.89M (67%).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Flag D1: the audited FY22–23 single audits show CoC spending at 28% and 58% of the prior year's CoC awards, so reconcile CoC first, then DHS.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The 2021 Reach Up expansion ($1.22M, reallocated to $0.42M in 2022) explains part of the CoC gap.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fact_gov_awards aligned to Calvary FY;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CoC competition year t → Calvary FY t+1; DHS FY2024 carried forward; EFSP/SNAP at audited FY23 level; CoC draw rate = SEFA expenditure ÷ prior-year awards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m2_02 · data as of 2026-10-10 · method note A5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Since pandemic money ended, DC's homeless, PSH and victim-services budgets have held flat to rising through FY2027.</a:t>
            </a:r>
            <a:endParaRPr lang="en-US" sz="2100" dirty="0"/>
          </a:p>
        </p:txBody>
      </p:sp>
      <p:pic>
        <p:nvPicPr>
          <p:cNvPr id="3" name="m2_04_dc_budget_context" descr="charts/m2_04_dc_budget_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250577" cy="3977640"/>
          </a:xfrm>
          <a:prstGeom prst="rect">
            <a:avLst/>
          </a:prstGeom>
        </p:spPr>
      </p:pic>
      <p:sp>
        <p:nvSpPr>
          <p:cNvPr id="4" name="card Budget lines"/>
          <p:cNvSpPr/>
          <p:nvPr/>
        </p:nvSpPr>
        <p:spPr>
          <a:xfrm>
            <a:off x="8503920" y="1600200"/>
            <a:ext cx="313913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0" y="1737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Budget lines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2240280"/>
            <a:ext cx="27733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OVSJG P02303 approved: $45.5M FY24, $55.9M FY25, $55.4M FY26, $55.3M FY27; actual $41.3M FY24, $47.9M FY25.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DHS continuum $170M → $206M → $194M; PSH $153M → $145M → $148M → $166M.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DV services $2.9–3.4M, cut proposed and restored twice.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supp_dc_budget_lines (DC budget books FY2024–FY2027, Council committee reports)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activity-level totals by program 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m2_04 · data as of 2026-10-10 · method note A6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Mayor proposed victim-services and DV cuts in each of the last two springs, and the Council restored them.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Pattern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Pattern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FY26: Mayor −$5.8M to Victim Services grants; Council +$3.5M committee and +$6.0M one-time enhancement.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FY27: Mayor −$5.6M; Council restored $5.1M one-time and $0.5M recurring, so FY2028 is the next test.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DHS DV services −$500K proposed in both years; restored.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OVSJG under-spend vs approved is the quieter risk.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fact_policy_events (DC budget books, Council committee reports)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events of $2M or more touching the homeless continuum, PSH, DV and victim-services lines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m2_06 · data as of 2026-10-10 · method note A6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 holds about 1% of OVSJG awards and 5% of DC's CoC awards, so growth comes from winning projects.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Pools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Pools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OVSJG total awards $47M (FY20) → $97M (FY26); Calvary 0.7–1.5% (4.6% in FY22 with the building award).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DC CoC awards $22M (2019) → $33.5M (FY2025); Calvary 1.1% → 5.3%.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fact_gov_awards: OVSJG award lists (all recipients) and HUD CoC awards (DC-500)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Calvary ÷ pool total by year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m2_05 · data as of 2026-10-10 · method note A2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OVSJG cuts cost $67–250K, a lost CoC project $0.2–0.4M, a lost DHS/TCP contract $0.65–1.13M, and the combined case $1.05–1.47M.</a:t>
            </a:r>
            <a:endParaRPr lang="en-US" sz="21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1097280"/>
                <a:gridCol w="1371600"/>
                <a:gridCol w="182880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loss (range)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case 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 of cash after 12m (net)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 to zero cash (net, point)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FY25 (actual)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 grants cut 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−$67K to −$100K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3.0–3.1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 grants cut 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−$168K to −$250K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−$250K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2.9–3.0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CoC renewals cut 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−$99K to −$207K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−$264K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2.9–3.0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CoC project lost (New Foundations 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−$204K to −$424K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4–9%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−$542K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2.7–2.9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DHS/TCP contract not renewed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−$650K to −$1,125K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13–23%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−$26K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1.9–2.4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Combined (OVSJG -25%, CoC -15%, DHS lost)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−$1,052K to −$1,474K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21–30%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−$540K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1.5–2.0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fact_gov_awards, fact_org_financials; config/scenarios.yaml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baseline FY25: revenue $4.97M, expenses $5.58M, cash $2.06M, government $2.89M; splits A ceiling share, B CoC at its FY22–23 draw rate (DHS residual), C without Sisters Rise; floor D draws OVSJG and CoC in full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m2_07 · data as of 2026-10-10 · method note A4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4. Peer benchmarking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Calvary is mid-pack on government share, fast on growth, average on cash, and above most peers on institutional depth.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Calvary's 53% government share ranks 11th of 19 DC-area organizations, below every DC DV provider and above the philanthropy-led models.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Typology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Typology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Government-anchored (≥65%): DC SAFE, Open Arms, My Sister's Place, Everyone Home DC, Heartly House, DASH, CBWC Institute.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Mixed (35–65%): Coalition, House of Ruth MD, DWC, New Endeavors, House of Ruth DC, Calvary, Covenant House, Doorways, Samaritan Inns, N Street Village, Community of Hope.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Philanthropy-led (&lt;35%): Christ House, Thrive DC, Miriam's Kitchen.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fact_org_financials (990 line 1e; Calvary audit basis FY22–23)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FY2022–24 mean; provisional peers; LA comparators as reference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m3_01 · data as of 2026-10-10 · method note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Among organizations that report government revenue Calvary is typical, and against all filers it sits in the top quarter.</a:t>
            </a:r>
            <a:endParaRPr lang="en-US" sz="2100" dirty="0"/>
          </a:p>
        </p:txBody>
      </p:sp>
      <p:pic>
        <p:nvPicPr>
          <p:cNvPr id="3" name="m3_07_sector_distributions" descr="charts/m3_07_sector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498080" cy="3449117"/>
          </a:xfrm>
          <a:prstGeom prst="rect">
            <a:avLst/>
          </a:prstGeom>
        </p:spPr>
      </p:pic>
      <p:sp>
        <p:nvSpPr>
          <p:cNvPr id="4" name="card Distributions"/>
          <p:cNvSpPr/>
          <p:nvPr/>
        </p:nvSpPr>
        <p:spPr>
          <a:xfrm>
            <a:off x="8321040" y="1600200"/>
            <a:ext cx="332201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03920" y="1737360"/>
            <a:ext cx="2956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Distributions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2240280"/>
            <a:ext cx="295625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1242F"/>
                </a:solidFill>
              </a:rPr>
              <a:t>Among reporters of government revenue: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DC sector FY2023 (n=163): median 37%, Calvary 51% (57th percentile).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Size-matched national FY2022 (n=334): median 56%, Calvary 61% (57th).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National women's/DV FY2022 (n=542): median 65%, Calvary 61% (46th).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1242F"/>
                </a:solidFill>
              </a:rPr>
              <a:t>Against all filers (no line = 0%):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84th in DC (n=426), 74th size-matched (n=556), 74th women's/DV (n=1,124).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fact_org_financials by universe (dim_universe_membership)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percentile among organizations reporting government revenue; the all-filers percentile counts a missing government line as 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m3_07 · data as of 2026-10-10 · method note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Peers grew past $10M with government (DWC, House of Ruth) or almost without it (Miriam's Kitchen), so size requires neither.</a:t>
            </a:r>
            <a:endParaRPr lang="en-US" sz="2100" dirty="0"/>
          </a:p>
        </p:txBody>
      </p:sp>
      <p:pic>
        <p:nvPicPr>
          <p:cNvPr id="3" name="m3_02_size_vs_gov_share" descr="charts/m3_02_size_vs_gov_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8751" y="1554480"/>
            <a:ext cx="7374194" cy="4572000"/>
          </a:xfrm>
          <a:prstGeom prst="rect">
            <a:avLst/>
          </a:prstGeom>
        </p:spPr>
      </p:pic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fact_org_financials: FY2024 revenue and FY2022–24 government share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log revenue axis; typology bands shaded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m3_02 · data as of 2026-10-10 · method note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Calvary's real growth of 13.8% a year since FY19 trails only My Sister's Place, DWC and DC SAFE among peers.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Growth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Growth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Endpoints FY2019 and FY2024 avoid Calvary's one-time FY22 award.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CBWC Institute omitted (founded 2022).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fact_org_financials, dim_period CPI-U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compound annual growth of 2024-dollar revenue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m3_03 · data as of 2026-10-10 · method note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Calvary's 5.2 months of cash in FY24 is mid-pack, between DV providers at one month and Doorways at twelve.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Liquidity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Liquidity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Calvary 5.2 (FY24), 4.4 (FY25).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DC SAFE 0.9, Heartly House 1.0, New Endeavors 0.5, Covenant House 1.1.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Doorways 12.1, Everyone Home DC 9.9, N Street Village 8.0.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fact_org_financials: cash_savings_eoy, total_expenses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cash and savings ÷ monthly expenses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m3_04 · data as of 2026-10-10 · method note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Most peers' government share has held since 2017, except Samaritan Inns (down) and DWC and House of Ruth MD (up).</a:t>
            </a:r>
            <a:endParaRPr lang="en-US" sz="2100" dirty="0"/>
          </a:p>
        </p:txBody>
      </p:sp>
      <p:pic>
        <p:nvPicPr>
          <p:cNvPr id="3" name="m3_05_gov_share_trajectories" descr="charts/m3_05_gov_share_trajecto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3848" y="1554480"/>
            <a:ext cx="6604000" cy="4572000"/>
          </a:xfrm>
          <a:prstGeom prst="rect">
            <a:avLst/>
          </a:prstGeom>
        </p:spPr>
      </p:pic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fact_org_financials (990 line 1e; Calvary audit basis FY17–23)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small multiples, one organization per panel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m3_05 · data as of 2026-10-10 · method note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Calvary's institutional grants equal 12% of revenue, above all peers except Samaritan Inns, so the headroom is depth per funder.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Depth and DAF share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Depth and DAF share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Calvary 12% with 42 funders; Samaritan Inns 27% with 14.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DAF share of filed grants: Calvary 25%; N Street Village 51%; Miriam's Kitchen 41%; House of Ruth DC 37%; Doorways 42%.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DMV funders' filings only; LA comparators not comparable.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fact_grants, dim_funder,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institutional = non-DAF funders; dollars ÷ FY2020–24 revenue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m3_06 · data as of 2026-10-10 · method note B2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Peers show three replicable paths: replacing government with program revenue, growing private alongside it, or scaling with it.</a:t>
            </a:r>
            <a:endParaRPr lang="en-US" sz="2100" dirty="0"/>
          </a:p>
        </p:txBody>
      </p:sp>
      <p:pic>
        <p:nvPicPr>
          <p:cNvPr id="3" name="m3_08_case_studies_mix" descr="charts/m3_08_case_studies_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6374" y="1554480"/>
            <a:ext cx="7218947" cy="4572000"/>
          </a:xfrm>
          <a:prstGeom prst="rect">
            <a:avLst/>
          </a:prstGeom>
        </p:spPr>
      </p:pic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fact_org_financials (990 preferred rows; government = line 1e)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revenue mix by year for four organizations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m3_08 · data as of 2026-10-10 · method note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DV peers draw $3–5M a year each from OVSJG, while Calvary's $1.05M makes it a mid-sized grantee.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Shared pools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Shared pools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OVSJG FY2026: DASH $5.28M, DC SAFE $4.61M, My Sister's Place $3.81M, House of Ruth DC $3.17M, Calvary $1.05M.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CoC FY2025: Christ House $2.98M, My Sister's Place $2.06M, Calvary $1.77M, House of Ruth DC $1.38M, DASH $1.38M.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fact_gov_awards: OVSJG FY2026 list; HUD CoC FY2025 awards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DC pools only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m3_09 · data as of 2026-10-10 · method note A2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5. Funder landscape and gaps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The pool is large and concentrated, most majors already fund Calvary, and the gaps are specific and named.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DMV funders put about $132M a year into DC's homelessness and human-services organizations, 58% of it through donor-advised funds.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Lens A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Lens 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$660M TY2020–24 to 1,027 dc_sector organizations; 555 institutional funders.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Institutional dollars $50–52M/yr TY2020–23, $72M in TY2024 (partial filings).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Includes Clark's $32.8M spend-down (closed end of 2025).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Excludes Gates (global/research recipients) and TCP (a pass-through intermediary with no itemized Schedule I): config/landscape_exclusions.csv.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fact_grants (990-PF / Schedule I TY2020–24) to dc_sector recipients;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funder tax years; TY2024 partial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m4_01, m4_02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Ten institutional funders supply 55% of foundation dollars to DC's sector, and six of the 25 largest already fund Calvary.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Majors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Majors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Fund Calvary: GWCF, Cafritz, Bank of America, United Way NCA, Jane Bancroft Robinson, Abell.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Do not: Clark ($32.8M, a spend-down, closed end of 2025), JPMorgan Chase (matching-gift channel), Wal-Mart, Casey, Weinberg, Morningstar, Diana Davis Spencer, Rast, Meyer, Capital Area Food Bank, Wells Fargo, Bernstein, PepsiCo, Washington Home.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Top 10 = about half of institutional dollars (concentration curve in appendix C).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fact_grants, dim_funder (landscape table m4_00)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institutional = non-DAF; exclusions applied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m4_03, m4_04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typical foundation grant to a DC-sector organization is $10–25K, and six-figure grants are the top decile.</a:t>
            </a:r>
            <a:endParaRPr lang="en-US" sz="2100" dirty="0"/>
          </a:p>
        </p:txBody>
      </p:sp>
      <p:pic>
        <p:nvPicPr>
          <p:cNvPr id="3" name="m4_05_grant_size_by_type" descr="charts/m4_05_grant_size_by_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680960" cy="3686861"/>
          </a:xfrm>
          <a:prstGeom prst="rect">
            <a:avLst/>
          </a:prstGeom>
        </p:spPr>
      </p:pic>
      <p:sp>
        <p:nvSpPr>
          <p:cNvPr id="4" name="card Grant size"/>
          <p:cNvSpPr/>
          <p:nvPr/>
        </p:nvSpPr>
        <p:spPr>
          <a:xfrm>
            <a:off x="8503920" y="1600200"/>
            <a:ext cx="313913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0" y="1737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Grant size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2240280"/>
            <a:ext cx="27733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Private foundations: median $10K, p90 $79K (n=3,288).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Community foundations: median $40K, p90 $200K.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DAF sponsors: median $25K, p90 $259K.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Corporate foundations: median under $1K ($570; matching gifts), p90 $250K.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fact_grants to dc_sector recipients TY2020–24;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percentiles of grant size by funder 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m4_05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Fidelity Charitable alone moved $179M of donor-advised money into DC-sector organizations in five years.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DAF channel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DAF channel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DAF sponsors are intermediaries: the decisions sit with individual donors.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Calvary's DAF receipts: $1.1M over five years (Benevity $512K, Fidelity $314K, Schwab $128K).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Peers with Calvary's profile raise 40–50% of filed grants via DAFs.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fact_grants (DAF sponsors' Schedule I, DC/MD/VA recipients)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by sponsor, TY2020–24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m4_06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Most institutional money is general operating or untagged, and the largest mission-tagged funders are Maryland and Virginia foundations.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Purpose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Purpose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'Other' (untagged) 47% of tagged dollars; general operating 20%; women 9%; housing 4%; DV smaller.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Mission-tagged DMV funders: Weinberg, The Community Foundation (VA), Clark (closed), Wells Fargo, Abell — most give little in DC (m4_08).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Implication: target the DC general-support givers who already fund peers.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fact_grants purpose text tagged with dim_program_area keywords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a grant can carry several tags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m4_07, m4_08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Twenty-three funders give to three or more of Calvary's peers but not Calvary, and fifteen choose their own grantees.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Gap list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Gap list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22 of 23 filed itemized lists in TY2023+, so the absence is current.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1242F"/>
                </a:solidFill>
              </a:rPr>
              <a:t>Not shown (8): Venable (closed to new), T Rowe Price Program For Charitable Giving (channel), Gifts For The Homeless (channel), Capital Area Food Bank (channel), America's Charities (channel), JPMorgan Chase (channel), Clark Charitable (closed), Give Lively (channel).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Calvary is enrolled with America's Charities; Venable takes DC applications only from recent grantees or by invitation.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* Funds exactly three peers: depends on the provisional peer set. Appendix C lists all 75 funders of 2+ peers.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fact_grants (peers' and Calvary's filed grants TY2020–24), dim_funder; open status from funders' own pages, Oct 2026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no Calvary row in TY2020–24 filings; DAF sponsors excluded; giving channels and closed funders listed, not charted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m5_01, m7_04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Eleven former funders that once gave $156K have filed grant lists since TY2023 with nothing for Calvary.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Lapsed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Lapsed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Many Hands $55.5K (TY2020), Jane Bancroft Robinson $25K, Robert M. Fisher $25K, Junior League $15K …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Many Hands funds budgets of $0.5–5M, so Calvary ($5.58M in FY25) is not eligible for its January 2027 cycle.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World Bank CCF's $100K (TY2022) was a one-time capital-campaign grant and staff giving continues: not lapsed.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Max &amp; Victoria Dreyfus unclear (no itemized TY2023+ return in the data). Check the CRM for gifts routed through DAFs before outreach.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fact_grants (all years naming Calvary; funders' TY2023+ returns); Many Hands eligibility page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lapsed = last grant ≤TY2022 and funder itemized since; one-time capital-campaign grants excluded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m5_02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Fifteen of Calvary's current funders have written larger single grants to a peer than to Calvary.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Headroom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Headroom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41242F"/>
                </a:solidFill>
              </a:rPr>
              <a:t>Among current funders that also fund two or more peers (20 counting all current institutional funders, 27 with DAF sponsors).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Cafritz $170K vs $250K; GWCF $458K vs $526K; Bank of America $15K vs $50K; United Way NCA $23K vs $56K; Fowler $40K vs $50K; Ludwig $25K vs $50K.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A peer's larger grant may be capital or program-specific.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'Current' means a filed grant in TY2020–24: 11 of the 15 gave in TY2023–24, and 4 last gave in TY2020–22 (lapsed or unclear).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fact_grants TY2020–24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largest single grants, not totals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m5_03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Only 44% of the CRM's $10.6M in 2023–26 institutional giving is verifiable in funders' filings.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CRM vs filings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CRM vs filings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Confirmed in TY2023+ filings: $4.63M, 25 funders.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Corporate / no public filing: $2.55M, 92 funders (MGAC, IMF, Latham, Frontier Co-op, Reservoir).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'See attached' filers: $1.28M (Philip L. Graham, Clark-Winchcole, Kay, Herb Block).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Exempt filers with no Calvary row: $1.61M; earlier-only: $0.48M.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supp_crm_cash_verification (Calvary CRM export 2023–26 vs funders' filings)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CRM totals cumulative over an unconfirmed window (assumptions A1–A2 of the data build)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m5_06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6. Network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Calvary is in the core of the funder web, and paths run through shared funders and peers, not boards.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 sits inside the same funder web as its peers, and most of the best-connected funders already fund it.</a:t>
            </a:r>
            <a:endParaRPr lang="en-US" sz="2100" dirty="0"/>
          </a:p>
        </p:txBody>
      </p:sp>
      <p:pic>
        <p:nvPicPr>
          <p:cNvPr id="3" name="m6_03_network" descr="charts/m6_03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1672" cy="3017520"/>
          </a:xfrm>
          <a:prstGeom prst="rect">
            <a:avLst/>
          </a:prstGeom>
        </p:spPr>
      </p:pic>
      <p:sp>
        <p:nvSpPr>
          <p:cNvPr id="4" name="card Central funders"/>
          <p:cNvSpPr/>
          <p:nvPr/>
        </p:nvSpPr>
        <p:spPr>
          <a:xfrm>
            <a:off x="548640" y="4709160"/>
            <a:ext cx="11094415" cy="8686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4818888"/>
            <a:ext cx="1371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1242F"/>
                </a:solidFill>
              </a:rPr>
              <a:t>Central funders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4818888"/>
            <a:ext cx="44956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By organizations funded: Fidelity 18, GWCF 18, Benevity 18, Schwab 16, Cafritz 14, Vanguard 13, NPT 13, United Way NCA 13, Blackbaud 11, Venable 10, Bank of America 10, Abell 9.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964528" y="4818888"/>
            <a:ext cx="44956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328 funders connect the 19 organizations ($69.9M); 58 fund three or more.</a:t>
            </a:r>
            <a:endParaRPr lang="en-US" sz="1050" dirty="0"/>
          </a:p>
        </p:txBody>
      </p:sp>
      <p:sp>
        <p:nvSpPr>
          <p:cNvPr id="8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fact_grants (Calvary + 18 peers, TY2020–24),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bipartite graph; concentric layout; edge width = dollars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m6_03, m6_01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 shares the most institutional funders with Miriam's Kitchen, DASH and House of Ruth DC.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Overlap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Overlap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Shared: Miriam's Kitchen 17, DASH 14, House of Ruth DC 14, New Endeavors 12, My Sister's Place 12.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Not shared: House of Ruth MD 81, House of Ruth DC 69, Miriam's Kitchen 48, N Street Village 45.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institutional funders only (DAF sponsors excluded)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m6_02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Board interlocks are a thin channel, with no high-confidence Calvary links and eight medium-confidence leads to confirm.</a:t>
            </a:r>
            <a:endParaRPr lang="en-US" sz="2100" dirty="0"/>
          </a:p>
        </p:txBody>
      </p:sp>
      <p:graphicFrame>
        <p:nvGraphicFramePr>
          <p:cNvPr id="4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  <a:gridCol w="822960"/>
                <a:gridCol w="237744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 organization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Funder?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 (use)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/ evidence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Charter School Incubator Initiative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2020-2020 vs 2019-2021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Power Institute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2019-2021 vs 2023-2024 (no overlap)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Davis Construction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2017-2019 vs 2021-2025 (no overlap)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Dress For Success Washington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2015-2018 vs 2021-2022 (no overlap)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2019-2024 vs 2020-2020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United Way Of Central Maryland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2022-2024 vs 2022-2024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United Way Of The National Capital Area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2020-2024 vs 2020-2021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Washington Area Women's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2020-2024 vs 2022-2024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Rockson Community Development Corporation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2020-2022 vs 2023-2024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For Recovery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2020-2020 vs 2024-2024 (no overlap)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SAFE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Bread For The City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2020-2021 vs 2020-2024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(VA)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Arlington Community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2020-2021 vs 2023-2024 (no overlap)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fact_org_relationships (shared_board_member), dim_person (person_id only; no names stored)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exact normalized name plus a corroborating signal; high confidence also needs overlapping board terms; leadership materials use high confidence only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m6_04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Board interlocks are a thin channel, with no high-confidence Calvary links and eight medium-confidence leads to confirm. (continued, 2 of 2)</a:t>
            </a:r>
            <a:endParaRPr lang="en-US" sz="2100" dirty="0"/>
          </a:p>
        </p:txBody>
      </p:sp>
      <p:graphicFrame>
        <p:nvGraphicFramePr>
          <p:cNvPr id="4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  <a:gridCol w="822960"/>
                <a:gridCol w="237744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 organization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Funder?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 (use)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/ evidence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(VA)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Delta Housing Corporation of the District of Columbia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2020-2024 vs 2020-2024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(VA)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Fidelity Investments Charitable Gift Fund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2022-2024 vs 2021-2024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 Home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Baltimore Community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2020-2023 vs 2020-2024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Heartly House (MD)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Farvue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2020-2025 vs 2020-2020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Heartly House (MD)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Community Foundation Of Frederick County Maryland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2024-2024 vs 2020-2024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Women's Business Enterprise National Council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2020-2023 vs 2021-2024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Dipietro Family Foundation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2020-2022 vs 2020-2024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America's Charities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2020-2024 vs 2020-2025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Sister's Place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Bread For The City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2024-2024 vs 2020-2022 (no overlap)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Sister's Place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District of Columbia Coalition Against Domestic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2020-2024 vs 2020-2023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Sister's Place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Washington Lawyers' Committee For Civil Rights And Urban Affairs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2021-2023 vs 2024-2024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Inspire Access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unconfirmed (medium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2020-2024 vs 2023-2024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fact_org_relationships (shared_board_member), dim_person (person_id only; no names stored)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exact normalized name plus a corroborating signal; high confidence also needs overlapping board terms; leadership materials use high confidence only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m6_04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7. Pipeline and scoring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Seven weighted dimensions in one editable file produce nine Tier 1 rows with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pipeline scores 182 candidates on seven weighted dimensions that can be changed in one config file and rerun.</a:t>
            </a:r>
            <a:endParaRPr lang="en-US" sz="2100" dirty="0"/>
          </a:p>
        </p:txBody>
      </p:sp>
      <p:graphicFrame>
        <p:nvGraphicFramePr>
          <p:cNvPr id="4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8138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(0–1 score)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 fit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issue tags (housing/DV/women 1.0; behavioral health/workforce/health 0.7; general operating 0.6) + share of DC-sector dollars tagged housing/DV/women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giving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peers funded TY2020–24, capped at 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 giving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Dollars to DC-sector organizations, log scale $50K → $10M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Award size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grant to peers (else DC-sector median), log scale $5K → $250K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Accessibility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type and breadth (community foundation 0.85 … narrow family foundation 0.30); −0.15 'see attached'; −0.30 in-kind channels; DAF-like 0.15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Durability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 funding peers and years active in the sector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 path strength + 0.35 current funder + 0.20 lapsed + 0.15 on CRM/lists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1: score ≥ 0.62 and typical grant ≥ $25K (max 20). Tier 2: ≥ 0.48. Tier 3: rest. Government and corporate rows: analyst scores.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rules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Channels and DAF-like programs capped at Tier 2; closed funders kept but excluded; not eligible → Tier 3; closed to new applicants → at most Tier 2; current funders under $10K dropped; typical grant falls back to DC-sector median, then Calvary's largest grant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config/scoring_weights.yaml; config/guideline_notes.csv (open status); chart_data/m5_00_candidate_funders.csv; m6_05_relationship_paths.csv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sum; rerun scripts/07, 12 and 13 after editing weights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Nine rows reach Tier 1: four current foundation partners, one new foundation, one corporate relationship and three public streams.</a:t>
            </a:r>
            <a:endParaRPr lang="en-US" sz="2100" dirty="0"/>
          </a:p>
        </p:txBody>
      </p:sp>
      <p:graphicFrame>
        <p:nvGraphicFramePr>
          <p:cNvPr id="4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286000"/>
                <a:gridCol w="1600200"/>
                <a:gridCol w="457200"/>
                <a:gridCol w="685800"/>
                <a:gridCol w="27889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grant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 path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William S Abell Foundation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peers; typical grant $25K; DC-sector $2.7M; current funder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funder (largest grant $270K); funds 8 peers that share 5+ funders with Calvary; 20 of Calvary's…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Greater Washington Community Foundation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 peers; typical grant $33K; DC-sector $43.2M; current funder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funder (largest grant $458K); funds 12 peers that share 5+ funders with Calvary; 24 of Calvary's…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OVSJG Victim Services grants (Reach Up, New Foundations)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government_dc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retain and grow: annual continuation; Council restored proposed cuts FY26 and FY27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grantee / sub-recipient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Morris And Gwendolyn Cafritz Foundation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peers; typical grant $36K; DC-sector $12.6M; current funder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funder (largest grant $170K); funds 10 peers that share 5+ funders with Calvary; 22 of Calvary's…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Continuum of Care via TCP (Sister Circle, Reach Up, New Foundations 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government_federal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renewal; 5% of DC CoC; protect renewals, consider a PSH expansion project in the next competition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grantee / sub-recipient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homeless services via TCP (TH contract, Sisters Rise)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government_dc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single stream; confirm FY25-26 contract values and draw-down against ceilings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grantee / sub-recipient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John Edward Fowler Memorial Foundation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steward / upgrade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peers; typical grant $32K; DC-sector $1.6M; current funder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funder (largest grant $40K); funds 7 peers that share 5+ funders with Calvary; 17 of Calvary's…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corporate: steward / upgrade (CRM)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$238K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total $713K 2023-26; cash vs in-kind unclear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corporate relationship (CRM); verify cash share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 I Schattner Foundation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institutional: new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peers; typical grant $60K; DC-sector $2.1M; no Calvary grant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funds 4 peers that share 5+ funders with Calvary; 12 of Calvary's funders co-fund its grantees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recommendations/funder_pipeline.csv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see scoring table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Peer giving and existing relationships drive Tier 1 scores, while award size separates the foundations that can move the numbers.</a:t>
            </a:r>
            <a:endParaRPr lang="en-US" sz="2100" dirty="0"/>
          </a:p>
        </p:txBody>
      </p:sp>
      <p:pic>
        <p:nvPicPr>
          <p:cNvPr id="3" name="m7_03_tier1_score_breakdown" descr="charts/m7_03_tier1_score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848" y="1554480"/>
            <a:ext cx="6858000" cy="4572000"/>
          </a:xfrm>
          <a:prstGeom prst="rect">
            <a:avLst/>
          </a:prstGeom>
        </p:spPr>
      </p:pic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chart_data/m7_00_funder_pipeline.csv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weighted contribution of each dimension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m7_03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90-day plan gives each Tier 1 target a next step, an owner, a deadline and its open status.</a:t>
            </a:r>
            <a:endParaRPr lang="en-US" sz="2100" dirty="0"/>
          </a:p>
        </p:txBody>
      </p:sp>
      <p:graphicFrame>
        <p:nvGraphicFramePr>
          <p:cNvPr id="5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1463040"/>
                <a:gridCol w="91440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step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to new requests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William S Abell Foundation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Steward and renew: Abell gave $270K (TY2021) and $25K (TY2023), with a further $25K in March 2025; it is invitation-only with no consecutive-year requests, so ask its staff when the next request is welcome and what it would fund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45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Invitation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Greater Washington Community Foundation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conversations with GWCF: a successor to the Health Equity Fund support, and a core general-operating request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45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Open: Cycle-specific; check Grant Opportunities page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OVSJG Victim Services grants (Reach Up, New Foundations)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FY26 award letters and draw-down status; schedule program-officer check-in; map FY27 renewal calendar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+ board chair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30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award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Morris And Gwendolyn Cafritz Foundation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ask: request a multi-year general-operating grant at the funder's peer-level amount, citing the FY25 deficit and the concentration in three public streams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60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Open: March 1, July 1, November 1 (5:00 pm ET)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Continuum of Care via TCP (Sister Circle, Reach Up, New Foundations 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FY26 award letters and draw-down status; schedule program-officer check-in; map FY27 renewal calendar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+ board chair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30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award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homeless services via TCP (TH contract, Sisters Rise)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FY26 award letters and draw-down status; schedule program-officer check-in; map FY27 renewal calendar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+ board chair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30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award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John Edward Fowler Memorial Foundation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ask: request a multi-year general-operating grant at the funder's peer-level amount, citing the FY25 deficit and the concentration in three public streams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60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Open: Rolling (no deadline)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Quantify cash vs in-kind in the CRM; propose a multi-year sponsorship or program partnership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 + board chair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60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partner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 I Schattner Foundation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an invitation through a named peer or co-funder (Schattner does not consider unsolicited requests); no LOI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 director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90 (introduction, then invitation)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Invitation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recommendations/action_plan_90day.csv; config/guideline_notes.csv (sources/web_tier1_guidelines.csv)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deadlines relative to plan start, sequenced for a six-person development team; open status checked on funders' own pages, Oct 2026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m7_01, m7_04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Moving any weight by 0.05 keeps at least nine of the top ten and moves top-30 ranks under two places.</a:t>
            </a:r>
            <a:endParaRPr lang="en-US" sz="2100" dirty="0"/>
          </a:p>
        </p:txBody>
      </p:sp>
      <p:graphicFrame>
        <p:nvGraphicFramePr>
          <p:cNvPr id="5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011680"/>
                <a:gridCol w="1645920"/>
                <a:gridCol w="182880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rank shift (top 30)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Top-10 overlap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1–2 added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1–2 dropped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mission_fit -0.05 (renormalized)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mission_fit +0.05 (renormalized)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peer_giving -0.05 (renormalized)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peer_giving +0.05 (renormalized)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regional_giving -0.05 (renormalized)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regional_giving +0.05 (renormalized)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award_size -0.05 (renormalized)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award_size +0.05 (renormalized)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accessibility -0.05 (renormalized)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accessibility +0.05 (renormalized)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durability -0.05 (renormalized)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durability +0.05 (renormalized)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 -0.05 (renormalized)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 +0.05 (renormalized)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tier2 cutoff -0.05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tier2 cutoff +0.05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chart_data/m7_05_sensitivity.csv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each weight ±0.05 with renormalization; tier-2 cutoff ±0.05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m7_05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8. Mission expansion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Near options come first, health is a partnership, and families are not suggested.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Health and workforce funding pools are large and one step from Calvary's programs, while aging, veterans and reentry are small.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Scan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Scan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Near: education $94M (schools dominate), workforce $30M, behavioral health $21M, DV $4.5M.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Medium: health $84M (206 funders at $100K+), aging $9.7M, veterans $7.7M, reentry $1.0M.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Far: maternal/family $4.2M.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fact_grants purpose tags (DMV institutional, TY2020–24); fact_opportunities; config/expansion_areas.yaml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general operating excluded; distance ratings are analyst judgment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m8_01 · data as of 2026-10-10 · method note D1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Each option carries a trade-off, from workforce and behavioral health at modest cost to DV formalization that raises government share.</a:t>
            </a:r>
            <a:endParaRPr lang="en-US" sz="2100" dirty="0"/>
          </a:p>
        </p:txBody>
      </p:sp>
      <p:graphicFrame>
        <p:nvGraphicFramePr>
          <p:cNvPr id="5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22960"/>
                <a:gridCol w="2560320"/>
                <a:gridCol w="237744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Pool evidence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Upside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/ risk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Formalize workforce (SheWorks-style cohort in Step Up DC)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$30M/yr tagged; DOES/WIOA; SNAP E&amp;T held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funders and public contracts; outcomes story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cost: the second workforce position, unfunded in FY2026; partner management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Behavioral-health credential or billing partner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$21M/yr tagged; Medicaid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Therapy becomes program revenue (Samaritan Inns path)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Compliance, staffing, 12–18 months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 program formalization (VOCA eligibility)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 $55M pool; DV peers 70–89% government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Deeper OVSJG relationship; DV funders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Reporting; raises government 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FQHC clinic hours on site (Community of Hope; DWC/JWCH model)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$84M/yr tagged; 206 funders at $100K+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funders at low capital cost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 dependence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Older-women track in PSH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$9.7M/yr; The Washington Home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Narrative fit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pool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Women veterans / reentry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private pools; HVRP, BJA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Program-specific federal money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compliance regimes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Families / maternal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$4.2M/yr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 change; not suggested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modules/m8_expansion_scan.md; config/expansion_areas.yaml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options and trade-offs are analyst judgment on the scan evidence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m8_01 · data as of 2026-10-10 · method note D1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Direct federal competition is thin, with 36 relevant notices, so the realistic channels remain HUD CoC and HUD CPF.</a:t>
            </a:r>
            <a:endParaRPr lang="en-US" sz="2100" dirty="0"/>
          </a:p>
        </p:txBody>
      </p:sp>
      <p:graphicFrame>
        <p:nvGraphicFramePr>
          <p:cNvPr id="5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914400"/>
                <a:gridCol w="649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 of Housing and Urban Development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Resident Opportunity and Self-Sufficiency Service…; Preservation and Reinvestment Initiative for Community…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Bureau of Justice Assistance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BJA FY 2026 Invited to Apply- Medicaid and Corrections…; BJA FY 2026 Veterans Treatment Court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of Juvenile Justice Delinquency Prevention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OJJDP FY 2026 Juvenile Drug Treatment Court Program; OJJDP FY 2026 Community and Schools Youth Drug Prevention…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Substance Abuse and Mental Health Services Adminis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Residential Treatment for Pregnant and Postpartum Women; State Pilot Program for Treatment for Pregnant and…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Employment and Training Administration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Unemployment Insurance Integrity Center of Excellence…; Fiscal Year 2027 State Workforce Agency Unemployment…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Dept. of Treasury RESTORE Act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Act Direct Component - Non-Construction Activities; RESTORE Act Direct Component – Construction and Real…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Administration for Children and Families - OHS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Head Start Expansion and Early Head Start - Child…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Veterans Employment and Training Service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Homeless Veterans’ Reintegration Program (HVRP)…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Veterans Legacy Grants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Veterans Legacy Grants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Administration for Community Living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Alzheimer's Disease Programs Initiative (ADPI)…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Bureau of Justice Statistics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BJS FY 2026 State Justice Statistics Program for…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Institute of Justice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NIJ FY 2026 Evaluation of the Effectiveness of the Bureau…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Administration for Children and Families - ORR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Study and Post-Release Services for Unaccompanied…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fact_opportunities (Grants.gov posted and forecasted)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research, tribal, rural and overseas notices removed; relevant agencies kept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m8_02 · data as of 2026-10-10 · method note D1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9. Need and capacity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The city's deepest need meets a shrinking system and a growing share for Calvary.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Calvary's home ward has twice the city's poverty rate and the highest female poverty in DC.</a:t>
            </a:r>
            <a:endParaRPr lang="en-US" sz="2100" dirty="0"/>
          </a:p>
        </p:txBody>
      </p:sp>
      <p:pic>
        <p:nvPicPr>
          <p:cNvPr id="3" name="m9_05_ward_map" descr="charts/m9_05_ward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226242" cy="3977640"/>
          </a:xfrm>
          <a:prstGeom prst="rect">
            <a:avLst/>
          </a:prstGeom>
        </p:spPr>
      </p:pic>
      <p:sp>
        <p:nvSpPr>
          <p:cNvPr id="4" name="card Ward indicators"/>
          <p:cNvSpPr/>
          <p:nvPr/>
        </p:nvSpPr>
        <p:spPr>
          <a:xfrm>
            <a:off x="6766560" y="1600200"/>
            <a:ext cx="48764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949440" y="1737360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Ward indicators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2240280"/>
            <a:ext cx="45107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Poverty: Ward 8 31%, Ward 7 23%, DC 15%. Female poverty: 32% / 25% / 16%.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Renters paying 50%+: 33% / 32% / 24%. Unemployment: 13% / 13% / 6%.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Female householder, no spouse: 30% / 29% / 13%.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dim_geo (ACS 2020–24, DC wards as state legislative districts; DC Open Data ward boundaries)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five-year estimates; 90% MOE in the table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m9_01, m9_05 · data as of 2026-10-10 · method note —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DC's homeless count fell from 8,350 (2016) to 5,138 (2025) while Calvary's inventory grew to 124 beds.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Capacity"/>
          <p:cNvSpPr/>
          <p:nvPr/>
        </p:nvSpPr>
        <p:spPr>
          <a:xfrm>
            <a:off x="8138160" y="1600200"/>
            <a:ext cx="350489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737360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Capacity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240280"/>
            <a:ext cx="31391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2022: 68 beds in all programs; 45 transitional = 2.5% of DC's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2023: 98 beds in all programs; 73 transitional = 4.9% of DC's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2024: 107 beds in all programs; 60 transitional = 3.5% of DC's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2025: 124 beds in all programs; 94 transitional = 6.8% of DC's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Women-focused providers 2025: N Street Village 457, Open Arms 412, House of Ruth 388, New Endeavors 135, Calvary 124.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supp_homeless_counts (HUD PIT, DC-500); supp_hic_projects (HUD HIC 2022–2025)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beds = HIC total_beds by project 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m9_02, m9_03 · data as of 2026-10-10 · method note —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10. Named comparators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DWC shows scale with government, and SheWorks shows a program design.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DWC grew from $6M to $34M in a decade as government rose to 57% of revenue, on thin cash.</a:t>
            </a:r>
            <a:endParaRPr lang="en-US" sz="2100" dirty="0"/>
          </a:p>
        </p:txBody>
      </p:sp>
      <p:pic>
        <p:nvPicPr>
          <p:cNvPr id="3" name="m10_01_comparator_trajectories" descr="charts/m10_01_comparator_trajecto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680960" cy="3308721"/>
          </a:xfrm>
          <a:prstGeom prst="rect">
            <a:avLst/>
          </a:prstGeom>
        </p:spPr>
      </p:pic>
      <p:sp>
        <p:nvSpPr>
          <p:cNvPr id="4" name="card DWC"/>
          <p:cNvSpPr/>
          <p:nvPr/>
        </p:nvSpPr>
        <p:spPr>
          <a:xfrm>
            <a:off x="8503920" y="1600200"/>
            <a:ext cx="313913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0" y="1737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DWC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2240280"/>
            <a:ext cx="27733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FY2014 $6.3M, 24% government → FY2024 $34.4M, 57%: 5.5x since FY2014 and 3x since FY2018 ($11.6M).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Federal FY2020–25 $21.6M: CoC $14.3M, ESG $3.5M, VOCA $2.7M; 99% pass-through.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159 PSH units; clinic with JWCH; MADE enterprise; Rosa's Place (97 units) under construction.</a:t>
            </a:r>
            <a:endParaRPr lang="en-US" sz="11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fact_org_financials (IRS 990), fact_gov_awards (FAC single audits)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government = line 1e; DWC fiscal year = calendar year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m10_01, m10_02 · data as of 2026-10-10 · method note B3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SheWorks parent started at 88% government and is diversifying fast, and SheWorks is a program design to borrow.</a:t>
            </a:r>
            <a:endParaRPr lang="en-US" sz="2100" dirty="0"/>
          </a:p>
        </p:txBody>
      </p:sp>
      <p:graphicFrame>
        <p:nvGraphicFramePr>
          <p:cNvPr id="6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 (Los Angeles)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CBWC Empowerment Institute / SheWorks (Carson, CA)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Revenue, latest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$34.4M (FY2024)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$1.84M (FY2025, FYE June)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 share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 (88% in FY2023)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 of cash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PSH (159 units), community housing, women's health clinic (JWCH), MADE paid transitional work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 Women's Think Tank, Conversations, Protecting Black Women and Girls; SheWorks cohort (Jan–May 2026, ~30 women; stipends, childcare, ride credits)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Funders in the 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 names across its two 2023 lists; Hilton $1.53M, Blue Shield of CA Fdn $450K, Ahmanson $325K, Anthem $300K, LA County First District $3M; DMV funders: Bank of America $154K, Wells Fargo $100K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County Federation of Labor (partial funding); L.A. Care and Blue Shield Promise (host sites, in kind); no FAC or USAspending awards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transfers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Housing-development pipeline; clinic partnership; social enterprise; donor-base scale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Cohort design and partner structure for Step Up DC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does not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mix (scaled with government on thin cash)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funding model (more government-dependent than Calvary)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fact_org_financials, fact_gov_awards, fact_grants web rows (annual reports, funder announcements)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see M10 readout; DAF grants to LA organizations not captured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m10_01, m10_03, m10_05 · data as of 2026-10-10 · method note B3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11. Verdict, recommendations and open items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Moderate-to-high pressure comes from concentration and liquidity, with five recommendation areas and two documents requested.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verdict is moderate-to-high pressure, driven by channel concentration and liquidity rather than by the government share.</a:t>
            </a:r>
            <a:endParaRPr lang="en-US" sz="2100" dirty="0"/>
          </a:p>
        </p:txBody>
      </p:sp>
      <p:sp>
        <p:nvSpPr>
          <p:cNvPr id="3" name="tile Government share FY22–24 mean (58% FY25); 11th of 19 peers; 57th percentile among DC reporters"/>
          <p:cNvSpPr/>
          <p:nvPr/>
        </p:nvSpPr>
        <p:spPr>
          <a:xfrm>
            <a:off x="548640" y="1600200"/>
            <a:ext cx="2567864" cy="219456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41242F"/>
                </a:solidFill>
              </a:rPr>
              <a:t>53%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2202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58"/>
                </a:solidFill>
              </a:rPr>
              <a:t>Government share FY22–24 mean (58% FY25); 11th of 19 peers; 57th percentile among DC reporters</a:t>
            </a:r>
            <a:endParaRPr lang="en-US" sz="1150" dirty="0"/>
          </a:p>
        </p:txBody>
      </p:sp>
      <p:sp>
        <p:nvSpPr>
          <p:cNvPr id="6" name="tile Share of the $4.1M 2024 award base that passes through TCP (CoC + DHS)"/>
          <p:cNvSpPr/>
          <p:nvPr/>
        </p:nvSpPr>
        <p:spPr>
          <a:xfrm>
            <a:off x="3390824" y="1600200"/>
            <a:ext cx="2567864" cy="219456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73704" y="173736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41242F"/>
                </a:solidFill>
              </a:rPr>
              <a:t>78%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73704" y="2743200"/>
            <a:ext cx="2202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58"/>
                </a:solidFill>
              </a:rPr>
              <a:t>Share of the $4.1M 2024 award base that passes through TCP (CoC + DHS)</a:t>
            </a:r>
            <a:endParaRPr lang="en-US" sz="1150" dirty="0"/>
          </a:p>
        </p:txBody>
      </p:sp>
      <p:sp>
        <p:nvSpPr>
          <p:cNvPr id="9" name="tile Share of five years of filed grants from one funder (GWCF incl. Health Equity Fund); top five 63%"/>
          <p:cNvSpPr/>
          <p:nvPr/>
        </p:nvSpPr>
        <p:spPr>
          <a:xfrm>
            <a:off x="6233008" y="1600200"/>
            <a:ext cx="2567864" cy="219456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5888" y="173736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41242F"/>
                </a:solidFill>
              </a:rPr>
              <a:t>27%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15888" y="2743200"/>
            <a:ext cx="2202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58"/>
                </a:solidFill>
              </a:rPr>
              <a:t>Share of five years of filed grants from one funder (GWCF incl. Health Equity Fund); top five 63%</a:t>
            </a:r>
            <a:endParaRPr lang="en-US" sz="1150" dirty="0"/>
          </a:p>
        </p:txBody>
      </p:sp>
      <p:sp>
        <p:nvSpPr>
          <p:cNvPr id="12" name="tile Cash at FY25 year-end after a $607K deficit; 7.5 months in FY21"/>
          <p:cNvSpPr/>
          <p:nvPr/>
        </p:nvSpPr>
        <p:spPr>
          <a:xfrm>
            <a:off x="9075191" y="1600200"/>
            <a:ext cx="2567864" cy="219456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58071" y="173736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41242F"/>
                </a:solidFill>
              </a:rPr>
              <a:t>4.4 mo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258071" y="2743200"/>
            <a:ext cx="2202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5458"/>
                </a:solidFill>
              </a:rPr>
              <a:t>Cash at FY25 year-end after a $607K deficit; 7.5 months in FY21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148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1D"/>
                </a:solidFill>
              </a:rPr>
              <a:t>Public funding at about half of revenue is typical for this work. The things to plan around are the shape of that funding (three streams, two through one intermediary), a private base that has held steady from the same funders, and a $607K FY25 deficit that left 4.4 months of cash. DC's pools have held, with cuts proposed and restored each spring; the federal side (the FY2026 CoC competition, the EHV end on 31 December 2026) and the TCP channel are the larger uncertainties.</a:t>
            </a:r>
            <a:endParaRPr lang="en-US" sz="1400" dirty="0"/>
          </a:p>
        </p:txBody>
      </p:sp>
      <p:sp>
        <p:nvSpPr>
          <p:cNvPr id="16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recommendations/funding_pressure_verdict.md (evidence table with chart IDs)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verdict synthesizes M1–M3 and M9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m1_02, m2_01, m1_07, m1_05 · data as of 2026-10-10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Five recommendation areas follow: protect and draw the public base, rebuild private revenue, hold a reserve, expand near, mitigate risk.</a:t>
            </a:r>
            <a:endParaRPr lang="en-US" sz="2100" dirty="0"/>
          </a:p>
        </p:txBody>
      </p:sp>
      <p:sp>
        <p:nvSpPr>
          <p:cNvPr id="3" name="card 1. Public base"/>
          <p:cNvSpPr/>
          <p:nvPr/>
        </p:nvSpPr>
        <p:spPr>
          <a:xfrm>
            <a:off x="548640" y="1600200"/>
            <a:ext cx="1999427" cy="32918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1633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1. Public base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1633667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Reconcile CoC draw-down first, then DHS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Confirm DHS / Sisters Rise with TCP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Defend CoC renewals; scope PSH expansion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OVSJG budget calendar</a:t>
            </a:r>
            <a:endParaRPr lang="en-US" sz="1150" dirty="0"/>
          </a:p>
        </p:txBody>
      </p:sp>
      <p:sp>
        <p:nvSpPr>
          <p:cNvPr id="6" name="card 2. Private revenue"/>
          <p:cNvSpPr/>
          <p:nvPr/>
        </p:nvSpPr>
        <p:spPr>
          <a:xfrm>
            <a:off x="2822387" y="1600200"/>
            <a:ext cx="1999427" cy="32918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05267" y="1737360"/>
            <a:ext cx="1633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2. Private revenue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05267" y="2240280"/>
            <a:ext cx="1633667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Deepen Cafritz and Fowler; GWCF successor and core asks; steward Abell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An invitation to Schattner through a peer it funds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Re-engage lapsed; major-gifts/DAF program</a:t>
            </a:r>
            <a:endParaRPr lang="en-US" sz="1150" dirty="0"/>
          </a:p>
        </p:txBody>
      </p:sp>
      <p:sp>
        <p:nvSpPr>
          <p:cNvPr id="9" name="card 3. Reserve"/>
          <p:cNvSpPr/>
          <p:nvPr/>
        </p:nvSpPr>
        <p:spPr>
          <a:xfrm>
            <a:off x="5096134" y="1600200"/>
            <a:ext cx="1999427" cy="32918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79014" y="1737360"/>
            <a:ext cx="1633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3. Reserve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279014" y="2240280"/>
            <a:ext cx="1633667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Six months of expenses (~$2.8M)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Close the FY25 gap in the FY26 budget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Treat HEF as one-time</a:t>
            </a:r>
            <a:endParaRPr lang="en-US" sz="1150" dirty="0"/>
          </a:p>
        </p:txBody>
      </p:sp>
      <p:sp>
        <p:nvSpPr>
          <p:cNvPr id="12" name="card 4. Expansion"/>
          <p:cNvSpPr/>
          <p:nvPr/>
        </p:nvSpPr>
        <p:spPr>
          <a:xfrm>
            <a:off x="7369881" y="1600200"/>
            <a:ext cx="1999427" cy="32918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52761" y="1737360"/>
            <a:ext cx="1633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4. Expansion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552761" y="2240280"/>
            <a:ext cx="1633667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Workforce cohort (SheWorks model)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Behavioral-health credential decision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FQHC partnership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DV formalization only with eyes open</a:t>
            </a:r>
            <a:endParaRPr lang="en-US" sz="1150" dirty="0"/>
          </a:p>
        </p:txBody>
      </p:sp>
      <p:sp>
        <p:nvSpPr>
          <p:cNvPr id="15" name="card 5. Risk mitigation"/>
          <p:cNvSpPr/>
          <p:nvPr/>
        </p:nvSpPr>
        <p:spPr>
          <a:xfrm>
            <a:off x="9643628" y="1600200"/>
            <a:ext cx="1999427" cy="32918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26508" y="1737360"/>
            <a:ext cx="1633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5. Risk mitigation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826508" y="2240280"/>
            <a:ext cx="1633667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Direct DHS line alongside TCP; HUD CPF; DHS PSH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Contract terms; monthly draw tracking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Advocacy calendar; early-warning indicators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458"/>
                </a:solidFill>
              </a:rPr>
              <a:t>Target arithmetic: private revenue ~$2.1M (FY25) → ~$3.0M in three years (institutional +$0.5M, major donors/DAF +$0.3M, earned +$0.1–0.3M; events held near $0.5M) takes the public share to about 50% at flat public funding.</a:t>
            </a:r>
            <a:endParaRPr lang="en-US" sz="1200" dirty="0"/>
          </a:p>
        </p:txBody>
      </p:sp>
      <p:sp>
        <p:nvSpPr>
          <p:cNvPr id="19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recommendations/strategic_recommendations.md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recommendations are options for Calvary's leadership to weigh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— · data as of 2026-10-10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Two documents from Calvary would resolve the two open flags, and the FY25 990 itself closed the third.</a:t>
            </a:r>
            <a:endParaRPr lang="en-US" sz="2100" dirty="0"/>
          </a:p>
        </p:txBody>
      </p:sp>
      <p:graphicFrame>
        <p:nvGraphicFramePr>
          <p:cNvPr id="6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926080"/>
                <a:gridCol w="2743200"/>
                <a:gridCol w="237744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Handling (approved CP2)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that resolves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Recognized 67–73% of known award ceilings in FY24–25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~$1M/yr may be undrawn or the DHS carry-forward overstates FY25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confidence; labeled 'ceilings vs recognized'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FY24/FY25 audits; TCP subgrant agreements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Sisters Rise PSH (24 EHV units, $593K) absent from the 2025 HIC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of FY25's drop may be a lost stream; baseline may be 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 stream 'at risk'; FY2024 value kept in baseline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TCP agreements; Calvary confirmation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 (closed)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contributions (line 1c) $538K → $55K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FY25 return reported the gala on line 8a; receipts held at $533K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Reclassified: no event drop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needed (990 lines 1c + 8a)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discoveries_log.md; open_questions.md part B (data build)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each flag logged with evidence, proposed action and response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m2_02, m2_03, m1_06 · data as of 2026-10-10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appendix decks carry every chart, table and method note, and the insight register tracks verification for all 36 findings.</a:t>
            </a:r>
            <a:endParaRPr lang="en-US" sz="21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600200"/>
            <a:ext cx="1109441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1B1D"/>
                </a:solidFill>
              </a:rPr>
              <a:t>Appendix A: Calvary and government funding (22 slides). Appendix B: peers and named comparators (21). Appendix C: funders, gaps, network and pipeline (70). Appendix D: data and methods (33, method notes A1–D3).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1B1D"/>
                </a:solidFill>
              </a:rPr>
              <a:t>Reports: executive summary, full findings, methodology, recommendations; board readout talking points; consulting team briefing.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1B1D"/>
                </a:solidFill>
              </a:rPr>
              <a:t>Scoring weights and status rules: config/scoring_weights.yaml; funder open status: config/guideline_notes.csv; scenarios: config/scenarios.yaml; peers: calvary_funding_data/config/core_peers.csv; exclusions: config/landscape_exclusions.csv and config/grant_exclusions.csv.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1B1D"/>
                </a:solidFill>
              </a:rPr>
              <a:t>Traceability: chart ID → chart_data/&lt;id&gt;.csv → clean table → source registry; scripts/lib/trace.py checks the chain.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1B1D"/>
                </a:solidFill>
              </a:rPr>
              <a:t>Insight register: 36 findings, confidence high/medium/low, verified after the October 2026 independent review and fix cycle (reports/review/). Data as of 2026-10-10.</a:t>
            </a:r>
            <a:endParaRPr lang="en-US" sz="1450" dirty="0"/>
          </a:p>
        </p:txBody>
      </p:sp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calvary_analysis/README.md; insight_register.csv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all · data as of 2026-10-10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lvary Funding Engagement">
      <a:dk1>
        <a:srgbClr val="1F1B1D"/>
      </a:dk1>
      <a:lt1>
        <a:srgbClr val="FFFFFF"/>
      </a:lt1>
      <a:dk2>
        <a:srgbClr val="41242F"/>
      </a:dk2>
      <a:lt2>
        <a:srgbClr val="F6F3F4"/>
      </a:lt2>
      <a:accent1>
        <a:srgbClr val="A03F7E"/>
      </a:accent1>
      <a:accent2>
        <a:srgbClr val="B8810C"/>
      </a:accent2>
      <a:accent3>
        <a:srgbClr val="0F9ACB"/>
      </a:accent3>
      <a:accent4>
        <a:srgbClr val="CF5A2C"/>
      </a:accent4>
      <a:accent5>
        <a:srgbClr val="3B6FD8"/>
      </a:accent5>
      <a:accent6>
        <a:srgbClr val="D39F28"/>
      </a:accent6>
      <a:hlink>
        <a:srgbClr val="41242F"/>
      </a:hlink>
      <a:folHlink>
        <a:srgbClr val="8C8488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Calvary funding engagement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Calvary funding analysis: consulting team deck</dc:title>
  <dc:subject>Consulting deep dive</dc:subject>
  <dc:creator>Pro bono analysis for Calvary Women's Services</dc:creator>
  <cp:lastModifiedBy>Pro bono analysis for Calvary Women's Services</cp:lastModifiedBy>
  <cp:revision>1</cp:revision>
  <dcterms:created xsi:type="dcterms:W3CDTF">2026-10-12T15:29:22Z</dcterms:created>
  <dcterms:modified xsi:type="dcterms:W3CDTF">2026-10-12T15:29:22Z</dcterms:modified>
</cp:coreProperties>
</file>