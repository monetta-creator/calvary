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 B" id="{f598a784-738c-41d2-6057-64b1cbbc89be}">
          <p14:sldIdLst>
            <p14:sldId id="256"/>
          </p14:sldIdLst>
        </p14:section>
        <p14:section name="Peer set and benchmark" id="{12ce6eb8-1348-932a-f1e6-0791eb670e44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Trajectories and distributions" id="{3cb5d60b-9e87-90d0-d37b-68ff91f8b6c7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Named comparators" id="{7a0c986b-cfc0-e20f-f01f-d9d7b4e1cb57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OVSJG awards DC FY2026</c:v>
                </c:pt>
              </c:strCache>
            </c:strRef>
          </c:tx>
          <c:spPr>
            <a:solidFill>
              <a:srgbClr val="A03F7E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 Street Village</c:v>
                  </c:pt>
                  <c:pt idx="1">
                    <c:v>Community of Hope</c:v>
                  </c:pt>
                  <c:pt idx="2">
                    <c:v>Christ House</c:v>
                  </c:pt>
                  <c:pt idx="3">
                    <c:v>New Endeavors by Women</c:v>
                  </c:pt>
                  <c:pt idx="4">
                    <c:v>Calvary</c:v>
                  </c:pt>
                  <c:pt idx="5">
                    <c:v>House of Ruth DC</c:v>
                  </c:pt>
                  <c:pt idx="6">
                    <c:v>My Sister's Place</c:v>
                  </c:pt>
                  <c:pt idx="7">
                    <c:v>DC SAFE</c:v>
                  </c:pt>
                  <c:pt idx="8">
                    <c:v>DASH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136878</c:v>
                </c:pt>
                <c:pt idx="4">
                  <c:v>1050651</c:v>
                </c:pt>
                <c:pt idx="5">
                  <c:v>3173814</c:v>
                </c:pt>
                <c:pt idx="6">
                  <c:v>3805746</c:v>
                </c:pt>
                <c:pt idx="7">
                  <c:v>4610998</c:v>
                </c:pt>
                <c:pt idx="8">
                  <c:v>5277675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HUD CoC awards FY2025</c:v>
                </c:pt>
              </c:strCache>
            </c:strRef>
          </c:tx>
          <c:spPr>
            <a:solidFill>
              <a:srgbClr val="0F9ACB"/>
            </a:solidFill>
            <a:effectLst/>
          </c:spPr>
          <c:invertIfNegative val="0"/>
          <c:dLbls>
            <c:numFmt formatCode="$#,##0.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C5458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N Street Village</c:v>
                  </c:pt>
                  <c:pt idx="1">
                    <c:v>Community of Hope</c:v>
                  </c:pt>
                  <c:pt idx="2">
                    <c:v>Christ House</c:v>
                  </c:pt>
                  <c:pt idx="3">
                    <c:v>New Endeavors by Women</c:v>
                  </c:pt>
                  <c:pt idx="4">
                    <c:v>Calvary</c:v>
                  </c:pt>
                  <c:pt idx="5">
                    <c:v>House of Ruth DC</c:v>
                  </c:pt>
                  <c:pt idx="6">
                    <c:v>My Sister's Place</c:v>
                  </c:pt>
                  <c:pt idx="7">
                    <c:v>DC SAFE</c:v>
                  </c:pt>
                  <c:pt idx="8">
                    <c:v>DASH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157690</c:v>
                </c:pt>
                <c:pt idx="1">
                  <c:v>866902</c:v>
                </c:pt>
                <c:pt idx="2">
                  <c:v>2978155</c:v>
                </c:pt>
                <c:pt idx="3">
                  <c:v>1143319</c:v>
                </c:pt>
                <c:pt idx="4">
                  <c:v>1766814</c:v>
                </c:pt>
                <c:pt idx="5">
                  <c:v>1380385</c:v>
                </c:pt>
                <c:pt idx="6">
                  <c:v>2062174</c:v>
                </c:pt>
                <c:pt idx="7">
                  <c:v>0</c:v>
                </c:pt>
                <c:pt idx="8">
                  <c:v>1380480</c:v>
                </c:pt>
              </c:numCache>
            </c:numRef>
          </c:val>
        </c:ser>
        <c:dLbls>
          <c:numFmt formatCode="$#,##0.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5C5458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6E2E4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545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C545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Appendix B carries the full peer benchmark and the comparator profiles.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Appendix B · Peers and named comparators · pro bono funding analysis for Calvary Women's Services. Core peers are provisional; DWC and the CBWC Empowerment Institute (SheWorks) are Los Angeles reference rows. Method notes B1–B3 and D2 are in Appendix D.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18 provisional core peers were chosen for model similarity in four tiers and can be swapped by editing one file.</a:t>
            </a:r>
            <a:endParaRPr lang="en-US" sz="21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91440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 · DC women's homelessness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 model match: housing, health and recovery services for homeless and low-income women in DC; about 2x Calvary's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(DC)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 · DC women's homelessness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Housing and services for women, children and families in DC, including DV survivors; large comparator ($20M)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Arms Housing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 · DC women's homelessness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Permanent supportive housing for women experiencing homelessness, with a mental-health focus; small ($2.5M), 77%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 · DC women's homelessness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Transitional housing for homeless women in DC; similar size ($3.1M); 82%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 Alliance for Safe Housing (DASH)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 · DC DV survivors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housing for DV and sexual-violence survivors in DC; Calvary's New Foundations site is also DV-designated; 90%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 · DC DV survivors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DV shelter and housing for survivors and children; similar size ($8.3M)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 · DC DV survivors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DV crisis response and emergency shelter in DC; OVSJG-funded like Calvary; 94%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Recovery-oriented housing for homeless adults in DC; similar size ($6.2M) but only 11% government (contrast case)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respite for people experiencing homelessness in DC; nearly identical revenue to Calvary ($4.9M)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EO BMF and e-file index; calvary_funding_data/config/core_peers.csv; calvary_funding_data/reports/core_peers_proposal.md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score (women focus, DV, homelessness, recovery, Ward 7/8, DC, size) plus a relevance gate and judgment; swap = edit core_peers.csv and rerun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18 provisional core peers were chosen for model similarity in four tiers and can be swapped by editing one file. (continued, 2 of 2)</a:t>
            </a:r>
            <a:endParaRPr lang="en-US" sz="2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91440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homelessness prevention and housing; nearly identical revenue ($4.9M); 85%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shelter and housing provider with women's programs; similar size ($7.5M); 92% 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homelessness services, including a women's program; small ($2.6M) and almost entirely private (contrast case)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DC homelessness and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Chronic homelessness and PSH case management in DC; philanthropy-led (10% government) with a large donor 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Ward 7/8 presence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Ward 8-based homelessness and health provider in Calvary's service area; large ($57.6M)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Washington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Ward 7/8 presence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Ward 8 shelter and crisis services (youth); similar size ($7.3M); same ward-level funders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for Women and Families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DMV women/DV outside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Arlington VA: women, families and DV survivors experiencing homelessness; closest suburban analog ($6.1M)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Maryland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DMV women/DV outside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Baltimore MD: DV services and housing for women and children; regional DV funder overlap ($11.6M)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DMV women/DV outside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Frederick MD: DV and sexual-assault shelter and services; similar size ($5.1M)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EO BMF and e-file index; calvary_funding_data/config/core_peers.csv; calvary_funding_data/reports/core_peers_proposal.md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score (women focus, DV, homelessness, recovery, Ward 7/8, DC, size) plus a relevance gate and judgment; swap = edit core_peers.csv and rerun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benchmark table gives every metric for all 21 organizations: size, government share, growth and liquidity.</a:t>
            </a:r>
            <a:endParaRPr lang="en-US" sz="21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34440"/>
                <a:gridCol w="822960"/>
                <a:gridCol w="777240"/>
                <a:gridCol w="731520"/>
                <a:gridCol w="777240"/>
                <a:gridCol w="731520"/>
                <a:gridCol w="777240"/>
                <a:gridCol w="777240"/>
                <a:gridCol w="868680"/>
                <a:gridCol w="987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FY2024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 share FY22–24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 share latest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CAGR FY19–24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FY24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FY22–24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 share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Fundraising cost per private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Arms Housing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1b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fact_org_financials; Funders' 990-PF grants paid and Schedule I rows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share = line 1e ÷ revenue (Calvary audit basis FY≤2023); FY2022–24 means; real CAGR in 2024 dollars; core peers provisional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 · data as of 2026-10-10 · method note B1,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benchmark table gives every metric for all 21 organizations: size, government share, growth and liquidity. (continued, 2 of 2)</a:t>
            </a:r>
            <a:endParaRPr lang="en-US" sz="21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234440"/>
                <a:gridCol w="822960"/>
                <a:gridCol w="777240"/>
                <a:gridCol w="731520"/>
                <a:gridCol w="777240"/>
                <a:gridCol w="731520"/>
                <a:gridCol w="777240"/>
                <a:gridCol w="777240"/>
                <a:gridCol w="868680"/>
                <a:gridCol w="987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FY2024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 share FY22–24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 share latest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CAGR FY19–24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FY24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 FY22–24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 share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Fundraising cost per private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Resilience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philanthropy-led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philanthropy-led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philanthropy-led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CBWC Inst. / SheWorks (LA, reference)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comparator (LA)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gov.-anchored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comparator (LA)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fact_org_financials; Funders' 990-PF grants paid and Schedule I rows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share = line 1e ÷ revenue (Calvary audit basis FY≤2023); FY2022–24 means; real CAGR in 2024 dollars; core peers provisional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 · data as of 2026-10-10 · method note B1,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benchmark table gives every metric for all 21 organizations: the institutional funder base and DAF share.</a:t>
            </a:r>
            <a:endParaRPr lang="en-US" sz="21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005840"/>
                <a:gridCol w="685800"/>
                <a:gridCol w="868680"/>
                <a:gridCol w="960120"/>
                <a:gridCol w="822960"/>
                <a:gridCol w="822960"/>
                <a:gridCol w="914400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share of filed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$ ÷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$4.43M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$3.34M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$720K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$674K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Arms Housing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$255K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$526K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$388K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$138K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$1.87M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$472K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$219K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$252K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$4.72M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$951K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$188K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$8.54M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$5.36M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non-cumulative; institutional vs DAF via dim_funder.funder_type; depth = institutional $ ÷ FY2020–24 revenue; DMV funders' filings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 · data as of 2026-10-10 · method note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benchmark table gives every metric for all 21 organizations: the institutional funder base and DAF share. (continued, 2 of 2)</a:t>
            </a:r>
            <a:endParaRPr lang="en-US" sz="21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1005840"/>
                <a:gridCol w="685800"/>
                <a:gridCol w="868680"/>
                <a:gridCol w="960120"/>
                <a:gridCol w="822960"/>
                <a:gridCol w="822960"/>
                <a:gridCol w="914400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grants TY2020–24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$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 share of filed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$ ÷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$987K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$749K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$4.01M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$2.33M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$7.67M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$7.55M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$7.35M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$3.60M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$3.75M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$6.74M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$3.24M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$2.05M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$859K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$1.14M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$9.52M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$5.61M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$3.90M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CBWC Inst. / SheWorks (LA, reference)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Founded 2022; SheWorks program starts after TY2024; LA reference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reference; DAF grants not captured (Schedule I kept for DC/MD/VA…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TY2020–24, non-cumulative; institutional vs DAF via dim_funder.funder_type; depth = institutional $ ÷ FY2020–24 revenue; DMV funders' filings only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 · data as of 2026-10-10 · method note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Most organizations' government share has been stable since FY2017, except Samaritan Inns (down) and DWC and House of Ruth MD (up).</a:t>
            </a:r>
            <a:endParaRPr lang="en-US" sz="2100" dirty="0"/>
          </a:p>
        </p:txBody>
      </p:sp>
      <p:pic>
        <p:nvPicPr>
          <p:cNvPr id="3" name="m3_05_gov_share_trajectories.png" descr="Chart m3_05_gov_share_trajectories (charts/m3_05_gov_share_trajectories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3108" y="1600200"/>
            <a:ext cx="5745480" cy="397764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line 1e ÷ total revenue, Calvary on the audit basis FY17–FY23; one organization per panel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m3_05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Government-share trajectories for all 21 organizations, FY2017–FY2025, show Calvary between 40% and 61% every year.</a:t>
            </a:r>
            <a:endParaRPr lang="en-US" sz="21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line 1e ÷ total revenue on preferred rows; Calvary FY17–FY23 audit basis; '—' = no filing in the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m3_05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Government-share trajectories for all 21 organizations, FY2017–FY2025, show Calvary between 40% and 61% every year. (continued, 2 of 2)</a:t>
            </a:r>
            <a:endParaRPr lang="en-US" sz="2100" dirty="0"/>
          </a:p>
        </p:txBody>
      </p:sp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Arms Housing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CBWC Inst. / SheWorks (LA, reference)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line 1e ÷ total revenue on preferred rows; Calvary FY17–FY23 audit basis; '—' = no filing in the data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m3_05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Sector distributions place Calvary at the 57th percentile in the DC sector and the 46th among national women's and DV organizations.</a:t>
            </a:r>
            <a:endParaRPr lang="en-US" sz="2100" dirty="0"/>
          </a:p>
        </p:txBody>
      </p:sp>
      <p:pic>
        <p:nvPicPr>
          <p:cNvPr id="3" name="m3_07_sector_distributions.png" descr="Chart m3_07_sector_distributions (charts/m3_07_sector_distributions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58609" cy="3108960"/>
          </a:xfrm>
          <a:prstGeom prst="rect">
            <a:avLst/>
          </a:prstGeom>
        </p:spPr>
      </p:pic>
      <p:sp>
        <p:nvSpPr>
          <p:cNvPr id="4" name="card Reading the distributions"/>
          <p:cNvSpPr/>
          <p:nvPr/>
        </p:nvSpPr>
        <p:spPr>
          <a:xfrm>
            <a:off x="7589520" y="1600200"/>
            <a:ext cx="4053535" cy="297180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0" y="173736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Reading the distributions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240280"/>
            <a:ext cx="3687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Organizations with no government line count at 0%, so p10 is 0% in every universe.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Benchmark years chosen for filing coverage: national universes fall below 15 filers after FY2022.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Calvary's FY2023 share here is line-1e based (51%).</a:t>
            </a:r>
            <a:endParaRPr lang="en-US" sz="11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4632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731520"/>
                <a:gridCol w="640080"/>
                <a:gridCol w="731520"/>
                <a:gridCol w="731520"/>
                <a:gridCol w="822960"/>
                <a:gridCol w="731520"/>
                <a:gridCol w="731520"/>
                <a:gridCol w="822960"/>
                <a:gridCol w="1188720"/>
                <a:gridCol w="1307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p90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percentile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sector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$1.48M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Size-matched national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$3.43M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women's/DV orgs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$1.29M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fact_org_financials; dim_universe_membership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990 line 1e basis; universe rules in config/universes.yaml (dc_sector FY2023, size_matched and national_women FY2022)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m3_07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case studies show three paths: Samaritan Inns replaced government, N Street Village grew private giving alongside it, and DWC scaled with it.</a:t>
            </a:r>
            <a:endParaRPr lang="en-US" sz="2100" dirty="0"/>
          </a:p>
        </p:txBody>
      </p:sp>
      <p:pic>
        <p:nvPicPr>
          <p:cNvPr id="3" name="m3_08_case_studies_mix.png" descr="Chart m3_08_case_studies_mix (charts/m3_08_case_studies_mix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5605" y="1600200"/>
            <a:ext cx="6280484" cy="3977640"/>
          </a:xfrm>
          <a:prstGeom prst="rect">
            <a:avLst/>
          </a:prstGeom>
        </p:spPr>
      </p:pic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revenue mix by year from preferred 990 rows; government = line 1e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m3_08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four case studies' revenue mix by year: Miriam's Kitchen grew on almost no government money and Samaritan Inns shifted to program revenue.</a:t>
            </a:r>
            <a:endParaRPr lang="en-US" sz="2100" dirty="0"/>
          </a:p>
        </p:txBody>
      </p:sp>
      <p:graphicFrame>
        <p:nvGraphicFramePr>
          <p:cNvPr id="1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417320"/>
                <a:gridCol w="1325880"/>
                <a:gridCol w="1463040"/>
                <a:gridCol w="1325880"/>
                <a:gridCol w="109728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contributions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$11,589,269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$3,535,362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$6,873,264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$1,110,047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$70,596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$11,728,685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$3,783,833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$6,379,373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$1,243,185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$322,294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$14,724,778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$5,841,251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$7,380,276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$1,356,408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$146,843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$20,994,562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$9,310,478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$9,914,051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$1,173,738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$596,295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$24,112,515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$13,657,270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$9,017,048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$1,297,220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$140,977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$27,162,816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$15,727,674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$9,608,643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$1,638,283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$188,216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(LA, reference)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$34,403,997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$19,624,976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$12,804,317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$1,799,024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$175,680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$8,511,151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$3,561,742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$3,590,992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$1,104,551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$253,866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$8,856,653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$3,306,791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$3,761,960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$1,414,558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$373,344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$10,773,442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$3,916,582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$5,726,065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$804,110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$326,685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$11,867,277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$5,058,571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$5,427,536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$825,527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$555,643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$12,098,781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$4,292,298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$6,533,630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$778,043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$494,810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$11,119,076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$4,779,705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$5,497,290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$732,987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$109,094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$9,977,639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$4,831,412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$4,383,806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$700,063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$62,358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$10,490,546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$4,045,371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$5,826,160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$661,687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$4,661,278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$3,334,195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$1,263,369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$21,696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line 1e (may understate where contracts are booked as program revenue, e.g. Samaritan Inns FY24–25)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m3_08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four case studies' revenue mix by year: Miriam's Kitchen grew on almost no government money and Samaritan Inns shifted to program revenue. (continued, 2 of 2)</a:t>
            </a:r>
            <a:endParaRPr lang="en-US" sz="21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417320"/>
                <a:gridCol w="1325880"/>
                <a:gridCol w="1463040"/>
                <a:gridCol w="1325880"/>
                <a:gridCol w="1097280"/>
                <a:gridCol w="1170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contributions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$5,233,256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$106,003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$3,684,589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$1,385,647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$57,017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$8,757,534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$75,727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$6,484,084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$2,168,577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$29,146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$8,193,619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$821,061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$4,838,270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$2,519,725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$14,563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$9,864,370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$47,980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$6,191,755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$3,707,105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$11,369,396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$6,118,225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$4,750,810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$500,361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$11,326,819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$6,279,951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$4,529,311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$517,557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$12,956,122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$1,244,251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$6,629,725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$4,651,672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$430,474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$2,888,629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$1,475,482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$625,832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$721,381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$65,934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$3,583,188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$2,044,022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$704,059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$742,518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$92,589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$4,748,291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$2,562,749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$1,436,742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$724,788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$24,012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$4,753,931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$2,530,159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$1,281,200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$663,385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$279,187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$5,887,390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$4,250,158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$910,278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$632,966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$93,988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$5,937,792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$3,317,281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$1,964,009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$537,518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$118,984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$7,100,604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$4,419,402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$2,304,336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$171,866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$6,157,060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$694,982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$729,422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$3,114,416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$1,618,240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Form 990 e-file returns (GivingTuesday, NCCS, IRS SOI, ProPublica); Calvary audits FY13–FY23;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line 1e (may understate where contracts are booked as program revenue, e.g. Samaritan Inns FY24–25)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m3_08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OVSJG and CoC awards to peers show the DV peers drawing $3.2–5.3M each from OVSJG while Calvary is one of the larger CoC sub-recipients.</a:t>
            </a:r>
            <a:endParaRPr lang="en-US" sz="21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548640" y="1600200"/>
          <a:ext cx="51206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00200"/>
          <a:ext cx="57881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960120"/>
                <a:gridCol w="960120"/>
                <a:gridCol w="822960"/>
                <a:gridCol w="731520"/>
                <a:gridCol w="713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DC FY2026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FY2025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FY2024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OVSJG ÷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CoC ÷ revenue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$5,277,675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$1,380,480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$4,610,998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$3,805,746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$2,062,174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$3,173,814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$1,380,385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$1,050,651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$1,766,814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$136,878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$1,143,319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$2,978,155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$866,902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$57.6M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$157,690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$10.0M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852160" y="457200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458"/>
                </a:solidFill>
              </a:rPr>
              <a:t>DC pools only: peers with no OVSJG or CoC award are omitted, and the LA comparators have no rows by construction.</a:t>
            </a:r>
            <a:endParaRPr lang="en-US" sz="95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DC OVSJG FY2026 award list; HUD CoC FY2025 awards (DC-500); fact_gov_awards,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award amounts as listed; shares = award ÷ FY2024 revenue (award and revenue years differ)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m3_09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Co-funding overlap between Calvary and each peer is highest with Miriam's Kitchen (17 shared institutional funders), DASH and House of Ruth DC (14 each).</a:t>
            </a:r>
            <a:endParaRPr lang="en-US" sz="21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914400"/>
                <a:gridCol w="1005840"/>
                <a:gridCol w="914400"/>
                <a:gridCol w="1005840"/>
                <a:gridCol w="914400"/>
                <a:gridCol w="1005840"/>
                <a:gridCol w="146304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institutional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Peer's 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Peer's institutional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Jaccard (all)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Jaccard (institutional)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funders also funding peer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institutional funders not funding 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Miriam's Kitchen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Endeavors by 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 Sister's Place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Street Village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Covenant House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Christ House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Doorways (VA)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of Ruth MD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Samaritan Inns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 Home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Coalition for the Homeless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SAFE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Thrive DC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Arms Housing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Heartly House (MD)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Funders' 990-PF grants paid and Schedule I rows (IRS e-file via GivingTuesday); fact_grants, dim_funder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funder sets from filed grants TY2020–24; institutional excludes DAF sponsors; LA comparators omitted (DMV funders' filings only)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m6_02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DWC's revenue rose from $6.3M to $34.4M between FY2014 and FY2024 as its government share rose from 24% to 57%.</a:t>
            </a:r>
            <a:endParaRPr lang="en-US" sz="2100" dirty="0"/>
          </a:p>
        </p:txBody>
      </p:sp>
      <p:pic>
        <p:nvPicPr>
          <p:cNvPr id="3" name="m10_01_comparator_trajectories.png" descr="Chart m10_01_comparator_trajectories (charts/m10_01_comparator_trajectories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3387500"/>
          </a:xfrm>
          <a:prstGeom prst="rect">
            <a:avLst/>
          </a:prstGeom>
        </p:spPr>
      </p:pic>
      <p:sp>
        <p:nvSpPr>
          <p:cNvPr id="4" name="card DWC (LA, reference)"/>
          <p:cNvSpPr/>
          <p:nvPr/>
        </p:nvSpPr>
        <p:spPr>
          <a:xfrm>
            <a:off x="8686800" y="1600200"/>
            <a:ext cx="2956255" cy="39776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69680" y="1737360"/>
            <a:ext cx="2590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DWC (LA, reference)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869680" y="2240280"/>
            <a:ext cx="25904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Private contributions tripled ($4.0M → $12.8M) but fell from 64% to 37% of revenue.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Program service revenue (social enterprise, rental) about 5%.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Months of cash 1.8–4.4 throughout (2.4 in FY2024).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Fiscal year = calendar year; government = 990 line 1e.</a:t>
            </a:r>
            <a:endParaRPr lang="en-US" sz="11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e-file returns (GivingTuesday, ProPublica, IRS SOI);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Part VIII line 1e; labels show government share; DWC FY = calendar year, CBWC FYE June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DWC's filings show revenue up 5.5 times in a decade on 1.8–4.4 months of cash, which is the scale-with-government path.</a:t>
            </a:r>
            <a:endParaRPr lang="en-US" sz="21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34440"/>
                <a:gridCol w="1188720"/>
                <a:gridCol w="1234440"/>
                <a:gridCol w="1097280"/>
                <a:gridCol w="914400"/>
                <a:gridCol w="960120"/>
                <a:gridCol w="1234440"/>
                <a:gridCol w="1261872"/>
                <a:gridCol w="1143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contributions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assets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$6,307,637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$1,505,778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$4,008,514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$528,770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$264,575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$7,252,887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$17,792,658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$7,435,079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$2,125,014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$4,528,111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$556,917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$225,037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$7,371,626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$17,685,957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$9,176,562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$2,978,075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$5,079,605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$553,562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$565,320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$9,046,705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$17,489,376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$8,927,525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$2,928,189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$4,598,083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$1,120,103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$281,150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$10,092,147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$16,546,477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$11,589,269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$3,535,362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$6,873,264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$1,110,047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$70,596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$10,935,298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$16,891,322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$11,728,685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$3,783,833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$6,379,373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$1,243,185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$322,294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$11,962,655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$17,097,947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$14,724,778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$5,841,251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$7,380,276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$1,356,408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$146,843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$13,433,897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$18,411,155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$20,994,562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$9,310,478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$9,914,051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$1,173,738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$596,295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$16,941,771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$22,403,467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$24,112,515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$13,657,270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$9,017,048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$1,297,220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$140,977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$23,762,411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$21,955,706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$27,162,816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$15,727,674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$9,608,643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$1,638,283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$188,216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$27,127,703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$22,321,663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$34,403,997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$19,624,976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$12,804,317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$1,799,024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$175,680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$28,943,860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$28,330,491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e-file returns (GivingTuesday, ProPublica, IRS SOI); fact_org_financials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preferred 990 rows; government = line 1e; fiscal year ends December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DWC's federal programs by assistance listing, FY2020–25, total $21.6M, 99% passed through, led by HUD CoC at $14.3M.</a:t>
            </a:r>
            <a:endParaRPr lang="en-US" sz="2100" dirty="0"/>
          </a:p>
        </p:txBody>
      </p:sp>
      <p:pic>
        <p:nvPicPr>
          <p:cNvPr id="3" name="m10_02_dwc_federal_programs.png" descr="Chart m10_02_dwc_federal_programs (charts/m10_02_dwc_federal_programs.pn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94960" cy="2589581"/>
          </a:xfrm>
          <a:prstGeom prst="rect">
            <a:avLst/>
          </a:prstGeom>
        </p:spPr>
      </p:pic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600200"/>
          <a:ext cx="546811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31720"/>
                <a:gridCol w="1097280"/>
                <a:gridCol w="548640"/>
                <a:gridCol w="8503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Expenditures FY2020–25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Pass-through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Continuum of Care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$14,300,743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Solutions Grant Program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$3,491,358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16.575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Crime Victim Assistance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$2,675,190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21.019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Coronavirus Relief Fund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$662,128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Economic Development Initiative, Community…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$194,254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10.561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Administrative Matching Grants for the…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$142,557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Development Block Grants/Entitlement…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$80,945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97.024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Food and Shelter National Board…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$71,353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$21,618,528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892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58"/>
                </a:solidFill>
              </a:rPr>
              <a:t>These are the federal channels Calvary uses (CoC, ESG, VOCA, SNAP E&amp;T, EFSP, Community Project Funding), at about five times the scale, routed through LA County and LAHSA rather than TCP.</a:t>
            </a:r>
            <a:endParaRPr lang="en-US" sz="100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Federal Audit Clearinghouse single-audit SEFA for DWC, FY2020–25; fact_gov_awards (source_type fac)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expenditures summed by assistance listing across audit years; pass-through flag as reported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m10_02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DWC's donor lists carry 280 names, but DMV funders' filings show only $308K of grants to it.</a:t>
            </a:r>
            <a:endParaRPr lang="en-US" sz="21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640080"/>
                <a:gridCol w="731520"/>
                <a:gridCol w="11887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Recipient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known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report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bands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 grants paid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$264,678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$42,918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 page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bands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$5,874,200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CBWC Inst. / SheWorks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bands only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5394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097280"/>
                <a:gridCol w="731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 funder (filed grants TY2020–25)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Bank of America Charitable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$154,328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Wells Fargo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Give Lively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$21,678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the Girls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$10,990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ImpactAssets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Bainum Family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JPMorgan Chase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RCLCO Foundation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3152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Announced grant (web source)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Angeles County Board of Supervisors, First District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Conrad N. Hilton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$1,525,000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Shield of California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Ahmanson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$324,700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Anthem Blue Cross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Anthem Blue Cross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Foxwynd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Ahmanson Foundation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6245352" y="39776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58"/>
                </a:solidFill>
              </a:rPr>
              <a:t>Annual-report and gala lists carry giving bands, not amounts. DAF grants to LA organizations are not captured, because Schedule I rows were kept for DC/MD/VA recipients only.</a:t>
            </a:r>
            <a:endParaRPr lang="en-US" sz="100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DWC annual reports and donor lists, gala pages, funder announcements; DMV funders' 990-PF / Schedule I; fact_grants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web rows carry amounts only where a funder announced one; DMV filings aggregated by funder name as filed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m10_03, m10_04, m10_05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CBWC Empowerment Institute's three filings show government falling from 88% to 70% of revenue, and SheWorks itself starts after the last one.</a:t>
            </a:r>
            <a:endParaRPr lang="en-US" sz="21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371600"/>
                <a:gridCol w="1188720"/>
                <a:gridCol w="1097280"/>
                <a:gridCol w="1280160"/>
                <a:gridCol w="118872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 year (FYE June)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contributions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 service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assets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Months of cash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$1,377,300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$1,207,810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$169,349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$404,768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$972,532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$1,486,733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$1,257,177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$223,274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$1,747,039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$712,222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$1,840,152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$1,280,310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$558,331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$1,506,943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$1,043,635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What is known about SheWorks"/>
          <p:cNvSpPr/>
          <p:nvPr/>
        </p:nvSpPr>
        <p:spPr>
          <a:xfrm>
            <a:off x="548640" y="2971800"/>
            <a:ext cx="5394960" cy="297180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is known about SheWorks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A workforce program of the institute (Carson, CA; founded 2022), not a separate entity.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Announced October 2025; first cohort of about 30 women, January–May 2026, at the L.A. Care / Blue Shield Promise Community Resource Center in Long Beach.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Stipends, childcare and ride credits; the LA County Federation of Labor is a partial funder and the health plans host in kind.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No FAC or USAspending awards; its funding appears only in TY2025+ filings.</a:t>
            </a:r>
            <a:endParaRPr lang="en-US" sz="1100" dirty="0"/>
          </a:p>
        </p:txBody>
      </p:sp>
      <p:sp>
        <p:nvSpPr>
          <p:cNvPr id="7" name="card What transfers to Calvary"/>
          <p:cNvSpPr/>
          <p:nvPr/>
        </p:nvSpPr>
        <p:spPr>
          <a:xfrm>
            <a:off x="6245352" y="2971800"/>
            <a:ext cx="5394960" cy="297180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28232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What transfers to Calvary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36118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Program design: cohort model, stipends, childcare and transport, employer and health-plan partners, system-impacted women as a named population (an upgrade path for Step Up DC).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Partner structure: labor federation plus health plans as a corporate-partnership pattern.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Not a funding model to copy: the parent is more government-reliant than Calvary.</a:t>
            </a:r>
            <a:endParaRPr lang="en-US" sz="1100" dirty="0"/>
          </a:p>
        </p:txBody>
      </p:sp>
      <p:sp>
        <p:nvSpPr>
          <p:cNvPr id="10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990 e-file returns (fact_org_financials); institute, partner and press web pages (fact_grants web rows); modules/m10_comparator_profiles.md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government = line 1e; months of cash as filed; program facts as published by the institute and partners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B: Peers and named comparators</dc:title>
  <dc:subject>Appendix B of the Calvary funding analysis</dc:subject>
  <dc:creator>Pro bono analysis for Calvary Women's Services</dc:creator>
  <cp:lastModifiedBy>Pro bono analysis for Calvary Women's Services</cp:lastModifiedBy>
  <cp:revision>1</cp:revision>
  <dcterms:created xsi:type="dcterms:W3CDTF">2026-10-11T03:22:14Z</dcterms:created>
  <dcterms:modified xsi:type="dcterms:W3CDTF">2026-10-11T03:22:14Z</dcterms:modified>
</cp:coreProperties>
</file>